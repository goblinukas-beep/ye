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Sveiki. Mūsų tema — keltuvai: kaip jie vystėsi ir kur šiandien galima juos patobulinti. Pristatysime TA1 dalį: srities pasirinkimą, raidos analizę, problemą ir inžinerinio sprendimo pagrindimą.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Keltuvai yra visur, o jų uždavinys visada tas pats — saugiai pakelti ir sunaudoti kuo mažiau energijos. Liftai sunaudoja 3–8 % pastato elektros, ES — apie 18 TWh per metus, o geriausios technologijos leistų sutaupyti iki 66 %.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Raida: nuo raumenų jėgos Koliziejuje iki hidraulikos, o lemiami lūžiai — Otiso saugos stabdys 1854 m., Koepe trinties skriemulys 1877 m. ir elektrinė traukos pavara. Naujausia kryptis — kompaktiškumas ir lengvesni elementai.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Keturios principinės schemos. Raumenų jėga — lėta. Būgnas — aukštį riboja jo dydis. Hidraulika — didelė jėga, bet taršos ir gaisro rizika, aukštuose pastatuose išstumta. Pasiteisino trauka su atsvaru ir saugos stabdžiu, tačiau jos trūkumas — sunkūs plieniniai lynai ir didelis skriemulys.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Apibendrinant vertinimą: atsisakyta raumenų jėgos, būgno ir hidraulikos aukštuose pastatuose. Pasiteisino saugos stabdys, trinties skriemulys su atsvaru ir elektrinė traukos pavara. Liko vienas trūkumas — sunkūs lynai ir didelis skriemulys. Nuo čia prasideda mūsų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 — judanti masė. Variklis kiekvieną kartą judina kabiną, krovinį, atsvarą ir lynus. Kadangi atsvaras parenkamas pagal kabinos masę, palengvinę kabiną 100 kg, sumažiname ir atsvarą — iš viso 200 kg.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Mūsų uždavinys — sumažinti judančią masę keičiant rėmo medžiagą ir kėlimo elementą, nekeičiant keliamosios galios ir saugos koeficientų. Keičiame tris dalykus: rėmą, kėlimo elementą ir dėl to — skriemulį su varikliu.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Rėmui palyginome plieną, aliuminį ir anglies pluoštą. Anglies pluoštas stipriausias, bet brangus ir sunkiai jungiamas. Renkamės aliuminio lydinį 6082-T6: beveik 3 kartus lengvesnis už plieną. Kadangi jis 3 kartus mažiau standus, profiliai bus didesni.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Kėlimo elementui palyginome plieninį lyną, dengtą plieninį diržą ir anglies pluošto lyną. Diržas iki 20 % lengvesnis, leidžia apie 85 % mažesnį skriemulį ir apie 70 % mažesnį variklį. Anglies pluoštas naudingiausias tik labai aukštuose pastatuose, todėl renkamės diržą.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Išvados: raidą lėmė saugumas ir masė; saugumą išsprendė saugos stabdys ir trauka su atsvaru; dabar didžiausias rezervas — lengvesnės dalys; todėl siūlome aliuminio rėmą ir dengtą plieninį diržą. TA2 dalyje suprojektuosime sprendimą ir įvertinsime atitiktį standartams.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Ačiū už dėmesį. Mielai atsakysime į klausimus.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db829f1f3633bee443cf5e0b473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794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6591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4191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 spc="76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ĮVADAS Į SPECIALYBĘ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0999" y="4191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 spc="76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MECHANIKOS INŽINERIJA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9000" y="4191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76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TA1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244600"/>
            <a:ext cx="635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62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PBL UŽDUOTIS · TARPINIS ATSISKAITYMAS NR.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99" y="1498600"/>
            <a:ext cx="74930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86000"/>
              </a:lnSpc>
            </a:pPr>
            <a:r>
              <a:rPr sz="6800" b="0" i="0" spc="-136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Keltuvai: raida ir </a:t>
            </a:r>
            <a:r>
              <a:rPr sz="6800" i="1" b="0">
                <a:solidFill>
                  <a:srgbClr val="5560E5"/>
                </a:solidFill>
                <a:latin typeface="Georgia"/>
              </a:rPr>
              <a:t>tobulinimo</a:t>
            </a:r>
            <a:r>
              <a:rPr sz="6800" i="0" b="0">
                <a:solidFill>
                  <a:srgbClr val="1F2BE0"/>
                </a:solidFill>
                <a:latin typeface="Georgia"/>
              </a:rPr>
              <a:t> galimybės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4673600"/>
            <a:ext cx="5207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Nuo Koliziejaus kabestanų iki traukos liftų — ir kaip šiandien sumažinti judančią masę.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54610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[Grupės pavadinimas]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0" y="546100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[Vardas Pavardė, Vardas Pavardė, …]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5715000"/>
            <a:ext cx="5207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58600" y="698500"/>
            <a:ext cx="25400" cy="52070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82400" y="914400"/>
            <a:ext cx="25400" cy="49911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68100" y="1130300"/>
            <a:ext cx="63500" cy="4775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91900" y="1346200"/>
            <a:ext cx="25400" cy="45593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226800" y="1568450"/>
            <a:ext cx="114300" cy="43370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150600" y="1784350"/>
            <a:ext cx="25400" cy="41211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074400" y="2000250"/>
            <a:ext cx="25400" cy="3905249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58500" y="2216150"/>
            <a:ext cx="165100" cy="36893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2300" y="2432050"/>
            <a:ext cx="25400" cy="34734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68000" y="2654300"/>
            <a:ext cx="63500" cy="3251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63200" y="2870200"/>
            <a:ext cx="254000" cy="30353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87000" y="3086100"/>
            <a:ext cx="25400" cy="28194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85400" y="3302000"/>
            <a:ext cx="50800" cy="26035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79000" y="3517900"/>
            <a:ext cx="355600" cy="23876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02800" y="3733799"/>
            <a:ext cx="25400" cy="21717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26600" y="3949700"/>
            <a:ext cx="25400" cy="19558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18600" y="4171950"/>
            <a:ext cx="457200" cy="1733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91600" y="4387850"/>
            <a:ext cx="76200" cy="15176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400" y="4603750"/>
            <a:ext cx="25400" cy="13017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93100" y="4819650"/>
            <a:ext cx="571500" cy="10858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20100" y="1117600"/>
            <a:ext cx="774700" cy="774700"/>
          </a:xfrm>
          <a:prstGeom prst="rect">
            <a:avLst/>
          </a:prstGeom>
          <a:solidFill>
            <a:srgbClr val="F0EB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45500" y="114300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37575" y="114300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29650" y="114300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05875" y="114300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97950" y="114300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90025" y="114300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45500" y="123507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29650" y="123507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05875" y="123507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90025" y="123507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45500" y="132715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29650" y="132715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21725" y="132715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05875" y="132715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90025" y="132715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45500" y="141922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13800" y="141922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05875" y="141922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90025" y="141922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37575" y="151130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21725" y="151130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13800" y="151130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97950" y="151130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37575" y="160337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29650" y="160337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813800" y="160337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05875" y="160337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90025" y="160337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445500" y="169545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721725" y="169545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905875" y="169545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97950" y="169545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90025" y="1695450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445500" y="178752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537575" y="178752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13800" y="178752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05875" y="178752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090025" y="1787525"/>
            <a:ext cx="82550" cy="82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79000" y="63119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54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db829f1f3633bee443cf5e0b473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794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6591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546100"/>
            <a:ext cx="8890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0" i="0" spc="-3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Kodėl pasirinkome keltuvus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9000" y="1003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 spc="153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PBL 1 · SRITIS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2446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986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Keltuvai naudojami pastatuose, automobilių servisuose, statybvietėse ir sandėliuose. Visų jų uždavinys tas pats: </a:t>
            </a:r>
            <a:r>
              <a:rPr sz="1600" i="0" b="1">
                <a:solidFill>
                  <a:srgbClr val="1F2BE0"/>
                </a:solidFill>
                <a:latin typeface="Calibri"/>
              </a:rPr>
              <a:t>saugiai pakelti krovinį ar žmones ir sunaudoti kuo mažiau energijos.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14986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Šioje srityje susitinka pavaros, medžiagos, sauga ir energetika, todėl ji tinka pradedantiems mechanikos inžinieriams.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35560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3746500"/>
            <a:ext cx="3556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0" b="0" i="0" spc="-18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3–8</a:t>
            </a:r>
            <a:r>
              <a:rPr sz="3600" i="0" b="0">
                <a:solidFill>
                  <a:srgbClr val="1F2BE0"/>
                </a:solidFill>
                <a:latin typeface="Georgia"/>
              </a:rPr>
              <a:t>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5384800"/>
            <a:ext cx="3302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visos pastato elektros energijos sunaudoja liftai ir eskalatoriai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4949" y="3556000"/>
            <a:ext cx="6350" cy="247650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5450" y="3746500"/>
            <a:ext cx="3556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0" b="0" i="0" spc="-18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18</a:t>
            </a:r>
            <a:r>
              <a:rPr sz="3600" i="0" b="0">
                <a:solidFill>
                  <a:srgbClr val="1F2BE0"/>
                </a:solidFill>
                <a:latin typeface="Georgia"/>
              </a:rPr>
              <a:t> TWh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5450" y="5384800"/>
            <a:ext cx="3302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elektros energijos per metus sunaudoja Europos Sąjungos liftai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3556000"/>
            <a:ext cx="6350" cy="247650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2900" y="3746500"/>
            <a:ext cx="3556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iki </a:t>
            </a:r>
            <a:r>
              <a:rPr sz="9000" i="0" b="0">
                <a:solidFill>
                  <a:srgbClr val="1F2BE0"/>
                </a:solidFill>
                <a:latin typeface="Georgia"/>
              </a:rPr>
              <a:t>66</a:t>
            </a:r>
            <a:r>
              <a:rPr sz="3600" i="0" b="0">
                <a:solidFill>
                  <a:srgbClr val="1F2BE0"/>
                </a:solidFill>
                <a:latin typeface="Georgia"/>
              </a:rPr>
              <a:t>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2900" y="5384800"/>
            <a:ext cx="3302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šios energijos būtų galima sutaupyti taikant geriausias technologijas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9000" y="63119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54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02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6261100"/>
            <a:ext cx="9017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Šaltiniai: de Almeida ir kt. (2010); Krakowski ir Ruta (2018)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db829f1f3633bee443cf5e0b473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794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6591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546100"/>
            <a:ext cx="8890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0" i="0" spc="-3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Istorinė raida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9000" y="1003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 spc="153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PBL 2 · RAIDOS SEKA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2446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73200"/>
            <a:ext cx="1016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135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METAI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7500" y="1473200"/>
            <a:ext cx="3429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135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SPRENDIMAS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3500" y="1473200"/>
            <a:ext cx="4953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135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KAS PASIKEITĖ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23500" y="1473200"/>
            <a:ext cx="14605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1" i="0" spc="135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KRYPTIS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16637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000" y="17653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I 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7500" y="1790700"/>
            <a:ext cx="342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Koliziejaus keltuvai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0" y="18161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Vergai sukdavo kabestanus; lynai ir atsvarai kėlė narvus į areną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3500" y="1841500"/>
            <a:ext cx="1460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raumenų jėga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208915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000" y="21844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1846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7500" y="2209800"/>
            <a:ext cx="342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Hidraulinis kranas (W. Armstrongas)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3500" y="22352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Hidraulika imta naudoti ir keltuvams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23500" y="2260600"/>
            <a:ext cx="1460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hidraulika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250825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000" y="2527300"/>
            <a:ext cx="11176000" cy="393700"/>
          </a:xfrm>
          <a:prstGeom prst="rect">
            <a:avLst/>
          </a:prstGeom>
          <a:solidFill>
            <a:srgbClr val="DF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000" y="26035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1854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7500" y="2628900"/>
            <a:ext cx="342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Saugos stabdys (E. Otisas)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3500" y="26543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Nutrūkus lynui, platformą sulaiko spyruokliniai fiksatoriai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3500" y="2679700"/>
            <a:ext cx="1460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→ sauga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000" y="292735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8000" y="2946400"/>
            <a:ext cx="11176000" cy="393700"/>
          </a:xfrm>
          <a:prstGeom prst="rect">
            <a:avLst/>
          </a:prstGeom>
          <a:solidFill>
            <a:srgbClr val="DF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8000" y="30226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1877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87500" y="3048000"/>
            <a:ext cx="342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Trinties skriemulys (F. Koepe)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3500" y="30734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Būgną pakeitė skriemulys, kuris lyną varo trintimi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3500" y="3098800"/>
            <a:ext cx="1460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→ trauka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8000" y="334645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8000" y="34417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1880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87500" y="3467100"/>
            <a:ext cx="342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Elektrinis keltuvas (W. von Siemensas)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3500" y="34925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Pirmasis elektra varomas keltuvas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23500" y="3517900"/>
            <a:ext cx="1460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elektra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376555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8000" y="3784600"/>
            <a:ext cx="11176000" cy="393700"/>
          </a:xfrm>
          <a:prstGeom prst="rect">
            <a:avLst/>
          </a:prstGeom>
          <a:solidFill>
            <a:srgbClr val="DF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8000" y="38608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1902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87500" y="3886200"/>
            <a:ext cx="342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Bereduktorinis traukos liftas (Otis)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3500" y="39116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Aukštuose pastatuose išstūmė hidraulinį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23500" y="3937000"/>
            <a:ext cx="1460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→ elektra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8000" y="418465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8000" y="42799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1925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87500" y="4305300"/>
            <a:ext cx="342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Automobilių keltuvas (P. Lunati)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43500" y="43307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Užpatentuotas pirmasis hidraulinis automobilių keltuvas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23500" y="4356100"/>
            <a:ext cx="1460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hidraulika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8000" y="460375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8000" y="46990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1996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87500" y="4724400"/>
            <a:ext cx="342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Liftas be mašinų patalpos (KONE)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43500" y="47498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Plokščias bereduktorinis variklis įrengtas pačioje šachtoje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23500" y="4775200"/>
            <a:ext cx="1460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kompaktiškumas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8000" y="502285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8000" y="51181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2013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87500" y="5143500"/>
            <a:ext cx="342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Anglies pluošto lynas (KONE)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43500" y="51689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Liftas gali kilti iki 1 km — dvigubai aukščiau nei anksčiau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23500" y="5194300"/>
            <a:ext cx="1460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lengvinimas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8000" y="544195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79000" y="63119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54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03 / 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8000" y="6261100"/>
            <a:ext cx="9017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Šaltiniai: Klein (2015); ERIH (b. d.); Otis (1861); The Elevator Museum (b. d.); ETHW (2015); Rotary Solutions (b. d.); KONE Corporation (2026); FMLink (2013)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db829f1f3633bee443cf5e0b473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794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6591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546100"/>
            <a:ext cx="8890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0" i="0" spc="-3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Veikimo schemos ir vertinimas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9000" y="1003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 spc="153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PBL 2 · KRITINIS VERTINIMAS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2446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000" y="3086100"/>
            <a:ext cx="2286000" cy="190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9000" y="2540000"/>
            <a:ext cx="292100" cy="546100"/>
          </a:xfrm>
          <a:prstGeom prst="rect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705100"/>
            <a:ext cx="927100" cy="190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1100" y="2832100"/>
            <a:ext cx="698500" cy="190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66899" y="1816100"/>
            <a:ext cx="19050" cy="10287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66899" y="1816100"/>
            <a:ext cx="444500" cy="190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73300" y="1676400"/>
            <a:ext cx="279400" cy="279400"/>
          </a:xfrm>
          <a:prstGeom prst="ellipse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93950" y="1797050"/>
            <a:ext cx="38100" cy="38100"/>
          </a:xfrm>
          <a:prstGeom prst="ellipse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52700" y="1816100"/>
            <a:ext cx="19050" cy="5334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60600" y="2349500"/>
            <a:ext cx="584200" cy="533400"/>
          </a:xfrm>
          <a:prstGeom prst="rect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60600" y="2616200"/>
            <a:ext cx="5842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52700" y="2349500"/>
            <a:ext cx="9525" cy="5334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32000" y="1638300"/>
            <a:ext cx="762000" cy="190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000" y="3365500"/>
            <a:ext cx="26035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Raumenų jėga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i="0" b="0">
                <a:solidFill>
                  <a:srgbClr val="1F2BE0"/>
                </a:solidFill>
                <a:latin typeface="Georgia"/>
              </a:rPr>
              <a:t>(kabestanas, gervė)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4064000"/>
            <a:ext cx="1219200" cy="215900"/>
          </a:xfrm>
          <a:prstGeom prst="rect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4200" y="4108450"/>
            <a:ext cx="11430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7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✗ ATSISAKYTA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" y="44450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500" y="4432300"/>
            <a:ext cx="2413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Paprasta, nereikia kuro ar elektros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000" y="50165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500" y="50038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Lėta, vienam keltuvui reikia kelių žmonių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0250" y="1428750"/>
            <a:ext cx="6350" cy="444500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56000" y="3086100"/>
            <a:ext cx="2286000" cy="190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10000" y="1778000"/>
            <a:ext cx="1778000" cy="190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1500" y="1816100"/>
            <a:ext cx="635000" cy="355600"/>
          </a:xfrm>
          <a:prstGeom prst="rect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1500" y="1905000"/>
            <a:ext cx="635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1500" y="1993899"/>
            <a:ext cx="635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1500" y="2082800"/>
            <a:ext cx="635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16500" y="1993899"/>
            <a:ext cx="254000" cy="190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70500" y="1879599"/>
            <a:ext cx="279400" cy="228600"/>
          </a:xfrm>
          <a:prstGeom prst="rect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59400" y="2146300"/>
            <a:ext cx="762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9000" y="2171700"/>
            <a:ext cx="19050" cy="495299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4500" y="2667000"/>
            <a:ext cx="889000" cy="101600"/>
          </a:xfrm>
          <a:prstGeom prst="rect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3365500"/>
            <a:ext cx="26035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Būgninis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i="0" b="0">
                <a:solidFill>
                  <a:srgbClr val="1F2BE0"/>
                </a:solidFill>
                <a:latin typeface="Georgia"/>
              </a:rPr>
              <a:t>keltuvas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4064000"/>
            <a:ext cx="1219200" cy="215900"/>
          </a:xfrm>
          <a:prstGeom prst="rect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05200" y="4108450"/>
            <a:ext cx="11430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7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✗ ATSISAKYTA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44450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9500" y="4432300"/>
            <a:ext cx="2413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Paprasta konstrukcija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50165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9500" y="50038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Didėjant aukščiui būgnas tampa milžiniškas; didelė lyno trūkimo rizika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91250" y="1428750"/>
            <a:ext cx="6350" cy="444500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77000" y="3086100"/>
            <a:ext cx="2286000" cy="190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12000" y="1841500"/>
            <a:ext cx="1016000" cy="101600"/>
          </a:xfrm>
          <a:prstGeom prst="rect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94600" y="1943100"/>
            <a:ext cx="50800" cy="469899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67599" y="2413000"/>
            <a:ext cx="304800" cy="673100"/>
          </a:xfrm>
          <a:prstGeom prst="rect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0" y="2946400"/>
            <a:ext cx="482600" cy="190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55000" y="2832100"/>
            <a:ext cx="19050" cy="1143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66100" y="2654300"/>
            <a:ext cx="381000" cy="177800"/>
          </a:xfrm>
          <a:prstGeom prst="rect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40700" y="2514600"/>
            <a:ext cx="762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siurblys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0000" y="3365500"/>
            <a:ext cx="26035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Hidraulinis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i="0" b="0">
                <a:solidFill>
                  <a:srgbClr val="1F2BE0"/>
                </a:solidFill>
                <a:latin typeface="Georgia"/>
              </a:rPr>
              <a:t>keltuvas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50000" y="4064000"/>
            <a:ext cx="971550" cy="215900"/>
          </a:xfrm>
          <a:prstGeom prst="rect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26200" y="4108450"/>
            <a:ext cx="89535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7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≈ RIBOTAI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50000" y="44450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40500" y="4432300"/>
            <a:ext cx="2413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Didelė jėga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0000" y="50165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40500" y="50038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Grunto taršos ir gaisro rizika; aukštuose pastatuose jį išstūmė elektrinis liftas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12250" y="1428750"/>
            <a:ext cx="6350" cy="444500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98000" y="3086100"/>
            <a:ext cx="2286000" cy="190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652000" y="1651000"/>
            <a:ext cx="1778000" cy="190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325100" y="1651000"/>
            <a:ext cx="431800" cy="431800"/>
          </a:xfrm>
          <a:prstGeom prst="ellipse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521950" y="1847850"/>
            <a:ext cx="38100" cy="38100"/>
          </a:xfrm>
          <a:prstGeom prst="ellipse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325100" y="1866899"/>
            <a:ext cx="19050" cy="4191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750550" y="1866899"/>
            <a:ext cx="19050" cy="5461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982200" y="2286000"/>
            <a:ext cx="685800" cy="584200"/>
          </a:xfrm>
          <a:prstGeom prst="rect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680700" y="2413000"/>
            <a:ext cx="177800" cy="457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880600" y="1968500"/>
            <a:ext cx="9525" cy="11176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Isosceles Triangle 72"/>
          <p:cNvSpPr/>
          <p:nvPr/>
        </p:nvSpPr>
        <p:spPr>
          <a:xfrm>
            <a:off x="9886950" y="2755900"/>
            <a:ext cx="101600" cy="139700"/>
          </a:xfrm>
          <a:prstGeom prst="triangle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934700" y="2603500"/>
            <a:ext cx="762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atsvaras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71000" y="2946400"/>
            <a:ext cx="762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stabdys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71000" y="3365500"/>
            <a:ext cx="26035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Trauka su atsvaru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i="0" b="0">
                <a:solidFill>
                  <a:srgbClr val="1F2BE0"/>
                </a:solidFill>
                <a:latin typeface="Georgia"/>
              </a:rPr>
              <a:t>ir saugos stabdžiu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71000" y="4064000"/>
            <a:ext cx="1301750" cy="2159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47200" y="4108450"/>
            <a:ext cx="122555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 spc="17">
                <a:solidFill>
                  <a:srgbClr val="F0EBDE"/>
                </a:solidFill>
                <a:latin typeface="Consolas"/>
                <a:ea typeface="Calibri"/>
                <a:cs typeface="Calibri"/>
              </a:rPr>
              <a:t>✓ PASITEISINO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71000" y="44450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61500" y="4432300"/>
            <a:ext cx="2413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Tapo šiuolaikinės liftų inžinerijos pagrindu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71000" y="50165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−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61500" y="50038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Sunkūs plieniniai lynai; skriemulys turi būti ≥ 40 lyno skersmenų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79000" y="63119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54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04 / 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8000" y="6261100"/>
            <a:ext cx="9017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Principinės schemos supaprastintos. Vertinimas pagal Klein (2015); The Elevator Museum (b. d.); KONE Corporation (b. d., 2026); ETHW (2015); Kalliomaki (2022); Muñoz (2020)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db829f1f3633bee443cf5e0b473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794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6591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546100"/>
            <a:ext cx="8890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0" i="0" spc="-3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Kas pasiteisino, o kas — 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9000" y="1003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 spc="153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PBL 2 · IŠVADA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2446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478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71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NETINKAMI SPRENDIMAI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879599"/>
            <a:ext cx="53594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2070100"/>
            <a:ext cx="535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Raumenų jėga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2425700"/>
            <a:ext cx="5359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Per lėta ir per daug darbo jėgos reikalaujanti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2806700"/>
            <a:ext cx="53594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000" y="2971800"/>
            <a:ext cx="535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Būgnas lynui vynioti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3327400"/>
            <a:ext cx="5359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Kėlimo aukštį riboja būgno dydis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3708400"/>
            <a:ext cx="53594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000" y="3873499"/>
            <a:ext cx="535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Hidraulika aukštuose pastatuose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4229100"/>
            <a:ext cx="5359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Išstumta elektrinio traukos lifto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000" y="4610100"/>
            <a:ext cx="53594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4600" y="14478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1000" y="16002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 spc="171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LABIAUSIAI PASITEISINO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4600" y="1879599"/>
            <a:ext cx="53594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4600" y="2070100"/>
            <a:ext cx="535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Automatinis saugos stabdys</a:t>
            </a:r>
            <a:r>
              <a:rPr sz="900" i="0" b="0">
                <a:solidFill>
                  <a:srgbClr val="1F2BE0"/>
                </a:solidFill>
                <a:latin typeface="Consolas"/>
              </a:rPr>
              <a:t>   1854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600" y="2425700"/>
            <a:ext cx="5359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Nutrūkus lynui kabina nebekrenta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4600" y="2806700"/>
            <a:ext cx="53594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600" y="2971800"/>
            <a:ext cx="535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Trinties skriemulys su atsvaru</a:t>
            </a:r>
            <a:r>
              <a:rPr sz="900" i="0" b="0">
                <a:solidFill>
                  <a:srgbClr val="1F2BE0"/>
                </a:solidFill>
                <a:latin typeface="Consolas"/>
              </a:rPr>
              <a:t>   1877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600" y="3327400"/>
            <a:ext cx="5359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Pakeitė būgną — aukštis nebėra ribojamas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4600" y="3708400"/>
            <a:ext cx="53594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4600" y="3873499"/>
            <a:ext cx="535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Elektrinė traukos pavara</a:t>
            </a:r>
            <a:r>
              <a:rPr sz="900" i="0" b="0">
                <a:solidFill>
                  <a:srgbClr val="1F2BE0"/>
                </a:solidFill>
                <a:latin typeface="Consolas"/>
              </a:rPr>
              <a:t>   1902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600" y="4229100"/>
            <a:ext cx="5359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Aukštuose pastatuose išstūmė hidraulinę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4600" y="4610100"/>
            <a:ext cx="53594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8000" y="53975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8000" y="5499100"/>
            <a:ext cx="508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000" y="557530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Likęs trūkumas — </a:t>
            </a:r>
            <a:r>
              <a:rPr sz="1700" i="1" b="0">
                <a:solidFill>
                  <a:srgbClr val="1F2BE0"/>
                </a:solidFill>
                <a:latin typeface="Georgia"/>
              </a:rPr>
              <a:t>sunkūs plieniniai lynai ir didelis skriemulys.</a:t>
            </a:r>
            <a:r>
              <a:rPr sz="1700" i="0" b="0">
                <a:solidFill>
                  <a:srgbClr val="1F2BE0"/>
                </a:solidFill>
                <a:latin typeface="Georgia"/>
              </a:rPr>
              <a:t> Čia prasideda mūsų problema.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9000" y="63119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54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05 / 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000" y="6261100"/>
            <a:ext cx="9017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Šaltiniai: Klein (2015); The Elevator Museum (b. d.); KONE Corporation (b. d., 2026); ETHW (2015); Kalliomaki (2022); Muñoz (2020)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db829f1f3633bee443cf5e0b473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794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6591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546100"/>
            <a:ext cx="8890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0" i="0" spc="-3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Problema: per didelė judanti masė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9000" y="1003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 spc="153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PBL 1 · PROBLEMA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2446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60500"/>
            <a:ext cx="6096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Kiekvieno važiavimo metu variklis turi pajudinti ne tik krovinį: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1854200"/>
            <a:ext cx="6096000" cy="1511300"/>
          </a:xfrm>
          <a:prstGeom prst="rect">
            <a:avLst/>
          </a:prstGeom>
          <a:solidFill>
            <a:srgbClr val="F0EBDE"/>
          </a:solidFill>
          <a:ln w="19050">
            <a:solidFill>
              <a:srgbClr val="1F2B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300" y="2044700"/>
            <a:ext cx="5651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Judanti masė = kabina + krovinys + atsvaras + lynai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300" y="2921000"/>
            <a:ext cx="565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Atsvaras ≈ kabina + (0,4–0,5) × vardinis krovinys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594100"/>
            <a:ext cx="6096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Atsvaras priklauso nuo kabinos masės, todėl kabinos palengvinimas sumažina ir atsvarą: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4178300"/>
            <a:ext cx="18415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−100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4991100"/>
            <a:ext cx="2032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44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KG KABINA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3500" y="4178300"/>
            <a:ext cx="18415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−100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3500" y="4991100"/>
            <a:ext cx="2032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44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KG ATSVARAS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49800" y="4140200"/>
            <a:ext cx="1854200" cy="7366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38700" y="4178300"/>
            <a:ext cx="18415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000" b="0" i="0">
                <a:solidFill>
                  <a:srgbClr val="F0EBDE"/>
                </a:solidFill>
                <a:latin typeface="Georgia"/>
                <a:ea typeface="Calibri"/>
                <a:cs typeface="Calibri"/>
              </a:rPr>
              <a:t>−200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9800" y="4991100"/>
            <a:ext cx="2032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44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KG JUDANČIOS MASĖS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2500" y="4381500"/>
            <a:ext cx="31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4381500"/>
            <a:ext cx="31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=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12000" y="1409700"/>
            <a:ext cx="9525" cy="46990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7750" y="14224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62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DIDELĖ MASĖ LEMIA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750" y="1905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4149" y="1866899"/>
            <a:ext cx="3873499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galingesnį ir brangesnį variklį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97750" y="2463800"/>
            <a:ext cx="428625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97750" y="26543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4149" y="2616200"/>
            <a:ext cx="3873499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didesnes energijos sąnaudas įsibėgėjant ir stabdant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97750" y="3213100"/>
            <a:ext cx="428625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97750" y="34036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04149" y="3365500"/>
            <a:ext cx="3873499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storesnius lynus ir didesnį skriemulį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97750" y="3962399"/>
            <a:ext cx="428625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97750" y="41529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04149" y="4114800"/>
            <a:ext cx="3873499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didesnes stabdžių ir konstrukcijos apkrovas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97750" y="4711700"/>
            <a:ext cx="428625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79000" y="63119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54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06 / 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000" y="6261100"/>
            <a:ext cx="9017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Šaltiniai: TK Elevator (b. d.); Cloux ir kt. (1999); KONE Corporation (b. d.)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db829f1f3633bee443cf5e0b473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794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6591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546100"/>
            <a:ext cx="8890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0" i="0" spc="-3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Inžinerinis uždavinys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9000" y="1003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 spc="153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PBL 1–2 · UŽDAVINYS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2446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35100"/>
            <a:ext cx="10795000" cy="139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Sumažinti keltuvo judančių dalių masę, pakeičiant </a:t>
            </a:r>
            <a:r>
              <a:rPr sz="2900" i="1" b="0">
                <a:solidFill>
                  <a:srgbClr val="5560E5"/>
                </a:solidFill>
                <a:latin typeface="Georgia"/>
              </a:rPr>
              <a:t>rėmo medžiagą</a:t>
            </a:r>
            <a:r>
              <a:rPr sz="2900" i="0" b="0">
                <a:solidFill>
                  <a:srgbClr val="1F2BE0"/>
                </a:solidFill>
                <a:latin typeface="Georgia"/>
              </a:rPr>
              <a:t> ir </a:t>
            </a:r>
            <a:r>
              <a:rPr sz="2900" i="1" b="0">
                <a:solidFill>
                  <a:srgbClr val="5560E5"/>
                </a:solidFill>
                <a:latin typeface="Georgia"/>
              </a:rPr>
              <a:t>kėlimo elementą</a:t>
            </a:r>
            <a:r>
              <a:rPr sz="2900" i="0" b="0">
                <a:solidFill>
                  <a:srgbClr val="1F2BE0"/>
                </a:solidFill>
                <a:latin typeface="Georgia"/>
              </a:rPr>
              <a:t>, išlaikant tą pačią keliamąją galią ir saugos atsargos koeficientus.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086100"/>
            <a:ext cx="508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135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NR.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086100"/>
            <a:ext cx="2667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135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KEIČIAMAS ELEMENTAS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4000" y="3086100"/>
            <a:ext cx="37465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135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DABAR → SIŪLOMA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7500" y="3086100"/>
            <a:ext cx="3810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135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KEIČIAMI PARAMETRAI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32766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000" y="3517900"/>
            <a:ext cx="508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3479800"/>
            <a:ext cx="3048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Kabinos ar platformos rėmas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4000" y="35052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60E5"/>
                </a:solidFill>
                <a:latin typeface="Calibri"/>
                <a:ea typeface="Calibri"/>
                <a:cs typeface="Calibri"/>
              </a:rPr>
              <a:t>Konstrukcinis plienas</a:t>
            </a:r>
            <a:r>
              <a:rPr sz="1300" i="0" b="0">
                <a:solidFill>
                  <a:srgbClr val="1F2BE0"/>
                </a:solidFill>
                <a:latin typeface="Calibri"/>
              </a:rPr>
              <a:t>  →  </a:t>
            </a:r>
            <a:r>
              <a:rPr sz="1300" i="0" b="1">
                <a:solidFill>
                  <a:srgbClr val="1F2BE0"/>
                </a:solidFill>
                <a:latin typeface="Calibri"/>
              </a:rPr>
              <a:t>aliuminio lydinys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7500" y="3517900"/>
            <a:ext cx="3746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Profilių matmenys, sienelės storis, jungčių tipas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394970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000" y="4165600"/>
            <a:ext cx="508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4127500"/>
            <a:ext cx="3048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Kėlimo elementas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4000" y="41529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60E5"/>
                </a:solidFill>
                <a:latin typeface="Calibri"/>
                <a:ea typeface="Calibri"/>
                <a:cs typeface="Calibri"/>
              </a:rPr>
              <a:t>Plieninis lynas</a:t>
            </a:r>
            <a:r>
              <a:rPr sz="1300" i="0" b="0">
                <a:solidFill>
                  <a:srgbClr val="1F2BE0"/>
                </a:solidFill>
                <a:latin typeface="Calibri"/>
              </a:rPr>
              <a:t>  →  </a:t>
            </a:r>
            <a:r>
              <a:rPr sz="1300" i="0" b="1">
                <a:solidFill>
                  <a:srgbClr val="1F2BE0"/>
                </a:solidFill>
                <a:latin typeface="Calibri"/>
              </a:rPr>
              <a:t>dengtas plieninis diržas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7500" y="4165600"/>
            <a:ext cx="3746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Diržo plotis, diržų skaičius, atsargos koeficientas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000" y="459740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000" y="4813300"/>
            <a:ext cx="508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" y="4775200"/>
            <a:ext cx="3048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Skriemulys ir variklis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4000" y="480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60E5"/>
                </a:solidFill>
                <a:latin typeface="Calibri"/>
                <a:ea typeface="Calibri"/>
                <a:cs typeface="Calibri"/>
              </a:rPr>
              <a:t>Didelis skriemulys</a:t>
            </a:r>
            <a:r>
              <a:rPr sz="1300" i="0" b="0">
                <a:solidFill>
                  <a:srgbClr val="1F2BE0"/>
                </a:solidFill>
                <a:latin typeface="Calibri"/>
              </a:rPr>
              <a:t>  →  </a:t>
            </a:r>
            <a:r>
              <a:rPr sz="1300" i="0" b="1">
                <a:solidFill>
                  <a:srgbClr val="1F2BE0"/>
                </a:solidFill>
                <a:latin typeface="Calibri"/>
              </a:rPr>
              <a:t>mažesnis skriemulys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7500" y="4813300"/>
            <a:ext cx="3746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Skriemulio skersmuo, variklio sukimo momentas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000" y="524510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8000" y="5588000"/>
            <a:ext cx="10795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Plieniniam lynui skriemulio skersmuo turi būti bent 40 kartų didesnis už lyno skersmenį. Plonas diržas leidžia naudoti daug mažesnį skriemulį, todėl varikliui reikia mažesnio sukimo momento.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9000" y="63119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54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07 / 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6261100"/>
            <a:ext cx="9017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Šaltinis: Muñoz (2020)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db829f1f3633bee443cf5e0b473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794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6591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546100"/>
            <a:ext cx="8890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0" i="0" spc="-3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Rėmo medžiagos parinkimas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9000" y="1003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 spc="153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PBL 2 · MEDŽIAGOS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2446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8000" y="14097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32450" y="1409700"/>
            <a:ext cx="3028950" cy="6096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536700"/>
            <a:ext cx="277495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Plienas S355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16100"/>
            <a:ext cx="277495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48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DABAR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2150" y="1536700"/>
            <a:ext cx="277495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0EBDE"/>
                </a:solidFill>
                <a:latin typeface="Georgia"/>
                <a:ea typeface="Calibri"/>
                <a:cs typeface="Calibri"/>
              </a:rPr>
              <a:t>Aliuminio lydinys 6082-T6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2150" y="1816100"/>
            <a:ext cx="277495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48">
                <a:solidFill>
                  <a:srgbClr val="F0EBDE"/>
                </a:solidFill>
                <a:latin typeface="Consolas"/>
                <a:ea typeface="Calibri"/>
                <a:cs typeface="Calibri"/>
              </a:rPr>
              <a:t>PASIRINKTA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1100" y="1536700"/>
            <a:ext cx="2768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Anglies pluošto kompozitas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1100" y="1816100"/>
            <a:ext cx="27686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48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ALTERNATYVA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2019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32450" y="2032000"/>
            <a:ext cx="3028950" cy="622300"/>
          </a:xfrm>
          <a:prstGeom prst="rect">
            <a:avLst/>
          </a:prstGeom>
          <a:solidFill>
            <a:srgbClr val="DF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000" y="2019300"/>
            <a:ext cx="20320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112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TANKIS, KG/M³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1209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7850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638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8450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051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2580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464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6710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77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0840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290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4970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703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90999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16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230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529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7360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942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1490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355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72150" y="21209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2700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721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280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134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3410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547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7540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960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1670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5800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7865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9930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21995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4060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61249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581899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0255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82320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4385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06450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01100" y="21209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1600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0110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9217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04240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63050" y="2451100"/>
            <a:ext cx="101600" cy="76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8370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40435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2500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64565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76630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8695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00760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12825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24890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36955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49020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61085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73150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85215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97280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1093450" y="2451100"/>
            <a:ext cx="101600" cy="76200"/>
          </a:xfrm>
          <a:prstGeom prst="rect">
            <a:avLst/>
          </a:prstGeom>
          <a:solidFill>
            <a:srgbClr val="DB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08000" y="265430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32450" y="2667000"/>
            <a:ext cx="3028950" cy="406400"/>
          </a:xfrm>
          <a:prstGeom prst="rect">
            <a:avLst/>
          </a:prstGeom>
          <a:solidFill>
            <a:srgbClr val="DF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8000" y="2654300"/>
            <a:ext cx="203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112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STIPRUMAS, MPA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3200" y="2781300"/>
            <a:ext cx="2749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355 (takumo riba)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72150" y="2781300"/>
            <a:ext cx="2749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≥ 250 (takumo riba)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01100" y="27813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≈ 1730 (išilgai pluošto)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8000" y="307340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632450" y="3086100"/>
            <a:ext cx="3028950" cy="406400"/>
          </a:xfrm>
          <a:prstGeom prst="rect">
            <a:avLst/>
          </a:prstGeom>
          <a:solidFill>
            <a:srgbClr val="DF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8000" y="3073400"/>
            <a:ext cx="203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112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TAMPRUMO MODULIS, GPA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3200" y="3200400"/>
            <a:ext cx="2749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210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72150" y="3200400"/>
            <a:ext cx="2749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70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01100" y="32004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≈ 142 (išilgai pluošto)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8000" y="349250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632450" y="3505200"/>
            <a:ext cx="3028950" cy="406400"/>
          </a:xfrm>
          <a:prstGeom prst="rect">
            <a:avLst/>
          </a:prstGeom>
          <a:solidFill>
            <a:srgbClr val="DF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8000" y="3492500"/>
            <a:ext cx="20320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112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SAVITASIS STIPRUMAS, KN·M/KG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43200" y="3619500"/>
            <a:ext cx="2749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≈ 45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772150" y="3619500"/>
            <a:ext cx="27495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≈ 93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801100" y="36195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≈ 1080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8000" y="391160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632450" y="3924300"/>
            <a:ext cx="3028950" cy="596900"/>
          </a:xfrm>
          <a:prstGeom prst="rect">
            <a:avLst/>
          </a:prstGeom>
          <a:solidFill>
            <a:srgbClr val="DF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8000" y="3911600"/>
            <a:ext cx="20320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112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KAINA IR GAMYBA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743200" y="4038600"/>
            <a:ext cx="27495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Pigus, lengvai suvirinamas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772150" y="4038600"/>
            <a:ext cx="27495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Vidutinė kaina, lengvai apdirbamas, atsparus korozijai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801100" y="4038600"/>
            <a:ext cx="27432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Brangus, sunkiai jungiamas ir remontuojamas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8000" y="452120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08000" y="52705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08000" y="54991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144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SPRENDIMAS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095499" y="5410200"/>
            <a:ext cx="95885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Aliuminio lydinys 6082-T6 — </a:t>
            </a:r>
            <a:r>
              <a:rPr sz="1350" i="0" b="0">
                <a:solidFill>
                  <a:srgbClr val="1F2BE0"/>
                </a:solidFill>
                <a:latin typeface="Calibri"/>
              </a:rPr>
              <a:t>beveik 3 kartus lengvesnis už plieną ir atsparus korozijai. Tamprumo modulis 3 kartus mažesnis, todėl profiliai turės būti didesni, kad rėmas per daug nelinktų.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779000" y="63119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54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08 / 14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8000" y="6261100"/>
            <a:ext cx="9017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Šaltiniai: Weerg (2024); Wieland SMH GmbH (2018); The Engineering ToolBox (b. d.)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db829f1f3633bee443cf5e0b473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794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6591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546100"/>
            <a:ext cx="8890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0" i="0" spc="-3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Kėlimo elemento parinkimas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9000" y="1003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 spc="153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PBL 2 · DETALĖS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2446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8000" y="14097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32450" y="1409700"/>
            <a:ext cx="3028950" cy="6096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536700"/>
            <a:ext cx="277495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Plieninis lynas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16100"/>
            <a:ext cx="277495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48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DABAR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2150" y="1536700"/>
            <a:ext cx="277495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0EBDE"/>
                </a:solidFill>
                <a:latin typeface="Georgia"/>
                <a:ea typeface="Calibri"/>
                <a:cs typeface="Calibri"/>
              </a:rPr>
              <a:t>Dengtas plieninis diržas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2150" y="1816100"/>
            <a:ext cx="277495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48">
                <a:solidFill>
                  <a:srgbClr val="F0EBDE"/>
                </a:solidFill>
                <a:latin typeface="Consolas"/>
                <a:ea typeface="Calibri"/>
                <a:cs typeface="Calibri"/>
              </a:rPr>
              <a:t>PASIRINKTA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1100" y="1536700"/>
            <a:ext cx="2768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Anglies pluošto lynas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1100" y="1816100"/>
            <a:ext cx="27686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48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ALTERNATYVA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2019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32450" y="2032000"/>
            <a:ext cx="3028950" cy="431800"/>
          </a:xfrm>
          <a:prstGeom prst="rect">
            <a:avLst/>
          </a:prstGeom>
          <a:solidFill>
            <a:srgbClr val="DF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000" y="2019300"/>
            <a:ext cx="2032000" cy="44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112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SANDARA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146300"/>
            <a:ext cx="274955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Susukti plieniniai lynai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2150" y="2146300"/>
            <a:ext cx="274955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Plieniniai lynai, padengti poliuretanu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1100" y="2146300"/>
            <a:ext cx="2743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Anglies pluošto šerdis su danga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246380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32450" y="2476500"/>
            <a:ext cx="3028950" cy="431800"/>
          </a:xfrm>
          <a:prstGeom prst="rect">
            <a:avLst/>
          </a:prstGeom>
          <a:solidFill>
            <a:srgbClr val="DF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000" y="2463800"/>
            <a:ext cx="2032000" cy="44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112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MASĖ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590800"/>
            <a:ext cx="274955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Sunkūs lynai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2150" y="2590800"/>
            <a:ext cx="274955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Diržai iki 20 % lengvesni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1100" y="2590800"/>
            <a:ext cx="2743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500 m lifte judanti masė ≈ 27 t → 13 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000" y="290830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32450" y="2921000"/>
            <a:ext cx="3028950" cy="431800"/>
          </a:xfrm>
          <a:prstGeom prst="rect">
            <a:avLst/>
          </a:prstGeom>
          <a:solidFill>
            <a:srgbClr val="DF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8000" y="2908300"/>
            <a:ext cx="2032000" cy="44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112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SKRIEMULYS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035300"/>
            <a:ext cx="274955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≥ 40 lyno skersmenų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2150" y="3035300"/>
            <a:ext cx="274955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Apie 85 % mažesnis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1100" y="3035300"/>
            <a:ext cx="2743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8000" y="335280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32450" y="3365500"/>
            <a:ext cx="3028950" cy="431800"/>
          </a:xfrm>
          <a:prstGeom prst="rect">
            <a:avLst/>
          </a:prstGeom>
          <a:solidFill>
            <a:srgbClr val="DF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000" y="3352800"/>
            <a:ext cx="2032000" cy="444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112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VARIKLIS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479800"/>
            <a:ext cx="274955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Didelis sukimo momentas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72150" y="3479800"/>
            <a:ext cx="274955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Apie 70 % mažesnis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1100" y="3479800"/>
            <a:ext cx="2743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8000" y="379730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32450" y="3810000"/>
            <a:ext cx="3028950" cy="596900"/>
          </a:xfrm>
          <a:prstGeom prst="rect">
            <a:avLst/>
          </a:prstGeom>
          <a:solidFill>
            <a:srgbClr val="DF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8000" y="3797300"/>
            <a:ext cx="20320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1" i="0" spc="112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PASKIRTIS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3924300"/>
            <a:ext cx="27495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Įprasti traukos liftai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2150" y="3924300"/>
            <a:ext cx="274955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Liftai be mašinų patalpos (Otis Gen2, 2000)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01100" y="3924300"/>
            <a:ext cx="27432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Labai aukšti pastatai — iki 1 km (KONE UltraRope, 2013)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8000" y="4406900"/>
            <a:ext cx="111760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8000" y="52705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8000" y="54991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144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SPRENDIMAS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95499" y="5410200"/>
            <a:ext cx="95885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Dengtas plieninis diržas — </a:t>
            </a:r>
            <a:r>
              <a:rPr sz="1350" i="0" b="0">
                <a:solidFill>
                  <a:srgbClr val="1F2BE0"/>
                </a:solidFill>
                <a:latin typeface="Calibri"/>
              </a:rPr>
              <a:t>sumažina ne tik lyno masę, bet ir skriemulį bei variklį. Anglies pluošto lyno privalumas didžiausias tik labai aukštuose pastatuose.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79000" y="63119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54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09 / 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8000" y="6261100"/>
            <a:ext cx="9017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20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Šaltiniai: FMLink (2005, 2013); Muñoz (2020); KONE Corporation (b. d.)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db829f1f3633bee443cf5e0b473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794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6591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546100"/>
            <a:ext cx="8890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0" i="0" spc="-3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Išvados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9000" y="1003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 spc="153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TA1 · APIBENDRINIMAS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2446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778000"/>
            <a:ext cx="6985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6500" y="1778000"/>
            <a:ext cx="4445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135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RAIDA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500" y="1981199"/>
            <a:ext cx="46355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Keltuvų raidą lėmė dvi pagrindinės problemos: saugumas ir judančių dalių masė.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000" y="3429000"/>
            <a:ext cx="53594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600" y="1778000"/>
            <a:ext cx="6985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3100" y="1778000"/>
            <a:ext cx="4445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135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VERTINIMAS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3100" y="1981199"/>
            <a:ext cx="46355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Saugumą iš esmės užtikrino automatinis saugos stabdys ir trinties pavara su atsvaru.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24600" y="3429000"/>
            <a:ext cx="53594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000" y="3873499"/>
            <a:ext cx="6985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6500" y="3873499"/>
            <a:ext cx="4445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135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PROBLEMA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6500" y="4076699"/>
            <a:ext cx="46355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Naujausia raidos kryptis rodo, kad didžiausias rezervas — lengvesnės judančios dalys.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000" y="5524500"/>
            <a:ext cx="53594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4600" y="3873499"/>
            <a:ext cx="6985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3100" y="3873499"/>
            <a:ext cx="4445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1" i="0" spc="135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SPRENDIMAS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3100" y="4076699"/>
            <a:ext cx="4635500" cy="1206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Siūlome rėmą gaminti iš aliuminio lydinio, o plieninį lyną pakeisti dengtu plieniniu diržu.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4600" y="5524500"/>
            <a:ext cx="5359400" cy="6350"/>
          </a:xfrm>
          <a:prstGeom prst="rect">
            <a:avLst/>
          </a:prstGeom>
          <a:solidFill>
            <a:srgbClr val="C8C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79000" y="63119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54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db829f1f3633bee443cf5e0b473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794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6591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000" y="584200"/>
            <a:ext cx="25400" cy="53975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4200" y="831850"/>
            <a:ext cx="25400" cy="51498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0400" y="1073150"/>
            <a:ext cx="63500" cy="4908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4700" y="1320800"/>
            <a:ext cx="25400" cy="46609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900" y="1568450"/>
            <a:ext cx="114300" cy="44132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1809750"/>
            <a:ext cx="25400" cy="41719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2200" y="2057400"/>
            <a:ext cx="25400" cy="39243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8400" y="2298700"/>
            <a:ext cx="165100" cy="36830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84300" y="2546350"/>
            <a:ext cx="25400" cy="34353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0500" y="2794000"/>
            <a:ext cx="63500" cy="31877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74800" y="3035300"/>
            <a:ext cx="254000" cy="29464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9599" y="3282950"/>
            <a:ext cx="25400" cy="26987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55800" y="3530600"/>
            <a:ext cx="50800" cy="24511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57400" y="3771900"/>
            <a:ext cx="355600" cy="22098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63800" y="4019549"/>
            <a:ext cx="25400" cy="19621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40000" y="4267200"/>
            <a:ext cx="25400" cy="17145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16200" y="4508500"/>
            <a:ext cx="457200" cy="147320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24200" y="4756150"/>
            <a:ext cx="76200" cy="1225550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4000" y="2095499"/>
            <a:ext cx="508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 spc="162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KELTUVAI · TA1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2476500"/>
            <a:ext cx="635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9000" b="0" i="0" spc="-18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Ačiū</a:t>
            </a:r>
          </a:p>
          <a:p>
            <a:pPr algn="r">
              <a:lnSpc>
                <a:spcPct val="95000"/>
              </a:lnSpc>
              <a:spcBef>
                <a:spcPts val="0"/>
              </a:spcBef>
            </a:pPr>
            <a:r>
              <a:rPr sz="9000" i="0" b="0">
                <a:solidFill>
                  <a:srgbClr val="1F2BE0"/>
                </a:solidFill>
                <a:latin typeface="Georgia"/>
              </a:rPr>
              <a:t>už dėmesį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0" y="50800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200" b="0" i="1">
                <a:solidFill>
                  <a:srgbClr val="5560E5"/>
                </a:solidFill>
                <a:latin typeface="Georgia"/>
                <a:ea typeface="Calibri"/>
                <a:cs typeface="Calibri"/>
              </a:rPr>
              <a:t>Klausimai?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9000" y="63119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54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db829f1f3633bee443cf5e0b473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794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6591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546100"/>
            <a:ext cx="8890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0" i="0" spc="-3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Literatūros sąrašas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9000" y="1003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 spc="153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APA 7 · 1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2446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73200"/>
            <a:ext cx="5359400" cy="469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Cloux, J.-N., Pougny, J.-P., ir Menard, J.-P. (1999).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Elevator with reduced counterweight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 (JAV patentas Nr. 5984052). Otis Elevator Co. https://patents.google.com/patent/US5984052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i="0" b="0">
                <a:solidFill>
                  <a:srgbClr val="1F2BE0"/>
                </a:solidFill>
                <a:latin typeface="Calibri"/>
              </a:rPr>
              <a:t>de Almeida, A., Dütschke, E., Patrão, C., Hirzel, S., ir Fong, J. (2010). Elevators and escalators: Energy performance and strategies to promote energy efficiency. In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Proceedings of the 6th International Conference on Improving Energy Efficiency in Commercial Buildings (IEECB Focus 2010)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. Fraunhofer. https://publica.fraunhofer.de/handle/publica/367371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i="0" b="0">
                <a:solidFill>
                  <a:srgbClr val="1F2BE0"/>
                </a:solidFill>
                <a:latin typeface="Calibri"/>
              </a:rPr>
              <a:t>The Elevator Museum. (b. d.).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Friedrich Koepe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 [Ištrauka iš J. Simmen ir J. Imorde knygos „A Cultural History of Vertical Transport“]. https://theelevatormuseum.org/koepe.php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1473200"/>
            <a:ext cx="5359400" cy="469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The Engineering ToolBox. (b. d.).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Engineering materials – properties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. https://engineeringtoolbox.com/engineering-materials-properties-d_1225.html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i="0" b="0">
                <a:solidFill>
                  <a:srgbClr val="1F2BE0"/>
                </a:solidFill>
                <a:latin typeface="Calibri"/>
              </a:rPr>
              <a:t>ERIH. (b. d.).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Sir William George Armstrong (1810–1900)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. European Route of Industrial Heritage. https://www.erih.net/how-it-started/stories-about-people-biographies/biography/armstrong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i="0" b="0">
                <a:solidFill>
                  <a:srgbClr val="1F2BE0"/>
                </a:solidFill>
                <a:latin typeface="Calibri"/>
              </a:rPr>
              <a:t>ETHW. (2015).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The electric elevator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. Engineering and Technology History Wiki. https://ethw.org/The_Electric_Elevator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9000" y="63119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54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db829f1f3633bee443cf5e0b473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794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6591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546100"/>
            <a:ext cx="8890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0" i="0" spc="-3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Literatūros sąrašas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9000" y="1003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 spc="153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APA 7 · 2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2446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73200"/>
            <a:ext cx="5359400" cy="469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FMLink. (2005, birželio 10).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Otis introduces Gen2 Comfort flat-belt elevator system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. https://www.fmlink.com/otis-introduces-gen2-comfort-flat-belt-elevator-system/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i="0" b="0">
                <a:solidFill>
                  <a:srgbClr val="1F2BE0"/>
                </a:solidFill>
                <a:latin typeface="Calibri"/>
              </a:rPr>
              <a:t>FMLink. (2013, birželio 24).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Don't look down: KONE unveils high-rise elevator technology that reaches one kilometer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. https://www.fmlink.com/dont-look-down-kone-unveils-high-rise-elevator-technology-that-reaches-one-kilometer/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i="0" b="0">
                <a:solidFill>
                  <a:srgbClr val="1F2BE0"/>
                </a:solidFill>
                <a:latin typeface="Calibri"/>
              </a:rPr>
              <a:t>Kalliomaki, J. (2022). 1927 – The year that set the direction of traction lift engineering for a century. In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Proceedings of the 13th Symposium on Lift &amp; Escalator Technologies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 (T. 13, p. 141–152). https://liftescalatorlibrary.org/paper_indexing/abstract_pages/00000501.html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1473200"/>
            <a:ext cx="5359400" cy="469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Klein, C. (2015, birželio 9).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1,500 years later, killer animal elevator returns to Colosseum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. History. https://www.history.com/articles/1500-years-later-killer-animal-elevator-returns-to-colosseum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i="0" b="0">
                <a:solidFill>
                  <a:srgbClr val="1F2BE0"/>
                </a:solidFill>
                <a:latin typeface="Calibri"/>
              </a:rPr>
              <a:t>KONE Corporation. (b. d.).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It's all about a rope!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 https://www.kone.co.uk/stories-and-references/stories/its-all-bout-a-rope.aspx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i="0" b="0">
                <a:solidFill>
                  <a:srgbClr val="1F2BE0"/>
                </a:solidFill>
                <a:latin typeface="Calibri"/>
              </a:rPr>
              <a:t>KONE Corporation. (2026, kovo 17).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A space-saving innovation that keeps getting better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. https://www.kone.com/global/en/newsroom/stories/a-space-saving-innovation-that-keeps-getting-better.html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9000" y="63119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54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ddb829f1f3633bee443cf5e0b473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2794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000" y="65913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546100"/>
            <a:ext cx="8890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0" i="0" spc="-30">
                <a:solidFill>
                  <a:srgbClr val="1F2BE0"/>
                </a:solidFill>
                <a:latin typeface="Georgia"/>
                <a:ea typeface="Calibri"/>
                <a:cs typeface="Calibri"/>
              </a:rPr>
              <a:t>Literatūros sąrašas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9000" y="10033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 spc="153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APA 7 · 3 / 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1244600"/>
            <a:ext cx="11176000" cy="9525"/>
          </a:xfrm>
          <a:prstGeom prst="rect">
            <a:avLst/>
          </a:prstGeom>
          <a:solidFill>
            <a:srgbClr val="1F2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000" y="1473200"/>
            <a:ext cx="5359400" cy="469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Krakowski, T., ir Ruta, H. (2018). Analysis and assessment of energy efficiency of passenger lifts.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Advances in Science and Technology Research Journal, 12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(3), 257–265. https://doi.org/10.12913/22998624/95165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i="0" b="0">
                <a:solidFill>
                  <a:srgbClr val="1F2BE0"/>
                </a:solidFill>
                <a:latin typeface="Calibri"/>
              </a:rPr>
              <a:t>Muñoz, R. (2020, gruodis). 20 years of innovation.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Elevator World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. https://elevatorworld.com/?p=14006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i="0" b="0">
                <a:solidFill>
                  <a:srgbClr val="1F2BE0"/>
                </a:solidFill>
                <a:latin typeface="Calibri"/>
              </a:rPr>
              <a:t>Otis, E. G. (1861).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Improvement in hoisting apparatus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 (JAV patentas Nr. 31128). https://patents.google.com/patent/US31128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i="0" b="0">
                <a:solidFill>
                  <a:srgbClr val="1F2BE0"/>
                </a:solidFill>
                <a:latin typeface="Calibri"/>
              </a:rPr>
              <a:t>Rotary Solutions. (b. d.).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About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. https://rotarysolutions.com/about/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1473200"/>
            <a:ext cx="5359400" cy="469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F2BE0"/>
                </a:solidFill>
                <a:latin typeface="Calibri"/>
                <a:ea typeface="Calibri"/>
                <a:cs typeface="Calibri"/>
              </a:rPr>
              <a:t>TK Elevator. (b. d.).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Counterweights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 [Classroom on Demand]. https://www.tkelevator.com/us-en/tools/classroom-on-demand/counterweights.html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i="0" b="0">
                <a:solidFill>
                  <a:srgbClr val="1F2BE0"/>
                </a:solidFill>
                <a:latin typeface="Calibri"/>
              </a:rPr>
              <a:t>Weerg. (2024).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Technical datasheet: Steel S355J2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. https://weerg.com/hubfs/Datasheets/Datasheets%202024/ENG/EN_AcciaioS355J2.pdf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150" i="0" b="0">
                <a:solidFill>
                  <a:srgbClr val="1F2BE0"/>
                </a:solidFill>
                <a:latin typeface="Calibri"/>
              </a:rPr>
              <a:t>Wieland SMH GmbH. (2018). </a:t>
            </a:r>
            <a:r>
              <a:rPr sz="1150" i="1" b="0">
                <a:solidFill>
                  <a:srgbClr val="1F2BE0"/>
                </a:solidFill>
                <a:latin typeface="Calibri"/>
              </a:rPr>
              <a:t>Material data sheet EN AW 6082</a:t>
            </a:r>
            <a:r>
              <a:rPr sz="1150" i="0" b="0">
                <a:solidFill>
                  <a:srgbClr val="1F2BE0"/>
                </a:solidFill>
                <a:latin typeface="Calibri"/>
              </a:rPr>
              <a:t>. https://www.wieland.com/da/content/download/17142/file/EN-AW-6082_EN.pdf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9000" y="63119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 spc="54">
                <a:solidFill>
                  <a:srgbClr val="1F2BE0"/>
                </a:solidFill>
                <a:latin typeface="Consolas"/>
                <a:ea typeface="Calibri"/>
                <a:cs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