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Laba diena. Mūsų PBL tema – domkratas. Per 4 minutes parodysime, kaip domkratai vystėsi, kokias problemas turi šiandien ir kaip siūlome patobulinti automobilio žirklinį domkratą.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Pasirinkome domkratą, nes jį turi beveik kiekvienas automobilis. Jame susitinka viskas, ką mokomės: pavaros, medžiagos, sauga ir ergonomika. Vienam automobilio kampui tenka apie pusę tonos.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Visi domkratai remiasi dviem principais. Sraigtas – tai aplink cilindrą apvyniota nuožulni plokštuma: maža jėga, bet daug apsisukimų. Hidraulikoje Paskalio dėsnis: slėgis vienodas, todėl didelis stūmoklis duoda didelę jėgą.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Raida: nuo Archimedo sverto, per sraigtinius kėliklius, Bramah hidraulinį presą ir Dudgeon nešiojamą domkratą iki automobilių eros ir šiandieninių elektrinių. Tendencija – nuo jėgos laimėjimo link saugos ir ergonomikos.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Penki pagrindiniai tipai: trys mechaniniai – sraigtinis, krumpliastiebinis, žirklinis – ir du hidrauliniai – butelinis ir vežimėlinis. Toliau gilinsimės į žirklinį, nes jis yra kiekvieno automobilio komplekte.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Palyginimas rodo kompromisą: hidrauliniai stipresni, bet sunkesni ar aukštesni; žirklinis – lengviausias ir kompaktiškiausias, bet lėtas, sunkiai sukamas ir su siauru pagrindu.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Pasiteisino savistabdis sriegis, hidraulika ir žirklinė geometrija. Nepasiteisino rankenos atatranka, siauri pagrindai, hidraulika be apsaugos ir ilgas rankinis sukimas – būtent šias silpnybes ir taikysime.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Šiandienos problema – žirklinis domkratas automobilio komplekte. Jis lėtas: 60–100 apsisukimų. Pradžioje sunkiausia, nes jėga sraigte lygi Q padalinta iš tangento θ. Pagrindas mažas, o žmogus dirba pasilenkęs prie kelio.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Mūsų inžinerinis uždavinys: pakelti 1,5 t automobilį greičiau nei per minutę, be fizinių pastangų ir stabiliai. Lentelėje – konkretūs tikslai, pagal kuriuos vertinsime sprendimą.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Mūsų idėja – elektrinis žirklinis domkratas: 12 V variklis su planetiniu reduktoriumi suka trapecinį sraigtą su bronzine veržle. Stipresnės svirtys, platesnis guminis pagrindas, avarinis rankinis sukimas ir apsaugos nuo perkrovos.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Konkrečiai keičiame šešis elementus. Svarbiausia: sraigtas iš grūdinto 42CrMo4 plieno su bronzine veržle – savistabdis ir mažai dyla; svirtys iš aukšto stiprumo S420MC plieno; pagrindas dvigubai didesnis.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Palyginus: kėlimas trumpėja nuo kelių minučių iki minutės, rankos jėga lygi nuliui, pagrindas dvigubai didesnis. Kompromisai – masė ir kaina. Preliminariai variklio galia apie 100 W, o sriegis išlieka savistabdis.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Apibendrinant: domkratai vystėsi nuo jėgos laimėjimo iki saugos ir ergonomikos. Žirklinį domkratą siūlome elektrifikuoti ir sustiprinti. TA2 etape atliksime skaičiavimus, patentų analizę ir atitikties standartams vertinimą. Ačiū, laukiame klausimų.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Šaltiniai pateikti APA 7 stiliumi.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40932bc916c6be3b0d736c73b9f2d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11200" y="215900"/>
            <a:ext cx="825500" cy="203200"/>
          </a:xfrm>
          <a:prstGeom prst="rect">
            <a:avLst/>
          </a:prstGeom>
          <a:solidFill>
            <a:srgbClr val="F6B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1200" y="215900"/>
            <a:ext cx="825500" cy="2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PBL · TA1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56000" y="241300"/>
            <a:ext cx="508000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 spc="95">
                <a:solidFill>
                  <a:srgbClr val="9A9EA4"/>
                </a:solidFill>
                <a:latin typeface="Consolas"/>
                <a:ea typeface="Calibri"/>
                <a:cs typeface="Calibri"/>
              </a:rPr>
              <a:t>ĮVADAS Į SPECIALYBĘ · MECHANIKOS INŽINERIJA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75800" y="241300"/>
            <a:ext cx="190500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ECEAE4"/>
                </a:solidFill>
                <a:latin typeface="Consolas"/>
                <a:ea typeface="Calibri"/>
                <a:cs typeface="Calibri"/>
              </a:rPr>
              <a:t>01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1200" y="124460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 spc="140">
                <a:solidFill>
                  <a:srgbClr val="F6B800"/>
                </a:solidFill>
                <a:latin typeface="Consolas"/>
                <a:ea typeface="Calibri"/>
                <a:cs typeface="Calibri"/>
              </a:rPr>
              <a:t>TARPINIS ATSISKAITYMAS NR.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0400" y="1587500"/>
            <a:ext cx="7302500" cy="14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85000"/>
              </a:lnSpc>
            </a:pPr>
            <a:r>
              <a:rPr sz="9500" b="0" i="0">
                <a:solidFill>
                  <a:srgbClr val="F6B800"/>
                </a:solidFill>
                <a:latin typeface="Bahnschrift SemiBold Condensed"/>
                <a:ea typeface="Calibri"/>
                <a:cs typeface="Calibri"/>
              </a:rPr>
              <a:t>DOMKRATAS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3302000"/>
            <a:ext cx="5715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ECEAE4"/>
                </a:solidFill>
                <a:latin typeface="Calibri"/>
                <a:ea typeface="Calibri"/>
                <a:cs typeface="Calibri"/>
              </a:rPr>
              <a:t>Nuo sraigto iki elektros: raida, problemos ir patobulinimo kryptis</a:t>
            </a:r>
          </a:p>
        </p:txBody>
      </p:sp>
      <p:pic>
        <p:nvPicPr>
          <p:cNvPr id="10" name="Picture 9" descr="a9f0de1027e9d62aaee1d40f7218cc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87500"/>
            <a:ext cx="3556000" cy="3048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1200" y="5588000"/>
            <a:ext cx="2032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119">
                <a:solidFill>
                  <a:srgbClr val="8B8F95"/>
                </a:solidFill>
                <a:latin typeface="Consolas"/>
                <a:ea typeface="Calibri"/>
                <a:cs typeface="Calibri"/>
              </a:rPr>
              <a:t>GRUPĖ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" y="57785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9CBC6"/>
                </a:solidFill>
                <a:latin typeface="Calibri"/>
                <a:ea typeface="Calibri"/>
                <a:cs typeface="Calibri"/>
              </a:rPr>
              <a:t>[Vardas Pavardė ×5–6]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06700" y="5588000"/>
            <a:ext cx="2032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119">
                <a:solidFill>
                  <a:srgbClr val="8B8F95"/>
                </a:solidFill>
                <a:latin typeface="Consolas"/>
                <a:ea typeface="Calibri"/>
                <a:cs typeface="Calibri"/>
              </a:rPr>
              <a:t>DĖSTYTOJAS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06700" y="57785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9CBC6"/>
                </a:solidFill>
                <a:latin typeface="Calibri"/>
                <a:ea typeface="Calibri"/>
                <a:cs typeface="Calibri"/>
              </a:rPr>
              <a:t>G. Viselga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02200" y="5588000"/>
            <a:ext cx="2032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119">
                <a:solidFill>
                  <a:srgbClr val="8B8F95"/>
                </a:solidFill>
                <a:latin typeface="Consolas"/>
                <a:ea typeface="Calibri"/>
                <a:cs typeface="Calibri"/>
              </a:rPr>
              <a:t>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02200" y="57785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9CBC6"/>
                </a:solidFill>
                <a:latin typeface="Calibri"/>
                <a:ea typeface="Calibri"/>
                <a:cs typeface="Calibri"/>
              </a:rPr>
              <a:t>2026 m. spalis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c09e3cf2e5c1e07d3fb1208bf6b46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52500" y="215900"/>
            <a:ext cx="520700" cy="203200"/>
          </a:xfrm>
          <a:prstGeom prst="rect">
            <a:avLst/>
          </a:prstGeom>
          <a:solidFill>
            <a:srgbClr val="1A1C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215900"/>
            <a:ext cx="520700" cy="2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6B800"/>
                </a:solidFill>
                <a:latin typeface="Consolas"/>
                <a:ea typeface="Calibri"/>
                <a:cs typeface="Calibri"/>
              </a:rPr>
              <a:t>PBL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56000" y="241300"/>
            <a:ext cx="508000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 spc="95">
                <a:solidFill>
                  <a:srgbClr val="5E6268"/>
                </a:solidFill>
                <a:latin typeface="Consolas"/>
                <a:ea typeface="Calibri"/>
                <a:cs typeface="Calibri"/>
              </a:rPr>
              <a:t>SRITIES PASIRINKIMAS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75800" y="241300"/>
            <a:ext cx="190500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02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660400"/>
            <a:ext cx="10541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52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KODĖL DOMKRATAS?</a:t>
            </a:r>
          </a:p>
        </p:txBody>
      </p:sp>
      <p:sp>
        <p:nvSpPr>
          <p:cNvPr id="8" name="Rectangle 7"/>
          <p:cNvSpPr/>
          <p:nvPr/>
        </p:nvSpPr>
        <p:spPr>
          <a:xfrm>
            <a:off x="952500" y="1473200"/>
            <a:ext cx="1524000" cy="88900"/>
          </a:xfrm>
          <a:prstGeom prst="rect">
            <a:avLst/>
          </a:prstGeom>
          <a:solidFill>
            <a:srgbClr val="F6B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52500" y="1905000"/>
            <a:ext cx="6350000" cy="15875"/>
          </a:xfrm>
          <a:prstGeom prst="rect">
            <a:avLst/>
          </a:prstGeom>
          <a:solidFill>
            <a:srgbClr val="1A1C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2500" y="2032000"/>
            <a:ext cx="508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5750" y="2032000"/>
            <a:ext cx="571500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Jį turi beveik kiekvienas automobilis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5750" y="2349500"/>
            <a:ext cx="57150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33363B"/>
                </a:solidFill>
                <a:latin typeface="Calibri"/>
                <a:ea typeface="Calibri"/>
                <a:cs typeface="Calibri"/>
              </a:rPr>
              <a:t>Paprasčiausias kėlimo mechanizmas, su kuriuo susiduria kiekvienas vairuotojas – ypač pradurtos padangos atveju.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52500" y="3238500"/>
            <a:ext cx="6350000" cy="15875"/>
          </a:xfrm>
          <a:prstGeom prst="rect">
            <a:avLst/>
          </a:prstGeom>
          <a:solidFill>
            <a:srgbClr val="1A1C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2500" y="3365500"/>
            <a:ext cx="508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5750" y="3365500"/>
            <a:ext cx="571500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Visas mūsų dalykas – viename įrenginyje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5750" y="3683000"/>
            <a:ext cx="57150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33363B"/>
                </a:solidFill>
                <a:latin typeface="Calibri"/>
                <a:ea typeface="Calibri"/>
                <a:cs typeface="Calibri"/>
              </a:rPr>
              <a:t>Pavaros (sraigtas, krumpliastiebis, hidraulika), medžiagos, sauga, ergonomika ir kaina.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2500" y="4572000"/>
            <a:ext cx="6350000" cy="15875"/>
          </a:xfrm>
          <a:prstGeom prst="rect">
            <a:avLst/>
          </a:prstGeom>
          <a:solidFill>
            <a:srgbClr val="1A1C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2500" y="4699000"/>
            <a:ext cx="508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5750" y="4699000"/>
            <a:ext cx="571500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Klaidos kaina – žmogaus sauga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5750" y="5016500"/>
            <a:ext cx="57150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33363B"/>
                </a:solidFill>
                <a:latin typeface="Calibri"/>
                <a:ea typeface="Calibri"/>
                <a:cs typeface="Calibri"/>
              </a:rPr>
              <a:t>Domkratas laiko šimtus kilogramų virš žmogaus rankų, todėl kiekvienas sprendimas turi būti pagrįstas.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6999" y="1905000"/>
            <a:ext cx="3810000" cy="2984500"/>
          </a:xfrm>
          <a:prstGeom prst="rect">
            <a:avLst/>
          </a:prstGeom>
          <a:solidFill>
            <a:srgbClr val="1A1C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f8108b8b0bb3c0a5bb2502ce078342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6999" y="1905000"/>
            <a:ext cx="3810000" cy="889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077200" y="2222500"/>
            <a:ext cx="330200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 spc="95">
                <a:solidFill>
                  <a:srgbClr val="8B8F95"/>
                </a:solidFill>
                <a:latin typeface="Consolas"/>
                <a:ea typeface="Calibri"/>
                <a:cs typeface="Calibri"/>
              </a:rPr>
              <a:t>VIENAM AUTOMOBILIO KAMPUI TENKA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6400" y="2438400"/>
            <a:ext cx="3429000" cy="1079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0" b="0" i="0">
                <a:solidFill>
                  <a:srgbClr val="F6B800"/>
                </a:solidFill>
                <a:latin typeface="Bahnschrift SemiBold Condensed"/>
                <a:ea typeface="Calibri"/>
                <a:cs typeface="Calibri"/>
              </a:rPr>
              <a:t>≈0,5 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77200" y="3594100"/>
            <a:ext cx="3175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D9DBD6"/>
                </a:solidFill>
                <a:latin typeface="Calibri"/>
                <a:ea typeface="Calibri"/>
                <a:cs typeface="Calibri"/>
              </a:rPr>
              <a:t>kai automobilio masė ~1,5 t: 0,4–0,5 t (masė ÷ 4 + atsarga dėl svorio centro).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77200" y="4292600"/>
            <a:ext cx="3302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ECEAE4"/>
                </a:solidFill>
                <a:latin typeface="Consolas"/>
                <a:ea typeface="Calibri"/>
                <a:cs typeface="Calibri"/>
              </a:rPr>
              <a:t>autoservisai · ratų keitimas · statyba · geležinkelis · gelbėtojai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c09e3cf2e5c1e07d3fb1208bf6b46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52500" y="215900"/>
            <a:ext cx="520700" cy="203200"/>
          </a:xfrm>
          <a:prstGeom prst="rect">
            <a:avLst/>
          </a:prstGeom>
          <a:solidFill>
            <a:srgbClr val="1A1C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215900"/>
            <a:ext cx="520700" cy="2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6B800"/>
                </a:solidFill>
                <a:latin typeface="Consolas"/>
                <a:ea typeface="Calibri"/>
                <a:cs typeface="Calibri"/>
              </a:rPr>
              <a:t>PBL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56000" y="241300"/>
            <a:ext cx="508000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 spc="95">
                <a:solidFill>
                  <a:srgbClr val="5E6268"/>
                </a:solidFill>
                <a:latin typeface="Consolas"/>
                <a:ea typeface="Calibri"/>
                <a:cs typeface="Calibri"/>
              </a:rPr>
              <a:t>VEIKIMO PRINCIPAS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75800" y="241300"/>
            <a:ext cx="190500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03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736600"/>
            <a:ext cx="10541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6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KAIP RANKA PAKELIA PUSĘ TONOS?</a:t>
            </a:r>
          </a:p>
        </p:txBody>
      </p:sp>
      <p:sp>
        <p:nvSpPr>
          <p:cNvPr id="8" name="Rectangle 7"/>
          <p:cNvSpPr/>
          <p:nvPr/>
        </p:nvSpPr>
        <p:spPr>
          <a:xfrm>
            <a:off x="952500" y="1473200"/>
            <a:ext cx="1524000" cy="88900"/>
          </a:xfrm>
          <a:prstGeom prst="rect">
            <a:avLst/>
          </a:prstGeom>
          <a:solidFill>
            <a:srgbClr val="F6B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52500" y="1905000"/>
            <a:ext cx="5080000" cy="38100"/>
          </a:xfrm>
          <a:prstGeom prst="rect">
            <a:avLst/>
          </a:prstGeom>
          <a:solidFill>
            <a:srgbClr val="1A1C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4f01ad2a17dc219afc9d608271df263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2070100"/>
            <a:ext cx="5080000" cy="209549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52500" y="4292600"/>
            <a:ext cx="5080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5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MECHANINIS: SRAIGTAS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52500" y="4762500"/>
            <a:ext cx="2984500" cy="368300"/>
          </a:xfrm>
          <a:prstGeom prst="rect">
            <a:avLst/>
          </a:prstGeom>
          <a:solidFill>
            <a:srgbClr val="F6B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9500" y="4762500"/>
            <a:ext cx="2857500" cy="368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F = Q·p / (2πR·η)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5270500"/>
            <a:ext cx="50165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33363B"/>
                </a:solidFill>
                <a:latin typeface="Calibri"/>
                <a:ea typeface="Calibri"/>
                <a:cs typeface="Calibri"/>
              </a:rPr>
              <a:t>Pvz.: Q = 5 kN, žingsnis p = 4 mm, rankena R = 0,15 m, η ≈ 0,35 → </a:t>
            </a:r>
            <a:r>
              <a:rPr sz="1300" i="0" b="1">
                <a:solidFill>
                  <a:srgbClr val="1A1C1F"/>
                </a:solidFill>
                <a:latin typeface="Calibri"/>
              </a:rPr>
              <a:t>F ≈ 60 N</a:t>
            </a:r>
            <a:r>
              <a:rPr sz="1300" i="0" b="0">
                <a:solidFill>
                  <a:srgbClr val="33363B"/>
                </a:solidFill>
                <a:latin typeface="Calibri"/>
              </a:rPr>
              <a:t>. Laimime jėgą, bet pralaimime kelią: daug apsisukimų.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13500" y="1905000"/>
            <a:ext cx="5080000" cy="38100"/>
          </a:xfrm>
          <a:prstGeom prst="rect">
            <a:avLst/>
          </a:prstGeom>
          <a:solidFill>
            <a:srgbClr val="1A1C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cfd11f9d18333a409f82567c10c3797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3500" y="2070100"/>
            <a:ext cx="5080000" cy="209549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13500" y="4292600"/>
            <a:ext cx="5080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5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HIDRAULINIS: PASKALIO DĖSNIS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13500" y="4762500"/>
            <a:ext cx="2984500" cy="368300"/>
          </a:xfrm>
          <a:prstGeom prst="rect">
            <a:avLst/>
          </a:prstGeom>
          <a:solidFill>
            <a:srgbClr val="F6B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40500" y="4762500"/>
            <a:ext cx="2857500" cy="368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F₂ = F₁·(D₂ / D₁)²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3500" y="5270500"/>
            <a:ext cx="50165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33363B"/>
                </a:solidFill>
                <a:latin typeface="Calibri"/>
                <a:ea typeface="Calibri"/>
                <a:cs typeface="Calibri"/>
              </a:rPr>
              <a:t>Pvz.: D₁ = 10 mm, D₂ = 40 mm → jėga ×16; su svirtimi 1:10 → </a:t>
            </a:r>
            <a:r>
              <a:rPr sz="1300" i="0" b="1">
                <a:solidFill>
                  <a:srgbClr val="1A1C1F"/>
                </a:solidFill>
                <a:latin typeface="Calibri"/>
              </a:rPr>
              <a:t>×160</a:t>
            </a:r>
            <a:r>
              <a:rPr sz="1300" i="0" b="0">
                <a:solidFill>
                  <a:srgbClr val="33363B"/>
                </a:solidFill>
                <a:latin typeface="Calibri"/>
              </a:rPr>
              <a:t>. 200 N rankos jėga → ~32 kN.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500" y="6489700"/>
            <a:ext cx="1054100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E6268"/>
                </a:solidFill>
                <a:latin typeface="Consolas"/>
                <a:ea typeface="Calibri"/>
                <a:cs typeface="Calibri"/>
              </a:rPr>
              <a:t>Šaltinis: Budynas &amp; Nisbett (2020), sraigtinių pavarų skyrius. Skaičiai – mūsų pavyzdiniai įverčiai.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c09e3cf2e5c1e07d3fb1208bf6b46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52500" y="215900"/>
            <a:ext cx="520700" cy="203200"/>
          </a:xfrm>
          <a:prstGeom prst="rect">
            <a:avLst/>
          </a:prstGeom>
          <a:solidFill>
            <a:srgbClr val="1A1C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215900"/>
            <a:ext cx="520700" cy="2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6B800"/>
                </a:solidFill>
                <a:latin typeface="Consolas"/>
                <a:ea typeface="Calibri"/>
                <a:cs typeface="Calibri"/>
              </a:rPr>
              <a:t>PBL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56000" y="241300"/>
            <a:ext cx="508000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 spc="95">
                <a:solidFill>
                  <a:srgbClr val="5E6268"/>
                </a:solidFill>
                <a:latin typeface="Consolas"/>
                <a:ea typeface="Calibri"/>
                <a:cs typeface="Calibri"/>
              </a:rPr>
              <a:t>ISTORINĖ RAIDA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75800" y="241300"/>
            <a:ext cx="190500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04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660400"/>
            <a:ext cx="10541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52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NUO SVERTO IKI ELEKTROS</a:t>
            </a:r>
          </a:p>
        </p:txBody>
      </p:sp>
      <p:sp>
        <p:nvSpPr>
          <p:cNvPr id="8" name="Rectangle 7"/>
          <p:cNvSpPr/>
          <p:nvPr/>
        </p:nvSpPr>
        <p:spPr>
          <a:xfrm>
            <a:off x="952500" y="1473200"/>
            <a:ext cx="1524000" cy="88900"/>
          </a:xfrm>
          <a:prstGeom prst="rect">
            <a:avLst/>
          </a:prstGeom>
          <a:solidFill>
            <a:srgbClr val="F6B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52500" y="3060700"/>
            <a:ext cx="10541000" cy="38100"/>
          </a:xfrm>
          <a:prstGeom prst="rect">
            <a:avLst/>
          </a:prstGeom>
          <a:solidFill>
            <a:srgbClr val="1A1C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2500" y="2540000"/>
            <a:ext cx="1905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III a. pr. Kr.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965200" y="2984500"/>
            <a:ext cx="177800" cy="177800"/>
          </a:xfrm>
          <a:prstGeom prst="rect">
            <a:avLst/>
          </a:prstGeom>
          <a:solidFill>
            <a:srgbClr val="F6B800"/>
          </a:solidFill>
          <a:ln w="31750">
            <a:solidFill>
              <a:srgbClr val="1A1C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500" y="3352800"/>
            <a:ext cx="17526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Svertas ir pleištas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848099"/>
            <a:ext cx="1752600" cy="14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3363B"/>
                </a:solidFill>
                <a:latin typeface="Calibri"/>
                <a:ea typeface="Calibri"/>
                <a:cs typeface="Calibri"/>
              </a:rPr>
              <a:t>Archimedas aprašo sverto principą – jėgos laimėjimo pagrindą.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500" y="2540000"/>
            <a:ext cx="1651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XV–XVI a.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2870200" y="2984500"/>
            <a:ext cx="177800" cy="177800"/>
          </a:xfrm>
          <a:prstGeom prst="rect">
            <a:avLst/>
          </a:prstGeom>
          <a:solidFill>
            <a:srgbClr val="F6B800"/>
          </a:solidFill>
          <a:ln w="31750">
            <a:solidFill>
              <a:srgbClr val="1A1C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57500" y="3352800"/>
            <a:ext cx="14986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Sraigtinis kėliklis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500" y="3848099"/>
            <a:ext cx="1498600" cy="14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3363B"/>
                </a:solidFill>
                <a:latin typeface="Calibri"/>
                <a:ea typeface="Calibri"/>
                <a:cs typeface="Calibri"/>
              </a:rPr>
              <a:t>Sraigtas su veržle; Leonardo da Vinci eskizuose – kėliklis su krumpliaratine pavara.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08500" y="2540000"/>
            <a:ext cx="1460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1795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4521200" y="2984500"/>
            <a:ext cx="177800" cy="177800"/>
          </a:xfrm>
          <a:prstGeom prst="rect">
            <a:avLst/>
          </a:prstGeom>
          <a:solidFill>
            <a:srgbClr val="F6B800"/>
          </a:solidFill>
          <a:ln w="31750">
            <a:solidFill>
              <a:srgbClr val="1A1C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500" y="3352800"/>
            <a:ext cx="13081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Hidraulinis presas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500" y="3848099"/>
            <a:ext cx="1308100" cy="14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3363B"/>
                </a:solidFill>
                <a:latin typeface="Calibri"/>
                <a:ea typeface="Calibri"/>
                <a:cs typeface="Calibri"/>
              </a:rPr>
              <a:t>J. Bramah patentuoja presą, taikantį Paskalio dėsnį.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69000" y="2540000"/>
            <a:ext cx="1651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1851</a:t>
            </a:r>
          </a:p>
        </p:txBody>
      </p:sp>
      <p:sp>
        <p:nvSpPr>
          <p:cNvPr id="23" name="Rectangle 22"/>
          <p:cNvSpPr/>
          <p:nvPr/>
        </p:nvSpPr>
        <p:spPr>
          <a:xfrm rot="2700000">
            <a:off x="5981700" y="2984500"/>
            <a:ext cx="177800" cy="177800"/>
          </a:xfrm>
          <a:prstGeom prst="rect">
            <a:avLst/>
          </a:prstGeom>
          <a:solidFill>
            <a:srgbClr val="F6B800"/>
          </a:solidFill>
          <a:ln w="31750">
            <a:solidFill>
              <a:srgbClr val="1A1C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69000" y="3352800"/>
            <a:ext cx="14986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Nešiojamas hidraulinis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69000" y="3848099"/>
            <a:ext cx="1498600" cy="14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3363B"/>
                </a:solidFill>
                <a:latin typeface="Calibri"/>
                <a:ea typeface="Calibri"/>
                <a:cs typeface="Calibri"/>
              </a:rPr>
              <a:t>R. Dudgeon (JAV) – kompaktiškas „butelinis“ domkratas.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0" y="2540000"/>
            <a:ext cx="1905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XX a.</a:t>
            </a:r>
          </a:p>
        </p:txBody>
      </p:sp>
      <p:sp>
        <p:nvSpPr>
          <p:cNvPr id="27" name="Rectangle 26"/>
          <p:cNvSpPr/>
          <p:nvPr/>
        </p:nvSpPr>
        <p:spPr>
          <a:xfrm rot="2700000">
            <a:off x="7632699" y="2984500"/>
            <a:ext cx="177800" cy="177800"/>
          </a:xfrm>
          <a:prstGeom prst="rect">
            <a:avLst/>
          </a:prstGeom>
          <a:solidFill>
            <a:srgbClr val="F6B800"/>
          </a:solidFill>
          <a:ln w="31750">
            <a:solidFill>
              <a:srgbClr val="1A1C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20000" y="3352800"/>
            <a:ext cx="17526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Automobilių era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20000" y="3848099"/>
            <a:ext cx="1752600" cy="14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3363B"/>
                </a:solidFill>
                <a:latin typeface="Calibri"/>
                <a:ea typeface="Calibri"/>
                <a:cs typeface="Calibri"/>
              </a:rPr>
              <a:t>1905 m. „Hi-Lift“ krumpliastiebinis; vėliau žirklinis tampa automobilio komplektu, servisuose – vežimėliniai.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25000" y="2540000"/>
            <a:ext cx="1968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XXI a.</a:t>
            </a:r>
          </a:p>
        </p:txBody>
      </p:sp>
      <p:sp>
        <p:nvSpPr>
          <p:cNvPr id="31" name="Rectangle 30"/>
          <p:cNvSpPr/>
          <p:nvPr/>
        </p:nvSpPr>
        <p:spPr>
          <a:xfrm rot="2700000">
            <a:off x="9537700" y="2984500"/>
            <a:ext cx="177800" cy="177800"/>
          </a:xfrm>
          <a:prstGeom prst="rect">
            <a:avLst/>
          </a:prstGeom>
          <a:solidFill>
            <a:srgbClr val="1A1C1F"/>
          </a:solidFill>
          <a:ln w="31750">
            <a:solidFill>
              <a:srgbClr val="1A1C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25000" y="3352800"/>
            <a:ext cx="18161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Elektra ir pneumatika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25000" y="3848099"/>
            <a:ext cx="1816100" cy="14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3363B"/>
                </a:solidFill>
                <a:latin typeface="Calibri"/>
                <a:ea typeface="Calibri"/>
                <a:cs typeface="Calibri"/>
              </a:rPr>
              <a:t>12 V elektriniai, elektrohidrauliniai, pneumatinės pagalvės.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52500" y="5715000"/>
            <a:ext cx="2647950" cy="381000"/>
          </a:xfrm>
          <a:prstGeom prst="rect">
            <a:avLst/>
          </a:prstGeom>
          <a:solidFill>
            <a:srgbClr val="F4F2EC"/>
          </a:solidFill>
          <a:ln w="15875">
            <a:solidFill>
              <a:srgbClr val="1A1C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2200" y="5715000"/>
            <a:ext cx="2476500" cy="38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 spc="88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JĖGOS LAIMĖJIMAS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87750" y="5715000"/>
            <a:ext cx="2647950" cy="381000"/>
          </a:xfrm>
          <a:prstGeom prst="rect">
            <a:avLst/>
          </a:prstGeom>
          <a:solidFill>
            <a:srgbClr val="F4F2EC"/>
          </a:solidFill>
          <a:ln w="15875">
            <a:solidFill>
              <a:srgbClr val="1A1C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727450" y="5715000"/>
            <a:ext cx="2476500" cy="38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 spc="88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DIDESNĖ GALIA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23000" y="5715000"/>
            <a:ext cx="2647950" cy="381000"/>
          </a:xfrm>
          <a:prstGeom prst="rect">
            <a:avLst/>
          </a:prstGeom>
          <a:solidFill>
            <a:srgbClr val="F4F2EC"/>
          </a:solidFill>
          <a:ln w="15875">
            <a:solidFill>
              <a:srgbClr val="1A1C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62700" y="5715000"/>
            <a:ext cx="2476500" cy="38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 spc="88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KOMPAKTIŠKUMAS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858250" y="5715000"/>
            <a:ext cx="2647950" cy="381000"/>
          </a:xfrm>
          <a:prstGeom prst="rect">
            <a:avLst/>
          </a:prstGeom>
          <a:solidFill>
            <a:srgbClr val="F6B800"/>
          </a:solidFill>
          <a:ln w="15875">
            <a:solidFill>
              <a:srgbClr val="1A1C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97950" y="5715000"/>
            <a:ext cx="2476500" cy="38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 spc="88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SAUGA IR ERGONOMIKA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2500" y="6489700"/>
            <a:ext cx="1054100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E6268"/>
                </a:solidFill>
                <a:latin typeface="Consolas"/>
                <a:ea typeface="Calibri"/>
                <a:cs typeface="Calibri"/>
              </a:rPr>
              <a:t>Šaltiniai: Encyclopaedia Britannica (n.d.); Hi-Lift Jack Company (n.d.). Datas patikslinti rašto darbe.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c09e3cf2e5c1e07d3fb1208bf6b46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52500" y="215900"/>
            <a:ext cx="520700" cy="203200"/>
          </a:xfrm>
          <a:prstGeom prst="rect">
            <a:avLst/>
          </a:prstGeom>
          <a:solidFill>
            <a:srgbClr val="1A1C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215900"/>
            <a:ext cx="520700" cy="2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6B800"/>
                </a:solidFill>
                <a:latin typeface="Consolas"/>
                <a:ea typeface="Calibri"/>
                <a:cs typeface="Calibri"/>
              </a:rPr>
              <a:t>PBL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56000" y="241300"/>
            <a:ext cx="508000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 spc="95">
                <a:solidFill>
                  <a:srgbClr val="5E6268"/>
                </a:solidFill>
                <a:latin typeface="Consolas"/>
                <a:ea typeface="Calibri"/>
                <a:cs typeface="Calibri"/>
              </a:rPr>
              <a:t>PRINCIPINĖS SCHEMOS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75800" y="241300"/>
            <a:ext cx="190500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05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660400"/>
            <a:ext cx="10541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52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PENKI DOMKRATŲ TIPAI</a:t>
            </a:r>
          </a:p>
        </p:txBody>
      </p:sp>
      <p:sp>
        <p:nvSpPr>
          <p:cNvPr id="8" name="Rectangle 7"/>
          <p:cNvSpPr/>
          <p:nvPr/>
        </p:nvSpPr>
        <p:spPr>
          <a:xfrm>
            <a:off x="952500" y="1473200"/>
            <a:ext cx="1524000" cy="88900"/>
          </a:xfrm>
          <a:prstGeom prst="rect">
            <a:avLst/>
          </a:prstGeom>
          <a:solidFill>
            <a:srgbClr val="F6B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52500" y="1879599"/>
            <a:ext cx="1993899" cy="4381500"/>
          </a:xfrm>
          <a:prstGeom prst="rect">
            <a:avLst/>
          </a:prstGeom>
          <a:solidFill>
            <a:srgbClr val="F4F2EC"/>
          </a:solidFill>
          <a:ln w="19050">
            <a:solidFill>
              <a:srgbClr val="1A1C1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cabfc424dcc7df95870ba9682d6270a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400" y="1981199"/>
            <a:ext cx="1816100" cy="2159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79500" y="4216400"/>
            <a:ext cx="1739900" cy="139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85">
                <a:solidFill>
                  <a:srgbClr val="5E6268"/>
                </a:solidFill>
                <a:latin typeface="Consolas"/>
                <a:ea typeface="Calibri"/>
                <a:cs typeface="Calibri"/>
              </a:rPr>
              <a:t>A · MECHANINIS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9500" y="4406900"/>
            <a:ext cx="17399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2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SRAIGTINIS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9500" y="5016500"/>
            <a:ext cx="1739900" cy="825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33363B"/>
                </a:solidFill>
                <a:latin typeface="Calibri"/>
                <a:ea typeface="Calibri"/>
                <a:cs typeface="Calibri"/>
              </a:rPr>
              <a:t>Sukama rankena suka sraigtą, kuris išsuka stūmoklį į viršų.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9500" y="5905500"/>
            <a:ext cx="17399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Savistabdis, paprastas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86100" y="1879599"/>
            <a:ext cx="1993899" cy="4381500"/>
          </a:xfrm>
          <a:prstGeom prst="rect">
            <a:avLst/>
          </a:prstGeom>
          <a:solidFill>
            <a:srgbClr val="F4F2EC"/>
          </a:solidFill>
          <a:ln w="19050">
            <a:solidFill>
              <a:srgbClr val="1A1C1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d313181c960c51b2557dd851aaaa678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1981199"/>
            <a:ext cx="1816100" cy="2159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213100" y="4216400"/>
            <a:ext cx="1739900" cy="139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85">
                <a:solidFill>
                  <a:srgbClr val="5E6268"/>
                </a:solidFill>
                <a:latin typeface="Consolas"/>
                <a:ea typeface="Calibri"/>
                <a:cs typeface="Calibri"/>
              </a:rPr>
              <a:t>B · MECHANINIS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13100" y="4406900"/>
            <a:ext cx="17399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2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KRUMPLIA-</a:t>
            </a:r>
          </a:p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2200" i="0" b="0">
                <a:solidFill>
                  <a:srgbClr val="1A1C1F"/>
                </a:solidFill>
                <a:latin typeface="Bahnschrift SemiBold Condensed"/>
              </a:rPr>
              <a:t>STIEBINIS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13100" y="5308600"/>
            <a:ext cx="1739900" cy="825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33363B"/>
                </a:solidFill>
                <a:latin typeface="Calibri"/>
                <a:ea typeface="Calibri"/>
                <a:cs typeface="Calibri"/>
              </a:rPr>
              <a:t>Svirtis su skląsčiu kopia krumpliastiebiu.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13100" y="5905500"/>
            <a:ext cx="17399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Didelis aukštis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19700" y="1879599"/>
            <a:ext cx="1993899" cy="4381500"/>
          </a:xfrm>
          <a:prstGeom prst="rect">
            <a:avLst/>
          </a:prstGeom>
          <a:solidFill>
            <a:srgbClr val="F6B800"/>
          </a:solidFill>
          <a:ln w="19050">
            <a:solidFill>
              <a:srgbClr val="1A1C1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f46e51990c7152ca35f7986b71068e6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8600" y="1981199"/>
            <a:ext cx="1816100" cy="2159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346700" y="4216400"/>
            <a:ext cx="1739900" cy="139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85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C · MECHANINIS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6700" y="4406900"/>
            <a:ext cx="17399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2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ŽIRKLINIS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6700" y="5016500"/>
            <a:ext cx="1739900" cy="825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33363B"/>
                </a:solidFill>
                <a:latin typeface="Calibri"/>
                <a:ea typeface="Calibri"/>
                <a:cs typeface="Calibri"/>
              </a:rPr>
              <a:t>Horizontalus sraigtas suartina šonines ašis – rombas kyla.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6700" y="5905500"/>
            <a:ext cx="17399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Kompaktiškas, pigus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53299" y="1879599"/>
            <a:ext cx="1993899" cy="4381500"/>
          </a:xfrm>
          <a:prstGeom prst="rect">
            <a:avLst/>
          </a:prstGeom>
          <a:solidFill>
            <a:srgbClr val="F4F2EC"/>
          </a:solidFill>
          <a:ln w="19050">
            <a:solidFill>
              <a:srgbClr val="1A1C1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235451641c5ffd5499d18f9367e289a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2200" y="1981199"/>
            <a:ext cx="1816100" cy="2159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480300" y="4216400"/>
            <a:ext cx="1739900" cy="139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85">
                <a:solidFill>
                  <a:srgbClr val="5E6268"/>
                </a:solidFill>
                <a:latin typeface="Consolas"/>
                <a:ea typeface="Calibri"/>
                <a:cs typeface="Calibri"/>
              </a:rPr>
              <a:t>D · HIDRAULINIS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80300" y="4406900"/>
            <a:ext cx="17399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2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BUTELINIS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80300" y="5016500"/>
            <a:ext cx="1739900" cy="825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33363B"/>
                </a:solidFill>
                <a:latin typeface="Calibri"/>
                <a:ea typeface="Calibri"/>
                <a:cs typeface="Calibri"/>
              </a:rPr>
              <a:t>Maža pompa spaudžia alyvą po dideliu stūmokliu.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80300" y="5905500"/>
            <a:ext cx="17399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Didelė jėga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86900" y="1879599"/>
            <a:ext cx="1993899" cy="4381500"/>
          </a:xfrm>
          <a:prstGeom prst="rect">
            <a:avLst/>
          </a:prstGeom>
          <a:solidFill>
            <a:srgbClr val="F4F2EC"/>
          </a:solidFill>
          <a:ln w="19050">
            <a:solidFill>
              <a:srgbClr val="1A1C1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e26b87192128a0c8eaa1ae90df0f2ca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75800" y="1981199"/>
            <a:ext cx="1816100" cy="21590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613900" y="4216400"/>
            <a:ext cx="1739900" cy="139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85">
                <a:solidFill>
                  <a:srgbClr val="5E6268"/>
                </a:solidFill>
                <a:latin typeface="Consolas"/>
                <a:ea typeface="Calibri"/>
                <a:cs typeface="Calibri"/>
              </a:rPr>
              <a:t>E · HIDRAULINIS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13900" y="4406900"/>
            <a:ext cx="17399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2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VEŽIMĖLINIS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13900" y="5016500"/>
            <a:ext cx="1739900" cy="825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33363B"/>
                </a:solidFill>
                <a:latin typeface="Calibri"/>
                <a:ea typeface="Calibri"/>
                <a:cs typeface="Calibri"/>
              </a:rPr>
              <a:t>Hidrocilindras kelia ilgą svirtį; važiuoja ant ratukų.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13900" y="5905500"/>
            <a:ext cx="17399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Greitas, stabilus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c09e3cf2e5c1e07d3fb1208bf6b46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52500" y="215900"/>
            <a:ext cx="520700" cy="203200"/>
          </a:xfrm>
          <a:prstGeom prst="rect">
            <a:avLst/>
          </a:prstGeom>
          <a:solidFill>
            <a:srgbClr val="1A1C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215900"/>
            <a:ext cx="520700" cy="2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6B800"/>
                </a:solidFill>
                <a:latin typeface="Consolas"/>
                <a:ea typeface="Calibri"/>
                <a:cs typeface="Calibri"/>
              </a:rPr>
              <a:t>PBL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56000" y="241300"/>
            <a:ext cx="508000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 spc="95">
                <a:solidFill>
                  <a:srgbClr val="5E6268"/>
                </a:solidFill>
                <a:latin typeface="Consolas"/>
                <a:ea typeface="Calibri"/>
                <a:cs typeface="Calibri"/>
              </a:rPr>
              <a:t>PALYGINIMAS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75800" y="241300"/>
            <a:ext cx="190500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06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660400"/>
            <a:ext cx="10541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52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KURIS KĄ DARO GERIAUSIAI</a:t>
            </a:r>
          </a:p>
        </p:txBody>
      </p:sp>
      <p:sp>
        <p:nvSpPr>
          <p:cNvPr id="8" name="Rectangle 7"/>
          <p:cNvSpPr/>
          <p:nvPr/>
        </p:nvSpPr>
        <p:spPr>
          <a:xfrm>
            <a:off x="952500" y="1473200"/>
            <a:ext cx="1524000" cy="88900"/>
          </a:xfrm>
          <a:prstGeom prst="rect">
            <a:avLst/>
          </a:prstGeom>
          <a:solidFill>
            <a:srgbClr val="F6B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52500" y="1879599"/>
            <a:ext cx="10541000" cy="342900"/>
          </a:xfrm>
          <a:prstGeom prst="rect">
            <a:avLst/>
          </a:prstGeom>
          <a:solidFill>
            <a:srgbClr val="1A1C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6800" y="1879599"/>
            <a:ext cx="19431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 spc="72">
                <a:solidFill>
                  <a:srgbClr val="ECEAE4"/>
                </a:solidFill>
                <a:latin typeface="Consolas"/>
                <a:ea typeface="Calibri"/>
                <a:cs typeface="Calibri"/>
              </a:rPr>
              <a:t>TIPAS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62300" y="1879599"/>
            <a:ext cx="11176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 spc="72">
                <a:solidFill>
                  <a:srgbClr val="ECEAE4"/>
                </a:solidFill>
                <a:latin typeface="Consolas"/>
                <a:ea typeface="Calibri"/>
                <a:cs typeface="Calibri"/>
              </a:rPr>
              <a:t>KELIAMOJI GALIA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2300" y="1879599"/>
            <a:ext cx="12446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 spc="72">
                <a:solidFill>
                  <a:srgbClr val="ECEAE4"/>
                </a:solidFill>
                <a:latin typeface="Consolas"/>
                <a:ea typeface="Calibri"/>
                <a:cs typeface="Calibri"/>
              </a:rPr>
              <a:t>KĖLIMO AUKŠTIS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29300" y="1879599"/>
            <a:ext cx="990599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 spc="72">
                <a:solidFill>
                  <a:srgbClr val="ECEAE4"/>
                </a:solidFill>
                <a:latin typeface="Consolas"/>
                <a:ea typeface="Calibri"/>
                <a:cs typeface="Calibri"/>
              </a:rPr>
              <a:t>MASĖ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72300" y="1879599"/>
            <a:ext cx="21336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 spc="72">
                <a:solidFill>
                  <a:srgbClr val="ECEAE4"/>
                </a:solidFill>
                <a:latin typeface="Consolas"/>
                <a:ea typeface="Calibri"/>
                <a:cs typeface="Calibri"/>
              </a:rPr>
              <a:t>STIPRYBĖ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58300" y="1879599"/>
            <a:ext cx="21971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 spc="72">
                <a:solidFill>
                  <a:srgbClr val="ECEAE4"/>
                </a:solidFill>
                <a:latin typeface="Consolas"/>
                <a:ea typeface="Calibri"/>
                <a:cs typeface="Calibri"/>
              </a:rPr>
              <a:t>SILPNYBĖ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6800" y="2222500"/>
            <a:ext cx="19431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SRAIGTINIS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62300" y="2222500"/>
            <a:ext cx="10922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3363B"/>
                </a:solidFill>
                <a:latin typeface="Consolas"/>
                <a:ea typeface="Calibri"/>
                <a:cs typeface="Calibri"/>
              </a:rPr>
              <a:t>2–20 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2300" y="2222500"/>
            <a:ext cx="12192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3363B"/>
                </a:solidFill>
                <a:latin typeface="Consolas"/>
                <a:ea typeface="Calibri"/>
                <a:cs typeface="Calibri"/>
              </a:rPr>
              <a:t>~100–300 mm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29300" y="2222500"/>
            <a:ext cx="9652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3363B"/>
                </a:solidFill>
                <a:latin typeface="Consolas"/>
                <a:ea typeface="Calibri"/>
                <a:cs typeface="Calibri"/>
              </a:rPr>
              <a:t>3–15 kg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72300" y="2222500"/>
            <a:ext cx="21082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33363B"/>
                </a:solidFill>
                <a:latin typeface="Calibri"/>
                <a:ea typeface="Calibri"/>
                <a:cs typeface="Calibri"/>
              </a:rPr>
              <a:t>Savistabdis, patikimas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8300" y="2222500"/>
            <a:ext cx="21717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33363B"/>
                </a:solidFill>
                <a:latin typeface="Calibri"/>
                <a:ea typeface="Calibri"/>
                <a:cs typeface="Calibri"/>
              </a:rPr>
              <a:t>Lėtas, mažas aukštis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2500" y="2924175"/>
            <a:ext cx="10541000" cy="9525"/>
          </a:xfrm>
          <a:prstGeom prst="rect">
            <a:avLst/>
          </a:prstGeom>
          <a:solidFill>
            <a:srgbClr val="CFCD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6800" y="2933700"/>
            <a:ext cx="19431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KRUMPLIASTIEBINIS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62300" y="2933700"/>
            <a:ext cx="10922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3363B"/>
                </a:solidFill>
                <a:latin typeface="Consolas"/>
                <a:ea typeface="Calibri"/>
                <a:cs typeface="Calibri"/>
              </a:rPr>
              <a:t>~1,5–2 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2300" y="2933700"/>
            <a:ext cx="12192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3363B"/>
                </a:solidFill>
                <a:latin typeface="Consolas"/>
                <a:ea typeface="Calibri"/>
                <a:cs typeface="Calibri"/>
              </a:rPr>
              <a:t>iki ~1 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29300" y="2933700"/>
            <a:ext cx="9652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3363B"/>
                </a:solidFill>
                <a:latin typeface="Consolas"/>
                <a:ea typeface="Calibri"/>
                <a:cs typeface="Calibri"/>
              </a:rPr>
              <a:t>~10–15 kg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2300" y="2933700"/>
            <a:ext cx="21082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33363B"/>
                </a:solidFill>
                <a:latin typeface="Calibri"/>
                <a:ea typeface="Calibri"/>
                <a:cs typeface="Calibri"/>
              </a:rPr>
              <a:t>Labai didelis aukštis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58300" y="2933700"/>
            <a:ext cx="21717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33363B"/>
                </a:solidFill>
                <a:latin typeface="Calibri"/>
                <a:ea typeface="Calibri"/>
                <a:cs typeface="Calibri"/>
              </a:rPr>
              <a:t>Nestabilus, rankenos atatranka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2500" y="3635375"/>
            <a:ext cx="10541000" cy="9525"/>
          </a:xfrm>
          <a:prstGeom prst="rect">
            <a:avLst/>
          </a:prstGeom>
          <a:solidFill>
            <a:srgbClr val="CFCD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2500" y="3644900"/>
            <a:ext cx="10541000" cy="711200"/>
          </a:xfrm>
          <a:prstGeom prst="rect">
            <a:avLst/>
          </a:prstGeom>
          <a:solidFill>
            <a:srgbClr val="F1D9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2500" y="3644900"/>
            <a:ext cx="50800" cy="711200"/>
          </a:xfrm>
          <a:prstGeom prst="rect">
            <a:avLst/>
          </a:prstGeom>
          <a:solidFill>
            <a:srgbClr val="F6B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66800" y="3644900"/>
            <a:ext cx="19431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ŽIRKLINIS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62300" y="3644900"/>
            <a:ext cx="10922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3363B"/>
                </a:solidFill>
                <a:latin typeface="Consolas"/>
                <a:ea typeface="Calibri"/>
                <a:cs typeface="Calibri"/>
              </a:rPr>
              <a:t>0,8–2 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32300" y="3644900"/>
            <a:ext cx="12192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3363B"/>
                </a:solidFill>
                <a:latin typeface="Consolas"/>
                <a:ea typeface="Calibri"/>
                <a:cs typeface="Calibri"/>
              </a:rPr>
              <a:t>~100–400 mm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29300" y="3644900"/>
            <a:ext cx="9652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3363B"/>
                </a:solidFill>
                <a:latin typeface="Consolas"/>
                <a:ea typeface="Calibri"/>
                <a:cs typeface="Calibri"/>
              </a:rPr>
              <a:t>2–5 kg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72300" y="3644900"/>
            <a:ext cx="21082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33363B"/>
                </a:solidFill>
                <a:latin typeface="Calibri"/>
                <a:ea typeface="Calibri"/>
                <a:cs typeface="Calibri"/>
              </a:rPr>
              <a:t>Kompaktiškas, pigus, savistabdis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58300" y="3644900"/>
            <a:ext cx="21717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33363B"/>
                </a:solidFill>
                <a:latin typeface="Calibri"/>
                <a:ea typeface="Calibri"/>
                <a:cs typeface="Calibri"/>
              </a:rPr>
              <a:t>Lėtas, sunku sukti, siauras pagrindas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52500" y="4346575"/>
            <a:ext cx="10541000" cy="9525"/>
          </a:xfrm>
          <a:prstGeom prst="rect">
            <a:avLst/>
          </a:prstGeom>
          <a:solidFill>
            <a:srgbClr val="CFCD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66800" y="4356100"/>
            <a:ext cx="19431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BUTELINIS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62300" y="4356100"/>
            <a:ext cx="10922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3363B"/>
                </a:solidFill>
                <a:latin typeface="Consolas"/>
                <a:ea typeface="Calibri"/>
                <a:cs typeface="Calibri"/>
              </a:rPr>
              <a:t>2–50 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32300" y="4356100"/>
            <a:ext cx="12192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3363B"/>
                </a:solidFill>
                <a:latin typeface="Consolas"/>
                <a:ea typeface="Calibri"/>
                <a:cs typeface="Calibri"/>
              </a:rPr>
              <a:t>~150–450 mm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29300" y="4356100"/>
            <a:ext cx="9652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3363B"/>
                </a:solidFill>
                <a:latin typeface="Consolas"/>
                <a:ea typeface="Calibri"/>
                <a:cs typeface="Calibri"/>
              </a:rPr>
              <a:t>3–15 kg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72300" y="4356100"/>
            <a:ext cx="21082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33363B"/>
                </a:solidFill>
                <a:latin typeface="Calibri"/>
                <a:ea typeface="Calibri"/>
                <a:cs typeface="Calibri"/>
              </a:rPr>
              <a:t>Didžiausia jėga mažame tūryje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58300" y="4356100"/>
            <a:ext cx="21717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33363B"/>
                </a:solidFill>
                <a:latin typeface="Calibri"/>
                <a:ea typeface="Calibri"/>
                <a:cs typeface="Calibri"/>
              </a:rPr>
              <a:t>Aukštas pradinis aukštis, nutekėjimai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52500" y="5057775"/>
            <a:ext cx="10541000" cy="9525"/>
          </a:xfrm>
          <a:prstGeom prst="rect">
            <a:avLst/>
          </a:prstGeom>
          <a:solidFill>
            <a:srgbClr val="CFCD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66800" y="5067300"/>
            <a:ext cx="19431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VEŽIMĖLINIS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62300" y="5067300"/>
            <a:ext cx="10922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3363B"/>
                </a:solidFill>
                <a:latin typeface="Consolas"/>
                <a:ea typeface="Calibri"/>
                <a:cs typeface="Calibri"/>
              </a:rPr>
              <a:t>2–3,5 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32300" y="5067300"/>
            <a:ext cx="12192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3363B"/>
                </a:solidFill>
                <a:latin typeface="Consolas"/>
                <a:ea typeface="Calibri"/>
                <a:cs typeface="Calibri"/>
              </a:rPr>
              <a:t>~80–500 mm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29300" y="5067300"/>
            <a:ext cx="9652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3363B"/>
                </a:solidFill>
                <a:latin typeface="Consolas"/>
                <a:ea typeface="Calibri"/>
                <a:cs typeface="Calibri"/>
              </a:rPr>
              <a:t>15–40 kg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72300" y="5067300"/>
            <a:ext cx="21082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33363B"/>
                </a:solidFill>
                <a:latin typeface="Calibri"/>
                <a:ea typeface="Calibri"/>
                <a:cs typeface="Calibri"/>
              </a:rPr>
              <a:t>Greitas, stabilus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58300" y="5067300"/>
            <a:ext cx="21717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33363B"/>
                </a:solidFill>
                <a:latin typeface="Calibri"/>
                <a:ea typeface="Calibri"/>
                <a:cs typeface="Calibri"/>
              </a:rPr>
              <a:t>Sunkus, nenešiojamas, brangus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52500" y="5768975"/>
            <a:ext cx="10541000" cy="9525"/>
          </a:xfrm>
          <a:prstGeom prst="rect">
            <a:avLst/>
          </a:prstGeom>
          <a:solidFill>
            <a:srgbClr val="CFCD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2500" y="6489700"/>
            <a:ext cx="1054100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E6268"/>
                </a:solidFill>
                <a:latin typeface="Consolas"/>
                <a:ea typeface="Calibri"/>
                <a:cs typeface="Calibri"/>
              </a:rPr>
              <a:t>Tipinės rinkoje parduodamų gaminių vertės (apytikslės, iš gamintojų katalogų). Tikslius skaičius ir šaltinius pateikti rašto darbe.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c09e3cf2e5c1e07d3fb1208bf6b46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52500" y="215900"/>
            <a:ext cx="520700" cy="203200"/>
          </a:xfrm>
          <a:prstGeom prst="rect">
            <a:avLst/>
          </a:prstGeom>
          <a:solidFill>
            <a:srgbClr val="1A1C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215900"/>
            <a:ext cx="520700" cy="2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6B800"/>
                </a:solidFill>
                <a:latin typeface="Consolas"/>
                <a:ea typeface="Calibri"/>
                <a:cs typeface="Calibri"/>
              </a:rPr>
              <a:t>PBL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56000" y="241300"/>
            <a:ext cx="508000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 spc="95">
                <a:solidFill>
                  <a:srgbClr val="5E6268"/>
                </a:solidFill>
                <a:latin typeface="Consolas"/>
                <a:ea typeface="Calibri"/>
                <a:cs typeface="Calibri"/>
              </a:rPr>
              <a:t>KRITINIS VERTINIMAS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75800" y="241300"/>
            <a:ext cx="190500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07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660400"/>
            <a:ext cx="10541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52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KAS PASITEISINO, O KAS NE</a:t>
            </a:r>
          </a:p>
        </p:txBody>
      </p:sp>
      <p:sp>
        <p:nvSpPr>
          <p:cNvPr id="8" name="Rectangle 7"/>
          <p:cNvSpPr/>
          <p:nvPr/>
        </p:nvSpPr>
        <p:spPr>
          <a:xfrm>
            <a:off x="952500" y="1473200"/>
            <a:ext cx="1524000" cy="88900"/>
          </a:xfrm>
          <a:prstGeom prst="rect">
            <a:avLst/>
          </a:prstGeom>
          <a:solidFill>
            <a:srgbClr val="F6B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52500" y="1879599"/>
            <a:ext cx="5270500" cy="4190999"/>
          </a:xfrm>
          <a:prstGeom prst="rect">
            <a:avLst/>
          </a:prstGeom>
          <a:solidFill>
            <a:srgbClr val="F4F2EC"/>
          </a:solidFill>
          <a:ln w="25400">
            <a:solidFill>
              <a:srgbClr val="1A1C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57300" y="2159000"/>
            <a:ext cx="381000" cy="381000"/>
          </a:xfrm>
          <a:prstGeom prst="rect">
            <a:avLst/>
          </a:prstGeom>
          <a:solidFill>
            <a:srgbClr val="F6B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57300" y="2159000"/>
            <a:ext cx="381000" cy="38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65300" y="2146300"/>
            <a:ext cx="38100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7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PASITEISINO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57300" y="2882900"/>
            <a:ext cx="76200" cy="76200"/>
          </a:xfrm>
          <a:prstGeom prst="rect">
            <a:avLst/>
          </a:prstGeom>
          <a:solidFill>
            <a:srgbClr val="1A1C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5100" y="2794000"/>
            <a:ext cx="45720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Savistabdis trapecinis sriegis</a:t>
            </a:r>
            <a:r>
              <a:rPr sz="1400" i="0" b="0">
                <a:solidFill>
                  <a:srgbClr val="33363B"/>
                </a:solidFill>
                <a:latin typeface="Calibri"/>
              </a:rPr>
              <a:t> – krovinys nenukrenta net paleidus rankeną.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57300" y="3657600"/>
            <a:ext cx="76200" cy="76200"/>
          </a:xfrm>
          <a:prstGeom prst="rect">
            <a:avLst/>
          </a:prstGeom>
          <a:solidFill>
            <a:srgbClr val="1A1C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5100" y="3568700"/>
            <a:ext cx="45720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Hidraulika</a:t>
            </a:r>
            <a:r>
              <a:rPr sz="1400" i="0" b="0">
                <a:solidFill>
                  <a:srgbClr val="33363B"/>
                </a:solidFill>
                <a:latin typeface="Calibri"/>
              </a:rPr>
              <a:t> – didžiausia jėga mažiausiame tūryje.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57300" y="4432300"/>
            <a:ext cx="76200" cy="76200"/>
          </a:xfrm>
          <a:prstGeom prst="rect">
            <a:avLst/>
          </a:prstGeom>
          <a:solidFill>
            <a:srgbClr val="1A1C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5100" y="4343400"/>
            <a:ext cx="45720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Žirklinė geometrija</a:t>
            </a:r>
            <a:r>
              <a:rPr sz="1400" i="0" b="0">
                <a:solidFill>
                  <a:srgbClr val="33363B"/>
                </a:solidFill>
                <a:latin typeface="Calibri"/>
              </a:rPr>
              <a:t> – telpa po žemu automobiliu ir bagažinėje.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57300" y="5207000"/>
            <a:ext cx="76200" cy="76200"/>
          </a:xfrm>
          <a:prstGeom prst="rect">
            <a:avLst/>
          </a:prstGeom>
          <a:solidFill>
            <a:srgbClr val="1A1C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35100" y="5118100"/>
            <a:ext cx="45720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Platus pagrindas su ratukais</a:t>
            </a:r>
            <a:r>
              <a:rPr sz="1400" i="0" b="0">
                <a:solidFill>
                  <a:srgbClr val="33363B"/>
                </a:solidFill>
                <a:latin typeface="Calibri"/>
              </a:rPr>
              <a:t> (vežimėlinis) – stabilumas servise.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23000" y="1879599"/>
            <a:ext cx="5270500" cy="4190999"/>
          </a:xfrm>
          <a:prstGeom prst="rect">
            <a:avLst/>
          </a:prstGeom>
          <a:solidFill>
            <a:srgbClr val="1A1C1F"/>
          </a:solidFill>
          <a:ln w="25400">
            <a:solidFill>
              <a:srgbClr val="1A1C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27800" y="2159000"/>
            <a:ext cx="381000" cy="381000"/>
          </a:xfrm>
          <a:prstGeom prst="rect">
            <a:avLst/>
          </a:prstGeom>
          <a:solidFill>
            <a:srgbClr val="F6B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7800" y="2159000"/>
            <a:ext cx="381000" cy="38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35800" y="2146300"/>
            <a:ext cx="38100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700" b="0" i="0">
                <a:solidFill>
                  <a:srgbClr val="ECEAE4"/>
                </a:solidFill>
                <a:latin typeface="Bahnschrift SemiBold Condensed"/>
                <a:ea typeface="Calibri"/>
                <a:cs typeface="Calibri"/>
              </a:rPr>
              <a:t>NEPASITEISINO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27800" y="2882900"/>
            <a:ext cx="76200" cy="76200"/>
          </a:xfrm>
          <a:prstGeom prst="rect">
            <a:avLst/>
          </a:prstGeom>
          <a:solidFill>
            <a:srgbClr val="F6B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05600" y="2794000"/>
            <a:ext cx="45720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ECEAE4"/>
                </a:solidFill>
                <a:latin typeface="Calibri"/>
                <a:ea typeface="Calibri"/>
                <a:cs typeface="Calibri"/>
              </a:rPr>
              <a:t>Rankenos atatranka</a:t>
            </a:r>
            <a:r>
              <a:rPr sz="1400" i="0" b="0">
                <a:solidFill>
                  <a:srgbClr val="D9DBD6"/>
                </a:solidFill>
                <a:latin typeface="Calibri"/>
              </a:rPr>
              <a:t> krumpliastiebiniuose – dažna traumų priežastis.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27800" y="3657600"/>
            <a:ext cx="76200" cy="76200"/>
          </a:xfrm>
          <a:prstGeom prst="rect">
            <a:avLst/>
          </a:prstGeom>
          <a:solidFill>
            <a:srgbClr val="F6B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05600" y="3568700"/>
            <a:ext cx="45720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ECEAE4"/>
                </a:solidFill>
                <a:latin typeface="Calibri"/>
                <a:ea typeface="Calibri"/>
                <a:cs typeface="Calibri"/>
              </a:rPr>
              <a:t>Siauras plonos skardos pagrindas</a:t>
            </a:r>
            <a:r>
              <a:rPr sz="1400" i="0" b="0">
                <a:solidFill>
                  <a:srgbClr val="D9DBD6"/>
                </a:solidFill>
                <a:latin typeface="Calibri"/>
              </a:rPr>
              <a:t> – slysta, smenga į gruntą ar karštą asfaltą.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27800" y="4432300"/>
            <a:ext cx="76200" cy="76200"/>
          </a:xfrm>
          <a:prstGeom prst="rect">
            <a:avLst/>
          </a:prstGeom>
          <a:solidFill>
            <a:srgbClr val="F6B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05600" y="4343400"/>
            <a:ext cx="45720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ECEAE4"/>
                </a:solidFill>
                <a:latin typeface="Calibri"/>
                <a:ea typeface="Calibri"/>
                <a:cs typeface="Calibri"/>
              </a:rPr>
              <a:t>Hidraulika be perkrovos vožtuvo</a:t>
            </a:r>
            <a:r>
              <a:rPr sz="1400" i="0" b="0">
                <a:solidFill>
                  <a:srgbClr val="D9DBD6"/>
                </a:solidFill>
                <a:latin typeface="Calibri"/>
              </a:rPr>
              <a:t> – trūkus sandarikliui krovinys gali nusileisti.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27800" y="5207000"/>
            <a:ext cx="76200" cy="76200"/>
          </a:xfrm>
          <a:prstGeom prst="rect">
            <a:avLst/>
          </a:prstGeom>
          <a:solidFill>
            <a:srgbClr val="F6B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05600" y="5118100"/>
            <a:ext cx="45720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ECEAE4"/>
                </a:solidFill>
                <a:latin typeface="Calibri"/>
                <a:ea typeface="Calibri"/>
                <a:cs typeface="Calibri"/>
              </a:rPr>
              <a:t>Ilgas rankinis sukimas</a:t>
            </a:r>
            <a:r>
              <a:rPr sz="1400" i="0" b="0">
                <a:solidFill>
                  <a:srgbClr val="D9DBD6"/>
                </a:solidFill>
                <a:latin typeface="Calibri"/>
              </a:rPr>
              <a:t> – žmogus ilgai būna šalia važiuojamosios dalies.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c09e3cf2e5c1e07d3fb1208bf6b46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52500" y="215900"/>
            <a:ext cx="520700" cy="203200"/>
          </a:xfrm>
          <a:prstGeom prst="rect">
            <a:avLst/>
          </a:prstGeom>
          <a:solidFill>
            <a:srgbClr val="1A1C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215900"/>
            <a:ext cx="520700" cy="2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6B800"/>
                </a:solidFill>
                <a:latin typeface="Consolas"/>
                <a:ea typeface="Calibri"/>
                <a:cs typeface="Calibri"/>
              </a:rPr>
              <a:t>PBL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56000" y="241300"/>
            <a:ext cx="508000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 spc="95">
                <a:solidFill>
                  <a:srgbClr val="5E6268"/>
                </a:solidFill>
                <a:latin typeface="Consolas"/>
                <a:ea typeface="Calibri"/>
                <a:cs typeface="Calibri"/>
              </a:rPr>
              <a:t>ŠIUOLAIKINĖ PROBLEMA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75800" y="241300"/>
            <a:ext cx="190500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08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755650"/>
            <a:ext cx="10541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45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ŽIRKLINIS DOMKRATAS KELKRAŠTYJE</a:t>
            </a:r>
          </a:p>
        </p:txBody>
      </p:sp>
      <p:sp>
        <p:nvSpPr>
          <p:cNvPr id="8" name="Rectangle 7"/>
          <p:cNvSpPr/>
          <p:nvPr/>
        </p:nvSpPr>
        <p:spPr>
          <a:xfrm>
            <a:off x="952500" y="1473200"/>
            <a:ext cx="1524000" cy="88900"/>
          </a:xfrm>
          <a:prstGeom prst="rect">
            <a:avLst/>
          </a:prstGeom>
          <a:solidFill>
            <a:srgbClr val="F6B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52500" y="1879599"/>
            <a:ext cx="4064000" cy="4254500"/>
          </a:xfrm>
          <a:prstGeom prst="rect">
            <a:avLst/>
          </a:prstGeom>
          <a:solidFill>
            <a:srgbClr val="F4F2EC"/>
          </a:solidFill>
          <a:ln w="19050">
            <a:solidFill>
              <a:srgbClr val="1A1C1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df23f46d53c1348372d6103d9b8287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7600" y="2006600"/>
            <a:ext cx="3733799" cy="2667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1117600" y="4775200"/>
            <a:ext cx="2413000" cy="355600"/>
          </a:xfrm>
          <a:prstGeom prst="rect">
            <a:avLst/>
          </a:prstGeom>
          <a:solidFill>
            <a:srgbClr val="F6B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19200" y="4775200"/>
            <a:ext cx="2286000" cy="355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F sraigto = Q / tg 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7600" y="5232400"/>
            <a:ext cx="3746500" cy="825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63B"/>
                </a:solidFill>
                <a:latin typeface="Calibri"/>
                <a:ea typeface="Calibri"/>
                <a:cs typeface="Calibri"/>
              </a:rPr>
              <a:t>Kuo žemiau domkratas, tuo mažesnis kampas θ ir tuo didesnė jėga sraigte: kai θ ≈ 15°, ji beveik </a:t>
            </a:r>
            <a:r>
              <a:rPr sz="1150" i="0" b="1">
                <a:solidFill>
                  <a:srgbClr val="1A1C1F"/>
                </a:solidFill>
                <a:latin typeface="Calibri"/>
              </a:rPr>
              <a:t>4 kartus</a:t>
            </a:r>
            <a:r>
              <a:rPr sz="1150" i="0" b="0">
                <a:solidFill>
                  <a:srgbClr val="33363B"/>
                </a:solidFill>
                <a:latin typeface="Calibri"/>
              </a:rPr>
              <a:t> viršija krovinį.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61000" y="1879599"/>
            <a:ext cx="2921000" cy="38100"/>
          </a:xfrm>
          <a:prstGeom prst="rect">
            <a:avLst/>
          </a:prstGeom>
          <a:solidFill>
            <a:srgbClr val="1A1C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61000" y="1993899"/>
            <a:ext cx="29210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60–100 aps.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61000" y="2641600"/>
            <a:ext cx="2921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Lėta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1000" y="2933700"/>
            <a:ext cx="28575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33363B"/>
                </a:solidFill>
                <a:latin typeface="Calibri"/>
                <a:ea typeface="Calibri"/>
                <a:cs typeface="Calibri"/>
              </a:rPr>
              <a:t>Tiek rankenos apsisukimų reikia pakelti iki darbinio aukščio (~2–4 min).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72500" y="1879599"/>
            <a:ext cx="2921000" cy="38100"/>
          </a:xfrm>
          <a:prstGeom prst="rect">
            <a:avLst/>
          </a:prstGeom>
          <a:solidFill>
            <a:srgbClr val="1A1C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72500" y="1993899"/>
            <a:ext cx="29210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×4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0" y="2641600"/>
            <a:ext cx="2921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Sunku pradžioje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2500" y="2933700"/>
            <a:ext cx="28575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33363B"/>
                </a:solidFill>
                <a:latin typeface="Calibri"/>
                <a:ea typeface="Calibri"/>
                <a:cs typeface="Calibri"/>
              </a:rPr>
              <a:t>Apkrovos piką rankenoje jaučia senyvi ir silpnesni vairuotojai.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61000" y="4038600"/>
            <a:ext cx="2921000" cy="38100"/>
          </a:xfrm>
          <a:prstGeom prst="rect">
            <a:avLst/>
          </a:prstGeom>
          <a:solidFill>
            <a:srgbClr val="1A1C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61000" y="4152900"/>
            <a:ext cx="29210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~100 cm²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61000" y="4800600"/>
            <a:ext cx="2921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Mažas pagrindas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61000" y="5092700"/>
            <a:ext cx="28575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33363B"/>
                </a:solidFill>
                <a:latin typeface="Calibri"/>
                <a:ea typeface="Calibri"/>
                <a:cs typeface="Calibri"/>
              </a:rPr>
              <a:t>Ant minkšto grunto ar nuolydžio domkratas gali pasvirti.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72500" y="4038600"/>
            <a:ext cx="2921000" cy="38100"/>
          </a:xfrm>
          <a:prstGeom prst="rect">
            <a:avLst/>
          </a:prstGeom>
          <a:solidFill>
            <a:srgbClr val="1A1C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72500" y="4152900"/>
            <a:ext cx="29210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0,5 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72500" y="4800600"/>
            <a:ext cx="2921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Ergonomika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72500" y="5092700"/>
            <a:ext cx="28575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33363B"/>
                </a:solidFill>
                <a:latin typeface="Calibri"/>
                <a:ea typeface="Calibri"/>
                <a:cs typeface="Calibri"/>
              </a:rPr>
              <a:t>Žmogus dirba pasilenkęs, rankena kliūna už kėbulo ar rato.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2500" y="6489700"/>
            <a:ext cx="1054100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E6268"/>
                </a:solidFill>
                <a:latin typeface="Consolas"/>
                <a:ea typeface="Calibri"/>
                <a:cs typeface="Calibri"/>
              </a:rPr>
              <a:t>Apsisukimų skaičius – mūsų įvertinimas: svirtis 200 mm, kėlimas 100→350 mm, sriegio žingsnis 2–3 mm.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c09e3cf2e5c1e07d3fb1208bf6b46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52500" y="215900"/>
            <a:ext cx="520700" cy="203200"/>
          </a:xfrm>
          <a:prstGeom prst="rect">
            <a:avLst/>
          </a:prstGeom>
          <a:solidFill>
            <a:srgbClr val="1A1C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215900"/>
            <a:ext cx="520700" cy="2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6B800"/>
                </a:solidFill>
                <a:latin typeface="Consolas"/>
                <a:ea typeface="Calibri"/>
                <a:cs typeface="Calibri"/>
              </a:rPr>
              <a:t>PBL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56000" y="241300"/>
            <a:ext cx="508000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 spc="95">
                <a:solidFill>
                  <a:srgbClr val="5E6268"/>
                </a:solidFill>
                <a:latin typeface="Consolas"/>
                <a:ea typeface="Calibri"/>
                <a:cs typeface="Calibri"/>
              </a:rPr>
              <a:t>UŽDAVINIO FORMULAVIMAS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75800" y="241300"/>
            <a:ext cx="190500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09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660400"/>
            <a:ext cx="10541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52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KĄ SPRENDŽIAME</a:t>
            </a:r>
          </a:p>
        </p:txBody>
      </p:sp>
      <p:sp>
        <p:nvSpPr>
          <p:cNvPr id="8" name="Rectangle 7"/>
          <p:cNvSpPr/>
          <p:nvPr/>
        </p:nvSpPr>
        <p:spPr>
          <a:xfrm>
            <a:off x="952500" y="1473200"/>
            <a:ext cx="1524000" cy="88900"/>
          </a:xfrm>
          <a:prstGeom prst="rect">
            <a:avLst/>
          </a:prstGeom>
          <a:solidFill>
            <a:srgbClr val="F6B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52500" y="1879599"/>
            <a:ext cx="5905500" cy="2667000"/>
          </a:xfrm>
          <a:prstGeom prst="rect">
            <a:avLst/>
          </a:prstGeom>
          <a:solidFill>
            <a:srgbClr val="F6B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08100" y="2133600"/>
            <a:ext cx="520700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 spc="133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INŽINERINIS UŽDAVINYS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8100" y="2413000"/>
            <a:ext cx="5270500" cy="20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Patobulinti automobilio žirklinį domkratą taip, kad 1,5 t automobilį jis pakeltų </a:t>
            </a:r>
            <a:r>
              <a:rPr sz="2000" i="0" b="1">
                <a:solidFill>
                  <a:srgbClr val="1A1C1F"/>
                </a:solidFill>
                <a:latin typeface="Calibri"/>
              </a:rPr>
              <a:t>greičiau nei per 60 s</a:t>
            </a:r>
            <a:r>
              <a:rPr sz="2000" i="0" b="0">
                <a:solidFill>
                  <a:srgbClr val="1A1C1F"/>
                </a:solidFill>
                <a:latin typeface="Calibri"/>
              </a:rPr>
              <a:t>, be didelių fizinių pastangų ir stabiliai ant nelygaus pagrindo – išlaikant kompaktiškumą ir savistabdį saugumą.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4762500"/>
            <a:ext cx="59055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33363B"/>
                </a:solidFill>
                <a:latin typeface="Calibri"/>
                <a:ea typeface="Calibri"/>
                <a:cs typeface="Calibri"/>
              </a:rPr>
              <a:t>Kodėl ne hidraulinis? Butelinis domkratas per aukštas po žemu automobiliu, o vežimėlinis netelpa bagažinėje. Žirklinė geometrija lieka geriausiu pagrindu – tobuliname jos silpnąsias vietas.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02500" y="1879599"/>
            <a:ext cx="4190999" cy="342900"/>
          </a:xfrm>
          <a:prstGeom prst="rect">
            <a:avLst/>
          </a:prstGeom>
          <a:solidFill>
            <a:srgbClr val="1A1C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16800" y="1879599"/>
            <a:ext cx="20066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 spc="72">
                <a:solidFill>
                  <a:srgbClr val="ECEAE4"/>
                </a:solidFill>
                <a:latin typeface="Consolas"/>
                <a:ea typeface="Calibri"/>
                <a:cs typeface="Calibri"/>
              </a:rPr>
              <a:t>REIKALAVIMAS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75800" y="1879599"/>
            <a:ext cx="1879599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 spc="72">
                <a:solidFill>
                  <a:srgbClr val="ECEAE4"/>
                </a:solidFill>
                <a:latin typeface="Consolas"/>
                <a:ea typeface="Calibri"/>
                <a:cs typeface="Calibri"/>
              </a:rPr>
              <a:t>TIKSLAS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16800" y="2222500"/>
            <a:ext cx="1981199" cy="546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Keliamoji galia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75800" y="2222500"/>
            <a:ext cx="1854200" cy="546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3363B"/>
                </a:solidFill>
                <a:latin typeface="Consolas"/>
                <a:ea typeface="Calibri"/>
                <a:cs typeface="Calibri"/>
              </a:rPr>
              <a:t>≥ 1500 kg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02500" y="2759075"/>
            <a:ext cx="4190999" cy="9525"/>
          </a:xfrm>
          <a:prstGeom prst="rect">
            <a:avLst/>
          </a:prstGeom>
          <a:solidFill>
            <a:srgbClr val="CFCD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16800" y="2768600"/>
            <a:ext cx="1981199" cy="546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Kėlimo diapazonas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75800" y="2768600"/>
            <a:ext cx="1854200" cy="546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3363B"/>
                </a:solidFill>
                <a:latin typeface="Consolas"/>
                <a:ea typeface="Calibri"/>
                <a:cs typeface="Calibri"/>
              </a:rPr>
              <a:t>100–400 mm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02500" y="3305175"/>
            <a:ext cx="4190999" cy="9525"/>
          </a:xfrm>
          <a:prstGeom prst="rect">
            <a:avLst/>
          </a:prstGeom>
          <a:solidFill>
            <a:srgbClr val="CFCD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16800" y="3314700"/>
            <a:ext cx="1981199" cy="546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Kėlimo laikas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75800" y="3314700"/>
            <a:ext cx="1854200" cy="546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3363B"/>
                </a:solidFill>
                <a:latin typeface="Consolas"/>
                <a:ea typeface="Calibri"/>
                <a:cs typeface="Calibri"/>
              </a:rPr>
              <a:t>≤ 60 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02500" y="3851275"/>
            <a:ext cx="4190999" cy="9525"/>
          </a:xfrm>
          <a:prstGeom prst="rect">
            <a:avLst/>
          </a:prstGeom>
          <a:solidFill>
            <a:srgbClr val="CFCD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16800" y="3860800"/>
            <a:ext cx="1981199" cy="546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Rankos jėga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75800" y="3860800"/>
            <a:ext cx="1854200" cy="546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3363B"/>
                </a:solidFill>
                <a:latin typeface="Consolas"/>
                <a:ea typeface="Calibri"/>
                <a:cs typeface="Calibri"/>
              </a:rPr>
              <a:t>0 N (el.) / ≤ 150 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02500" y="4397375"/>
            <a:ext cx="4190999" cy="9525"/>
          </a:xfrm>
          <a:prstGeom prst="rect">
            <a:avLst/>
          </a:prstGeom>
          <a:solidFill>
            <a:srgbClr val="CFCD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16800" y="4406900"/>
            <a:ext cx="1981199" cy="546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Pagrindo plotas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75800" y="4406900"/>
            <a:ext cx="1854200" cy="546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3363B"/>
                </a:solidFill>
                <a:latin typeface="Consolas"/>
                <a:ea typeface="Calibri"/>
                <a:cs typeface="Calibri"/>
              </a:rPr>
              <a:t>≈ 2× didesnis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02500" y="4943475"/>
            <a:ext cx="4190999" cy="9525"/>
          </a:xfrm>
          <a:prstGeom prst="rect">
            <a:avLst/>
          </a:prstGeom>
          <a:solidFill>
            <a:srgbClr val="CFCD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16800" y="4953000"/>
            <a:ext cx="1981199" cy="546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Masė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75800" y="4953000"/>
            <a:ext cx="1854200" cy="546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3363B"/>
                </a:solidFill>
                <a:latin typeface="Consolas"/>
                <a:ea typeface="Calibri"/>
                <a:cs typeface="Calibri"/>
              </a:rPr>
              <a:t>≤ 4,5 kg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02500" y="5489575"/>
            <a:ext cx="4190999" cy="9525"/>
          </a:xfrm>
          <a:prstGeom prst="rect">
            <a:avLst/>
          </a:prstGeom>
          <a:solidFill>
            <a:srgbClr val="CFCD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16800" y="5499100"/>
            <a:ext cx="1981199" cy="546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Maitinimas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75800" y="5499100"/>
            <a:ext cx="1854200" cy="546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3363B"/>
                </a:solidFill>
                <a:latin typeface="Consolas"/>
                <a:ea typeface="Calibri"/>
                <a:cs typeface="Calibri"/>
              </a:rPr>
              <a:t>12 V lizdas, ≤ 10 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02500" y="6035675"/>
            <a:ext cx="4190999" cy="9525"/>
          </a:xfrm>
          <a:prstGeom prst="rect">
            <a:avLst/>
          </a:prstGeom>
          <a:solidFill>
            <a:srgbClr val="CFCD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c09e3cf2e5c1e07d3fb1208bf6b46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52500" y="215900"/>
            <a:ext cx="520700" cy="203200"/>
          </a:xfrm>
          <a:prstGeom prst="rect">
            <a:avLst/>
          </a:prstGeom>
          <a:solidFill>
            <a:srgbClr val="1A1C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215900"/>
            <a:ext cx="520700" cy="2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6B800"/>
                </a:solidFill>
                <a:latin typeface="Consolas"/>
                <a:ea typeface="Calibri"/>
                <a:cs typeface="Calibri"/>
              </a:rPr>
              <a:t>PBL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56000" y="241300"/>
            <a:ext cx="508000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 spc="95">
                <a:solidFill>
                  <a:srgbClr val="5E6268"/>
                </a:solidFill>
                <a:latin typeface="Consolas"/>
                <a:ea typeface="Calibri"/>
                <a:cs typeface="Calibri"/>
              </a:rPr>
              <a:t>SPRENDIMO IDĖJA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75800" y="241300"/>
            <a:ext cx="190500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10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736600"/>
            <a:ext cx="10541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6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ELEKTRINIS ŽIRKLINIS DOMKRATAS</a:t>
            </a:r>
          </a:p>
        </p:txBody>
      </p:sp>
      <p:sp>
        <p:nvSpPr>
          <p:cNvPr id="8" name="Rectangle 7"/>
          <p:cNvSpPr/>
          <p:nvPr/>
        </p:nvSpPr>
        <p:spPr>
          <a:xfrm>
            <a:off x="952500" y="1473200"/>
            <a:ext cx="1524000" cy="88900"/>
          </a:xfrm>
          <a:prstGeom prst="rect">
            <a:avLst/>
          </a:prstGeom>
          <a:solidFill>
            <a:srgbClr val="F6B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52500" y="1778000"/>
            <a:ext cx="6985000" cy="4064000"/>
          </a:xfrm>
          <a:prstGeom prst="rect">
            <a:avLst/>
          </a:prstGeom>
          <a:solidFill>
            <a:srgbClr val="F4F2EC"/>
          </a:solidFill>
          <a:ln w="19050">
            <a:solidFill>
              <a:srgbClr val="1A1C1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404a73c1f692577e1463c6c7c42f43b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9500" y="1905000"/>
            <a:ext cx="6731000" cy="3810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8191500" y="1803400"/>
            <a:ext cx="266700" cy="266700"/>
          </a:xfrm>
          <a:prstGeom prst="ellipse">
            <a:avLst/>
          </a:prstGeom>
          <a:solidFill>
            <a:srgbClr val="F6B800"/>
          </a:solidFill>
          <a:ln w="19050">
            <a:solidFill>
              <a:srgbClr val="1A1C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91500" y="1803400"/>
            <a:ext cx="266700" cy="266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72500" y="1828800"/>
            <a:ext cx="2984500" cy="4698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12 V DC variklis</a:t>
            </a:r>
            <a:r>
              <a:rPr sz="1200" i="0" b="0">
                <a:solidFill>
                  <a:srgbClr val="33363B"/>
                </a:solidFill>
                <a:latin typeface="Calibri"/>
              </a:rPr>
              <a:t> (~100 W) iš automobilio lizdo</a:t>
            </a:r>
          </a:p>
        </p:txBody>
      </p:sp>
      <p:sp>
        <p:nvSpPr>
          <p:cNvPr id="14" name="Oval 13"/>
          <p:cNvSpPr/>
          <p:nvPr/>
        </p:nvSpPr>
        <p:spPr>
          <a:xfrm>
            <a:off x="8191500" y="2324100"/>
            <a:ext cx="266700" cy="266700"/>
          </a:xfrm>
          <a:prstGeom prst="ellipse">
            <a:avLst/>
          </a:prstGeom>
          <a:solidFill>
            <a:srgbClr val="F6B800"/>
          </a:solidFill>
          <a:ln w="19050">
            <a:solidFill>
              <a:srgbClr val="1A1C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91500" y="2324100"/>
            <a:ext cx="266700" cy="266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0" y="2349500"/>
            <a:ext cx="2984500" cy="4698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Planetinis reduktorius</a:t>
            </a:r>
            <a:r>
              <a:rPr sz="1200" i="0" b="0">
                <a:solidFill>
                  <a:srgbClr val="33363B"/>
                </a:solidFill>
                <a:latin typeface="Calibri"/>
              </a:rPr>
              <a:t> – didelis sukimo momentas, kompaktiškas</a:t>
            </a:r>
          </a:p>
        </p:txBody>
      </p:sp>
      <p:sp>
        <p:nvSpPr>
          <p:cNvPr id="17" name="Oval 16"/>
          <p:cNvSpPr/>
          <p:nvPr/>
        </p:nvSpPr>
        <p:spPr>
          <a:xfrm>
            <a:off x="8191500" y="2844800"/>
            <a:ext cx="266700" cy="266700"/>
          </a:xfrm>
          <a:prstGeom prst="ellipse">
            <a:avLst/>
          </a:prstGeom>
          <a:solidFill>
            <a:srgbClr val="F6B800"/>
          </a:solidFill>
          <a:ln w="19050">
            <a:solidFill>
              <a:srgbClr val="1A1C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1500" y="2844800"/>
            <a:ext cx="266700" cy="266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72500" y="2870200"/>
            <a:ext cx="2984500" cy="4698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Trapecinis sraigtas Tr18×4</a:t>
            </a:r>
            <a:r>
              <a:rPr sz="1200" i="0" b="0">
                <a:solidFill>
                  <a:srgbClr val="33363B"/>
                </a:solidFill>
                <a:latin typeface="Calibri"/>
              </a:rPr>
              <a:t> – greitesnis, savistabdis</a:t>
            </a:r>
          </a:p>
        </p:txBody>
      </p:sp>
      <p:sp>
        <p:nvSpPr>
          <p:cNvPr id="20" name="Oval 19"/>
          <p:cNvSpPr/>
          <p:nvPr/>
        </p:nvSpPr>
        <p:spPr>
          <a:xfrm>
            <a:off x="8191500" y="3365500"/>
            <a:ext cx="266700" cy="266700"/>
          </a:xfrm>
          <a:prstGeom prst="ellipse">
            <a:avLst/>
          </a:prstGeom>
          <a:solidFill>
            <a:srgbClr val="F6B800"/>
          </a:solidFill>
          <a:ln w="19050">
            <a:solidFill>
              <a:srgbClr val="1A1C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91500" y="3365500"/>
            <a:ext cx="266700" cy="266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72500" y="3390900"/>
            <a:ext cx="2984500" cy="4698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Bronzinė veržlė</a:t>
            </a:r>
            <a:r>
              <a:rPr sz="1200" i="0" b="0">
                <a:solidFill>
                  <a:srgbClr val="33363B"/>
                </a:solidFill>
                <a:latin typeface="Calibri"/>
              </a:rPr>
              <a:t> – maža trintis, mažiau dyla</a:t>
            </a:r>
          </a:p>
        </p:txBody>
      </p:sp>
      <p:sp>
        <p:nvSpPr>
          <p:cNvPr id="23" name="Oval 22"/>
          <p:cNvSpPr/>
          <p:nvPr/>
        </p:nvSpPr>
        <p:spPr>
          <a:xfrm>
            <a:off x="8191500" y="3886200"/>
            <a:ext cx="266700" cy="266700"/>
          </a:xfrm>
          <a:prstGeom prst="ellipse">
            <a:avLst/>
          </a:prstGeom>
          <a:solidFill>
            <a:srgbClr val="F6B800"/>
          </a:solidFill>
          <a:ln w="19050">
            <a:solidFill>
              <a:srgbClr val="1A1C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1500" y="3886200"/>
            <a:ext cx="266700" cy="266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0" y="3911600"/>
            <a:ext cx="2984500" cy="4698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Svirtys iš S420MC</a:t>
            </a:r>
            <a:r>
              <a:rPr sz="1200" i="0" b="0">
                <a:solidFill>
                  <a:srgbClr val="33363B"/>
                </a:solidFill>
                <a:latin typeface="Calibri"/>
              </a:rPr>
              <a:t> – stipresnės be papildomos masės</a:t>
            </a:r>
          </a:p>
        </p:txBody>
      </p:sp>
      <p:sp>
        <p:nvSpPr>
          <p:cNvPr id="26" name="Oval 25"/>
          <p:cNvSpPr/>
          <p:nvPr/>
        </p:nvSpPr>
        <p:spPr>
          <a:xfrm>
            <a:off x="8191500" y="4406900"/>
            <a:ext cx="266700" cy="266700"/>
          </a:xfrm>
          <a:prstGeom prst="ellipse">
            <a:avLst/>
          </a:prstGeom>
          <a:solidFill>
            <a:srgbClr val="F6B800"/>
          </a:solidFill>
          <a:ln w="19050">
            <a:solidFill>
              <a:srgbClr val="1A1C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91500" y="4406900"/>
            <a:ext cx="266700" cy="266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72500" y="4432300"/>
            <a:ext cx="2984500" cy="4698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Platesnis pagrindas + guminis padas</a:t>
            </a:r>
            <a:r>
              <a:rPr sz="1200" i="0" b="0">
                <a:solidFill>
                  <a:srgbClr val="33363B"/>
                </a:solidFill>
                <a:latin typeface="Calibri"/>
              </a:rPr>
              <a:t> – neslysta, nesmenga</a:t>
            </a:r>
          </a:p>
        </p:txBody>
      </p:sp>
      <p:sp>
        <p:nvSpPr>
          <p:cNvPr id="29" name="Oval 28"/>
          <p:cNvSpPr/>
          <p:nvPr/>
        </p:nvSpPr>
        <p:spPr>
          <a:xfrm>
            <a:off x="8191500" y="4927600"/>
            <a:ext cx="266700" cy="266700"/>
          </a:xfrm>
          <a:prstGeom prst="ellipse">
            <a:avLst/>
          </a:prstGeom>
          <a:solidFill>
            <a:srgbClr val="F6B800"/>
          </a:solidFill>
          <a:ln w="19050">
            <a:solidFill>
              <a:srgbClr val="1A1C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1500" y="4927600"/>
            <a:ext cx="266700" cy="266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72500" y="4953000"/>
            <a:ext cx="2984500" cy="4698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Avarinis šešiakampis</a:t>
            </a:r>
            <a:r>
              <a:rPr sz="1200" i="0" b="0">
                <a:solidFill>
                  <a:srgbClr val="33363B"/>
                </a:solidFill>
                <a:latin typeface="Calibri"/>
              </a:rPr>
              <a:t> – rankinis sukimas be elektros</a:t>
            </a:r>
          </a:p>
        </p:txBody>
      </p:sp>
      <p:sp>
        <p:nvSpPr>
          <p:cNvPr id="32" name="Oval 31"/>
          <p:cNvSpPr/>
          <p:nvPr/>
        </p:nvSpPr>
        <p:spPr>
          <a:xfrm>
            <a:off x="8191500" y="5448300"/>
            <a:ext cx="266700" cy="266700"/>
          </a:xfrm>
          <a:prstGeom prst="ellipse">
            <a:avLst/>
          </a:prstGeom>
          <a:solidFill>
            <a:srgbClr val="F6B800"/>
          </a:solidFill>
          <a:ln w="19050">
            <a:solidFill>
              <a:srgbClr val="1A1C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91500" y="5448300"/>
            <a:ext cx="266700" cy="266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72500" y="5473700"/>
            <a:ext cx="2984500" cy="4698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Galiniai jungikliai, srovės ribotuvas</a:t>
            </a:r>
            <a:r>
              <a:rPr sz="1200" i="0" b="0">
                <a:solidFill>
                  <a:srgbClr val="33363B"/>
                </a:solidFill>
                <a:latin typeface="Calibri"/>
              </a:rPr>
              <a:t> ir guminė atrama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c09e3cf2e5c1e07d3fb1208bf6b46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52500" y="215900"/>
            <a:ext cx="520700" cy="203200"/>
          </a:xfrm>
          <a:prstGeom prst="rect">
            <a:avLst/>
          </a:prstGeom>
          <a:solidFill>
            <a:srgbClr val="1A1C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215900"/>
            <a:ext cx="520700" cy="2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6B800"/>
                </a:solidFill>
                <a:latin typeface="Consolas"/>
                <a:ea typeface="Calibri"/>
                <a:cs typeface="Calibri"/>
              </a:rPr>
              <a:t>PBL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56000" y="241300"/>
            <a:ext cx="508000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 spc="95">
                <a:solidFill>
                  <a:srgbClr val="5E6268"/>
                </a:solidFill>
                <a:latin typeface="Consolas"/>
                <a:ea typeface="Calibri"/>
                <a:cs typeface="Calibri"/>
              </a:rPr>
              <a:t>KEIČIAMI ELEMENTAI IR MEDŽIAGOS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75800" y="241300"/>
            <a:ext cx="190500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11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660400"/>
            <a:ext cx="10541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52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KĄ KEIČIAME IR KODĖL</a:t>
            </a:r>
          </a:p>
        </p:txBody>
      </p:sp>
      <p:sp>
        <p:nvSpPr>
          <p:cNvPr id="8" name="Rectangle 7"/>
          <p:cNvSpPr/>
          <p:nvPr/>
        </p:nvSpPr>
        <p:spPr>
          <a:xfrm>
            <a:off x="952500" y="1473200"/>
            <a:ext cx="1524000" cy="88900"/>
          </a:xfrm>
          <a:prstGeom prst="rect">
            <a:avLst/>
          </a:prstGeom>
          <a:solidFill>
            <a:srgbClr val="F6B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52500" y="1879599"/>
            <a:ext cx="10541000" cy="342900"/>
          </a:xfrm>
          <a:prstGeom prst="rect">
            <a:avLst/>
          </a:prstGeom>
          <a:solidFill>
            <a:srgbClr val="1A1C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6800" y="1879599"/>
            <a:ext cx="14351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 spc="72">
                <a:solidFill>
                  <a:srgbClr val="ECEAE4"/>
                </a:solidFill>
                <a:latin typeface="Consolas"/>
                <a:ea typeface="Calibri"/>
                <a:cs typeface="Calibri"/>
              </a:rPr>
              <a:t>ELEMENTAS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4300" y="1879599"/>
            <a:ext cx="25146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 spc="72">
                <a:solidFill>
                  <a:srgbClr val="ECEAE4"/>
                </a:solidFill>
                <a:latin typeface="Consolas"/>
                <a:ea typeface="Calibri"/>
                <a:cs typeface="Calibri"/>
              </a:rPr>
              <a:t>DABAR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21300" y="1879599"/>
            <a:ext cx="30226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 spc="72">
                <a:solidFill>
                  <a:srgbClr val="ECEAE4"/>
                </a:solidFill>
                <a:latin typeface="Consolas"/>
                <a:ea typeface="Calibri"/>
                <a:cs typeface="Calibri"/>
              </a:rPr>
              <a:t>SIŪLOMA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96300" y="1879599"/>
            <a:ext cx="29591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 spc="72">
                <a:solidFill>
                  <a:srgbClr val="ECEAE4"/>
                </a:solidFill>
                <a:latin typeface="Consolas"/>
                <a:ea typeface="Calibri"/>
                <a:cs typeface="Calibri"/>
              </a:rPr>
              <a:t>PAGRINDIMAS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6800" y="2222500"/>
            <a:ext cx="1435100" cy="660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PAVARA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4300" y="2222500"/>
            <a:ext cx="2489200" cy="660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33363B"/>
                </a:solidFill>
                <a:latin typeface="Calibri"/>
                <a:ea typeface="Calibri"/>
                <a:cs typeface="Calibri"/>
              </a:rPr>
              <a:t>Rankinė rankena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21300" y="2222500"/>
            <a:ext cx="2997200" cy="660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12 V DC variklis + planetinis reduktorius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96300" y="2222500"/>
            <a:ext cx="2933700" cy="660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33363B"/>
                </a:solidFill>
                <a:latin typeface="Calibri"/>
                <a:ea typeface="Calibri"/>
                <a:cs typeface="Calibri"/>
              </a:rPr>
              <a:t>Greitis, nereikia fizinės jėgos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2500" y="2873375"/>
            <a:ext cx="10541000" cy="9525"/>
          </a:xfrm>
          <a:prstGeom prst="rect">
            <a:avLst/>
          </a:prstGeom>
          <a:solidFill>
            <a:srgbClr val="CFCD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6800" y="2882900"/>
            <a:ext cx="1435100" cy="660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SRAIGTAS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54300" y="2882900"/>
            <a:ext cx="2489200" cy="660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33363B"/>
                </a:solidFill>
                <a:latin typeface="Calibri"/>
                <a:ea typeface="Calibri"/>
                <a:cs typeface="Calibri"/>
              </a:rPr>
              <a:t>Metrinis sriegis, paprastas plienas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21300" y="2882900"/>
            <a:ext cx="2997200" cy="660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Tr18×4, plienas 42CrMo4 (grūdintas)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96300" y="2882900"/>
            <a:ext cx="2933700" cy="660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33363B"/>
                </a:solidFill>
                <a:latin typeface="Calibri"/>
                <a:ea typeface="Calibri"/>
                <a:cs typeface="Calibri"/>
              </a:rPr>
              <a:t>Savistabdis (ψ &lt; φ′), atsparus dilimui ir lenkimui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2500" y="3533775"/>
            <a:ext cx="10541000" cy="9525"/>
          </a:xfrm>
          <a:prstGeom prst="rect">
            <a:avLst/>
          </a:prstGeom>
          <a:solidFill>
            <a:srgbClr val="CFCD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6800" y="3543300"/>
            <a:ext cx="1435100" cy="660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VERŽLĖ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4300" y="3543300"/>
            <a:ext cx="2489200" cy="660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33363B"/>
                </a:solidFill>
                <a:latin typeface="Calibri"/>
                <a:ea typeface="Calibri"/>
                <a:cs typeface="Calibri"/>
              </a:rPr>
              <a:t>Plieninė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21300" y="3543300"/>
            <a:ext cx="2997200" cy="660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Bronza CuSn12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96300" y="3543300"/>
            <a:ext cx="2933700" cy="660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33363B"/>
                </a:solidFill>
                <a:latin typeface="Calibri"/>
                <a:ea typeface="Calibri"/>
                <a:cs typeface="Calibri"/>
              </a:rPr>
              <a:t>Mažesnė trintis su plienu, nesukimba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2500" y="4194175"/>
            <a:ext cx="10541000" cy="9525"/>
          </a:xfrm>
          <a:prstGeom prst="rect">
            <a:avLst/>
          </a:prstGeom>
          <a:solidFill>
            <a:srgbClr val="CFCD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6800" y="4203700"/>
            <a:ext cx="1435100" cy="660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SVIRTYS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54300" y="4203700"/>
            <a:ext cx="2489200" cy="660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33363B"/>
                </a:solidFill>
                <a:latin typeface="Calibri"/>
                <a:ea typeface="Calibri"/>
                <a:cs typeface="Calibri"/>
              </a:rPr>
              <a:t>S235 štampuota skarda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21300" y="4203700"/>
            <a:ext cx="2997200" cy="660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S420MC to paties storio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96300" y="4203700"/>
            <a:ext cx="2933700" cy="660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33363B"/>
                </a:solidFill>
                <a:latin typeface="Calibri"/>
                <a:ea typeface="Calibri"/>
                <a:cs typeface="Calibri"/>
              </a:rPr>
              <a:t>Takumo riba 420 vs 235 MPa (~1,8×)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2500" y="4854575"/>
            <a:ext cx="10541000" cy="9525"/>
          </a:xfrm>
          <a:prstGeom prst="rect">
            <a:avLst/>
          </a:prstGeom>
          <a:solidFill>
            <a:srgbClr val="CFCD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66800" y="4864100"/>
            <a:ext cx="1435100" cy="660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PAGRINDAS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54300" y="4864100"/>
            <a:ext cx="2489200" cy="660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33363B"/>
                </a:solidFill>
                <a:latin typeface="Calibri"/>
                <a:ea typeface="Calibri"/>
                <a:cs typeface="Calibri"/>
              </a:rPr>
              <a:t>~130×80 mm, plona skarda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21300" y="4864100"/>
            <a:ext cx="2997200" cy="660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~200×120 mm + guminis padas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96300" y="4864100"/>
            <a:ext cx="2933700" cy="660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33363B"/>
                </a:solidFill>
                <a:latin typeface="Calibri"/>
                <a:ea typeface="Calibri"/>
                <a:cs typeface="Calibri"/>
              </a:rPr>
              <a:t>~2× didesnis plotas, neslysta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52500" y="5514975"/>
            <a:ext cx="10541000" cy="9525"/>
          </a:xfrm>
          <a:prstGeom prst="rect">
            <a:avLst/>
          </a:prstGeom>
          <a:solidFill>
            <a:srgbClr val="CFCD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66800" y="5524500"/>
            <a:ext cx="1435100" cy="660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KORPUSAS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54300" y="5524500"/>
            <a:ext cx="2489200" cy="660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33363B"/>
                </a:solidFill>
                <a:latin typeface="Calibri"/>
                <a:ea typeface="Calibri"/>
                <a:cs typeface="Calibri"/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21300" y="5524500"/>
            <a:ext cx="2997200" cy="660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PA6-GF30 (stiklo pluoštu armuotas)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96300" y="5524500"/>
            <a:ext cx="2933700" cy="660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33363B"/>
                </a:solidFill>
                <a:latin typeface="Calibri"/>
                <a:ea typeface="Calibri"/>
                <a:cs typeface="Calibri"/>
              </a:rPr>
              <a:t>Lengvas, smūgiams ir alyvai atsparus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52500" y="6175375"/>
            <a:ext cx="10541000" cy="9525"/>
          </a:xfrm>
          <a:prstGeom prst="rect">
            <a:avLst/>
          </a:prstGeom>
          <a:solidFill>
            <a:srgbClr val="CFCD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2500" y="6489700"/>
            <a:ext cx="1054100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E6268"/>
                </a:solidFill>
                <a:latin typeface="Consolas"/>
                <a:ea typeface="Calibri"/>
                <a:cs typeface="Calibri"/>
              </a:rPr>
              <a:t>Medžiagų savybės: EN 10025-2 (S235), EN 10149-2 (S420MC), EN 10083-3 (42CrMo4). Galutinis parinkimas ir skaičiavimai – TA2.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c09e3cf2e5c1e07d3fb1208bf6b46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52500" y="215900"/>
            <a:ext cx="520700" cy="203200"/>
          </a:xfrm>
          <a:prstGeom prst="rect">
            <a:avLst/>
          </a:prstGeom>
          <a:solidFill>
            <a:srgbClr val="1A1C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215900"/>
            <a:ext cx="520700" cy="2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6B800"/>
                </a:solidFill>
                <a:latin typeface="Consolas"/>
                <a:ea typeface="Calibri"/>
                <a:cs typeface="Calibri"/>
              </a:rPr>
              <a:t>PBL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56000" y="241300"/>
            <a:ext cx="508000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 spc="95">
                <a:solidFill>
                  <a:srgbClr val="5E6268"/>
                </a:solidFill>
                <a:latin typeface="Consolas"/>
                <a:ea typeface="Calibri"/>
                <a:cs typeface="Calibri"/>
              </a:rPr>
              <a:t>PARAMETRAI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75800" y="241300"/>
            <a:ext cx="190500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12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660400"/>
            <a:ext cx="10541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52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PRIEŠ IR PO</a:t>
            </a:r>
          </a:p>
        </p:txBody>
      </p:sp>
      <p:sp>
        <p:nvSpPr>
          <p:cNvPr id="8" name="Rectangle 7"/>
          <p:cNvSpPr/>
          <p:nvPr/>
        </p:nvSpPr>
        <p:spPr>
          <a:xfrm>
            <a:off x="952500" y="1473200"/>
            <a:ext cx="1524000" cy="88900"/>
          </a:xfrm>
          <a:prstGeom prst="rect">
            <a:avLst/>
          </a:prstGeom>
          <a:solidFill>
            <a:srgbClr val="F6B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52500" y="1879599"/>
            <a:ext cx="6731000" cy="342900"/>
          </a:xfrm>
          <a:prstGeom prst="rect">
            <a:avLst/>
          </a:prstGeom>
          <a:solidFill>
            <a:srgbClr val="1A1C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6800" y="1879599"/>
            <a:ext cx="17526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 spc="72">
                <a:solidFill>
                  <a:srgbClr val="ECEAE4"/>
                </a:solidFill>
                <a:latin typeface="Consolas"/>
                <a:ea typeface="Calibri"/>
                <a:cs typeface="Calibri"/>
              </a:rPr>
              <a:t>PARAMETRAS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1879599"/>
            <a:ext cx="14986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 spc="72">
                <a:solidFill>
                  <a:srgbClr val="ECEAE4"/>
                </a:solidFill>
                <a:latin typeface="Consolas"/>
                <a:ea typeface="Calibri"/>
                <a:cs typeface="Calibri"/>
              </a:rPr>
              <a:t>ĮPRASTAS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2800" y="1879599"/>
            <a:ext cx="14986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 spc="72">
                <a:solidFill>
                  <a:srgbClr val="ECEAE4"/>
                </a:solidFill>
                <a:latin typeface="Consolas"/>
                <a:ea typeface="Calibri"/>
                <a:cs typeface="Calibri"/>
              </a:rPr>
              <a:t>PATOBULINTAS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3800" y="1879599"/>
            <a:ext cx="13716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 spc="72">
                <a:solidFill>
                  <a:srgbClr val="ECEAE4"/>
                </a:solidFill>
                <a:latin typeface="Consolas"/>
                <a:ea typeface="Calibri"/>
                <a:cs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6800" y="2222500"/>
            <a:ext cx="1778000" cy="63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Kėlimo laikas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2222500"/>
            <a:ext cx="1524000" cy="63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63B"/>
                </a:solidFill>
                <a:latin typeface="Consolas"/>
                <a:ea typeface="Calibri"/>
                <a:cs typeface="Calibri"/>
              </a:rPr>
              <a:t>~2–4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2800" y="2222500"/>
            <a:ext cx="1524000" cy="63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≤ 60 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73800" y="2438400"/>
            <a:ext cx="825500" cy="203200"/>
          </a:xfrm>
          <a:prstGeom prst="rect">
            <a:avLst/>
          </a:prstGeom>
          <a:solidFill>
            <a:srgbClr val="F6B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3800" y="2438400"/>
            <a:ext cx="825500" cy="2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GERIAU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52500" y="2847975"/>
            <a:ext cx="6731000" cy="9525"/>
          </a:xfrm>
          <a:prstGeom prst="rect">
            <a:avLst/>
          </a:prstGeom>
          <a:solidFill>
            <a:srgbClr val="CFCD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6800" y="2857500"/>
            <a:ext cx="1778000" cy="63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Rankos jėga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2857500"/>
            <a:ext cx="1524000" cy="63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63B"/>
                </a:solidFill>
                <a:latin typeface="Consolas"/>
                <a:ea typeface="Calibri"/>
                <a:cs typeface="Calibri"/>
              </a:rPr>
              <a:t>~100–200 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22800" y="2857500"/>
            <a:ext cx="1524000" cy="63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0 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3800" y="3073400"/>
            <a:ext cx="825500" cy="203200"/>
          </a:xfrm>
          <a:prstGeom prst="rect">
            <a:avLst/>
          </a:prstGeom>
          <a:solidFill>
            <a:srgbClr val="F6B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73800" y="3073400"/>
            <a:ext cx="825500" cy="2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GERIAU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2500" y="3482975"/>
            <a:ext cx="6731000" cy="9525"/>
          </a:xfrm>
          <a:prstGeom prst="rect">
            <a:avLst/>
          </a:prstGeom>
          <a:solidFill>
            <a:srgbClr val="CFCD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6800" y="3492500"/>
            <a:ext cx="1778000" cy="63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Apsisukimai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71800" y="3492500"/>
            <a:ext cx="1524000" cy="63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63B"/>
                </a:solidFill>
                <a:latin typeface="Consolas"/>
                <a:ea typeface="Calibri"/>
                <a:cs typeface="Calibri"/>
              </a:rPr>
              <a:t>60–100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22800" y="3492500"/>
            <a:ext cx="1524000" cy="63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73800" y="3708400"/>
            <a:ext cx="825500" cy="203200"/>
          </a:xfrm>
          <a:prstGeom prst="rect">
            <a:avLst/>
          </a:prstGeom>
          <a:solidFill>
            <a:srgbClr val="F6B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73800" y="3708400"/>
            <a:ext cx="825500" cy="2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GERIAU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2500" y="4117975"/>
            <a:ext cx="6731000" cy="9525"/>
          </a:xfrm>
          <a:prstGeom prst="rect">
            <a:avLst/>
          </a:prstGeom>
          <a:solidFill>
            <a:srgbClr val="CFCD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66800" y="4127500"/>
            <a:ext cx="1778000" cy="63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Pagrindo plotas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71800" y="4127500"/>
            <a:ext cx="1524000" cy="63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63B"/>
                </a:solidFill>
                <a:latin typeface="Consolas"/>
                <a:ea typeface="Calibri"/>
                <a:cs typeface="Calibri"/>
              </a:rPr>
              <a:t>~100 cm²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22800" y="4127500"/>
            <a:ext cx="1524000" cy="63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~240 cm²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73800" y="4343400"/>
            <a:ext cx="825500" cy="203200"/>
          </a:xfrm>
          <a:prstGeom prst="rect">
            <a:avLst/>
          </a:prstGeom>
          <a:solidFill>
            <a:srgbClr val="F6B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73800" y="4343400"/>
            <a:ext cx="825500" cy="2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GERIAU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52500" y="4752975"/>
            <a:ext cx="6731000" cy="9525"/>
          </a:xfrm>
          <a:prstGeom prst="rect">
            <a:avLst/>
          </a:prstGeom>
          <a:solidFill>
            <a:srgbClr val="CFCD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66800" y="4762500"/>
            <a:ext cx="1778000" cy="63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Masė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71800" y="4762500"/>
            <a:ext cx="1524000" cy="63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63B"/>
                </a:solidFill>
                <a:latin typeface="Consolas"/>
                <a:ea typeface="Calibri"/>
                <a:cs typeface="Calibri"/>
              </a:rPr>
              <a:t>~3 kg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22800" y="4762500"/>
            <a:ext cx="1524000" cy="63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~4,5 kg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73800" y="4978400"/>
            <a:ext cx="1206500" cy="203200"/>
          </a:xfrm>
          <a:prstGeom prst="rect">
            <a:avLst/>
          </a:prstGeom>
          <a:solidFill>
            <a:srgbClr val="ECEAE4"/>
          </a:solidFill>
          <a:ln w="15875">
            <a:solidFill>
              <a:srgbClr val="1A1C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73800" y="4978400"/>
            <a:ext cx="1206500" cy="2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KOMPROMISAS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52500" y="5387975"/>
            <a:ext cx="6731000" cy="9525"/>
          </a:xfrm>
          <a:prstGeom prst="rect">
            <a:avLst/>
          </a:prstGeom>
          <a:solidFill>
            <a:srgbClr val="CFCD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66800" y="5397500"/>
            <a:ext cx="1778000" cy="63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Kaina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71800" y="5397500"/>
            <a:ext cx="1524000" cy="63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63B"/>
                </a:solidFill>
                <a:latin typeface="Consolas"/>
                <a:ea typeface="Calibri"/>
                <a:cs typeface="Calibri"/>
              </a:rPr>
              <a:t>~20–30 €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22800" y="5397500"/>
            <a:ext cx="1524000" cy="63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~60–80 €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73800" y="5613400"/>
            <a:ext cx="1206500" cy="203200"/>
          </a:xfrm>
          <a:prstGeom prst="rect">
            <a:avLst/>
          </a:prstGeom>
          <a:solidFill>
            <a:srgbClr val="ECEAE4"/>
          </a:solidFill>
          <a:ln w="15875">
            <a:solidFill>
              <a:srgbClr val="1A1C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73800" y="5613400"/>
            <a:ext cx="1206500" cy="2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KOMPROMISAS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52500" y="6022975"/>
            <a:ext cx="6731000" cy="9525"/>
          </a:xfrm>
          <a:prstGeom prst="rect">
            <a:avLst/>
          </a:prstGeom>
          <a:solidFill>
            <a:srgbClr val="CFCD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001000" y="1879599"/>
            <a:ext cx="3556000" cy="4190999"/>
          </a:xfrm>
          <a:prstGeom prst="rect">
            <a:avLst/>
          </a:prstGeom>
          <a:solidFill>
            <a:srgbClr val="1A1C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67699" y="2133600"/>
            <a:ext cx="304800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 spc="113">
                <a:solidFill>
                  <a:srgbClr val="F6B800"/>
                </a:solidFill>
                <a:latin typeface="Consolas"/>
                <a:ea typeface="Calibri"/>
                <a:cs typeface="Calibri"/>
              </a:rPr>
              <a:t>PRELIMINARUS ĮVERTINIMAS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67699" y="2476500"/>
            <a:ext cx="302260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6B800"/>
                </a:solidFill>
                <a:latin typeface="Consolas"/>
                <a:ea typeface="Calibri"/>
                <a:cs typeface="Calibri"/>
              </a:rPr>
              <a:t>P ≈ Q·h / (t·η)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67699" y="2794000"/>
            <a:ext cx="30226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C9CBC6"/>
                </a:solidFill>
                <a:latin typeface="Calibri"/>
                <a:ea typeface="Calibri"/>
                <a:cs typeface="Calibri"/>
              </a:rPr>
              <a:t>5000 N · 0,25 m / (45 s · 0,3) ≈ 93 W → ~8 A iš 12 V lizdo (saugiklis 15 A).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67699" y="3543300"/>
            <a:ext cx="3022600" cy="9525"/>
          </a:xfrm>
          <a:prstGeom prst="rect">
            <a:avLst/>
          </a:prstGeom>
          <a:solidFill>
            <a:srgbClr val="3A3D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67699" y="3683000"/>
            <a:ext cx="302260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6B800"/>
                </a:solidFill>
                <a:latin typeface="Consolas"/>
                <a:ea typeface="Calibri"/>
                <a:cs typeface="Calibri"/>
              </a:rPr>
              <a:t>ψ = 4,5° &lt; φ′ ≈ 5,9°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67699" y="4000500"/>
            <a:ext cx="30226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C9CBC6"/>
                </a:solidFill>
                <a:latin typeface="Calibri"/>
                <a:ea typeface="Calibri"/>
                <a:cs typeface="Calibri"/>
              </a:rPr>
              <a:t>Tr18×4 su bronzine veržle (μ ≈ 0,1) – sriegis savistabdis: krovinys nenusileidžia dingus elektrai.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267699" y="4749800"/>
            <a:ext cx="3022600" cy="9525"/>
          </a:xfrm>
          <a:prstGeom prst="rect">
            <a:avLst/>
          </a:prstGeom>
          <a:solidFill>
            <a:srgbClr val="3A3D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67699" y="4889500"/>
            <a:ext cx="302260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6B800"/>
                </a:solidFill>
                <a:latin typeface="Consolas"/>
                <a:ea typeface="Calibri"/>
                <a:cs typeface="Calibri"/>
              </a:rPr>
              <a:t>η sraigto ≈ 0,4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67699" y="5207000"/>
            <a:ext cx="30226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C9CBC6"/>
                </a:solidFill>
                <a:latin typeface="Calibri"/>
                <a:ea typeface="Calibri"/>
                <a:cs typeface="Calibri"/>
              </a:rPr>
              <a:t>Visos pavaros η ≈ 0,4 · 0,9 · 0,85 ≈ 0,3.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c09e3cf2e5c1e07d3fb1208bf6b46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52500" y="215900"/>
            <a:ext cx="368300" cy="203200"/>
          </a:xfrm>
          <a:prstGeom prst="rect">
            <a:avLst/>
          </a:prstGeom>
          <a:solidFill>
            <a:srgbClr val="1A1C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215900"/>
            <a:ext cx="368300" cy="2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6B800"/>
                </a:solidFill>
                <a:latin typeface="Consolas"/>
                <a:ea typeface="Calibri"/>
                <a:cs typeface="Calibri"/>
              </a:rPr>
              <a:t>TA1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56000" y="241300"/>
            <a:ext cx="508000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 spc="95">
                <a:solidFill>
                  <a:srgbClr val="5E6268"/>
                </a:solidFill>
                <a:latin typeface="Consolas"/>
                <a:ea typeface="Calibri"/>
                <a:cs typeface="Calibri"/>
              </a:rPr>
              <a:t>IŠVADOS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75800" y="241300"/>
            <a:ext cx="190500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13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660400"/>
            <a:ext cx="10541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52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IŠVADOS IR KAS TOLIAU</a:t>
            </a:r>
          </a:p>
        </p:txBody>
      </p:sp>
      <p:sp>
        <p:nvSpPr>
          <p:cNvPr id="8" name="Rectangle 7"/>
          <p:cNvSpPr/>
          <p:nvPr/>
        </p:nvSpPr>
        <p:spPr>
          <a:xfrm>
            <a:off x="952500" y="1473200"/>
            <a:ext cx="1524000" cy="88900"/>
          </a:xfrm>
          <a:prstGeom prst="rect">
            <a:avLst/>
          </a:prstGeom>
          <a:solidFill>
            <a:srgbClr val="F6B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52500" y="1879599"/>
            <a:ext cx="6350000" cy="15875"/>
          </a:xfrm>
          <a:prstGeom prst="rect">
            <a:avLst/>
          </a:prstGeom>
          <a:solidFill>
            <a:srgbClr val="1A1C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2500" y="2019300"/>
            <a:ext cx="508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4000" y="2019300"/>
            <a:ext cx="57785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Domkratų raida: nuo jėgos laimėjimo (svertas, sraigtas) per hidrauliką iki ergonomikos ir automatizacijos.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52500" y="2927350"/>
            <a:ext cx="6350000" cy="15875"/>
          </a:xfrm>
          <a:prstGeom prst="rect">
            <a:avLst/>
          </a:prstGeom>
          <a:solidFill>
            <a:srgbClr val="1A1C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2500" y="3067050"/>
            <a:ext cx="508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" y="3067050"/>
            <a:ext cx="57785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Žirklinis domkratas pasiteisino kompaktiškumu ir savistabdžiu sriegiu, bet atsilieka greičiu, ergonomika ir stabilumu.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2500" y="3975100"/>
            <a:ext cx="6350000" cy="15875"/>
          </a:xfrm>
          <a:prstGeom prst="rect">
            <a:avLst/>
          </a:prstGeom>
          <a:solidFill>
            <a:srgbClr val="1A1C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500" y="4114800"/>
            <a:ext cx="508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4000" y="4114800"/>
            <a:ext cx="57785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Siūlome: 12 V elektrinę pavarą, Tr18×4 sraigtą su bronzine veržle, stipresnes svirtis ir platesnį pagrindą.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2500" y="5022850"/>
            <a:ext cx="6350000" cy="15875"/>
          </a:xfrm>
          <a:prstGeom prst="rect">
            <a:avLst/>
          </a:prstGeom>
          <a:solidFill>
            <a:srgbClr val="1A1C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2500" y="5162550"/>
            <a:ext cx="508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" y="5162550"/>
            <a:ext cx="57785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Kompromisas – šiek tiek didesnė masė ir kaina, kurias pateisina greitis ir sauga.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6999" y="1879599"/>
            <a:ext cx="3810000" cy="2540000"/>
          </a:xfrm>
          <a:prstGeom prst="rect">
            <a:avLst/>
          </a:prstGeom>
          <a:solidFill>
            <a:srgbClr val="F4F2EC"/>
          </a:solidFill>
          <a:ln w="25400">
            <a:solidFill>
              <a:srgbClr val="1A1C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88300" y="2095499"/>
            <a:ext cx="3302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TA2 PLANAS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88300" y="2565400"/>
            <a:ext cx="190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1500" y="2565400"/>
            <a:ext cx="3175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Naujausių patentų ir straipsnių analizė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88300" y="3009900"/>
            <a:ext cx="190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91500" y="3009900"/>
            <a:ext cx="3175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Sraigto stiprumo, klupumo ir veržlės dilimo skaičiavimai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88300" y="3454400"/>
            <a:ext cx="190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91500" y="3454400"/>
            <a:ext cx="3175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Variklio ir reduktoriaus parinkimas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88300" y="3898900"/>
            <a:ext cx="190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91500" y="3898900"/>
            <a:ext cx="3175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Atitiktis EN 1494, sauga ir aplinkosauga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46999" y="4635500"/>
            <a:ext cx="3810000" cy="1079500"/>
          </a:xfrm>
          <a:prstGeom prst="rect">
            <a:avLst/>
          </a:prstGeom>
          <a:solidFill>
            <a:srgbClr val="F6B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88300" y="4635500"/>
            <a:ext cx="3429000" cy="1079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8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KLAUSIMAI?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c09e3cf2e5c1e07d3fb1208bf6b46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52500" y="215900"/>
            <a:ext cx="520700" cy="203200"/>
          </a:xfrm>
          <a:prstGeom prst="rect">
            <a:avLst/>
          </a:prstGeom>
          <a:solidFill>
            <a:srgbClr val="1A1C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215900"/>
            <a:ext cx="520700" cy="2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6B800"/>
                </a:solidFill>
                <a:latin typeface="Consolas"/>
                <a:ea typeface="Calibri"/>
                <a:cs typeface="Calibri"/>
              </a:rPr>
              <a:t>APA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56000" y="241300"/>
            <a:ext cx="508000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 spc="95">
                <a:solidFill>
                  <a:srgbClr val="5E6268"/>
                </a:solidFill>
                <a:latin typeface="Consolas"/>
                <a:ea typeface="Calibri"/>
                <a:cs typeface="Calibri"/>
              </a:rPr>
              <a:t>ŠALTINIAI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75800" y="241300"/>
            <a:ext cx="190500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A1C1F"/>
                </a:solidFill>
                <a:latin typeface="Consolas"/>
                <a:ea typeface="Calibri"/>
                <a:cs typeface="Calibri"/>
              </a:rPr>
              <a:t>14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660400"/>
            <a:ext cx="10541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5200" b="0" i="0">
                <a:solidFill>
                  <a:srgbClr val="1A1C1F"/>
                </a:solidFill>
                <a:latin typeface="Bahnschrift SemiBold Condensed"/>
                <a:ea typeface="Calibri"/>
                <a:cs typeface="Calibri"/>
              </a:rPr>
              <a:t>ŠALTINIAI</a:t>
            </a:r>
          </a:p>
        </p:txBody>
      </p:sp>
      <p:sp>
        <p:nvSpPr>
          <p:cNvPr id="8" name="Rectangle 7"/>
          <p:cNvSpPr/>
          <p:nvPr/>
        </p:nvSpPr>
        <p:spPr>
          <a:xfrm>
            <a:off x="952500" y="1473200"/>
            <a:ext cx="1524000" cy="88900"/>
          </a:xfrm>
          <a:prstGeom prst="rect">
            <a:avLst/>
          </a:prstGeom>
          <a:solidFill>
            <a:srgbClr val="F6B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2500" y="1905000"/>
            <a:ext cx="50800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Budynas, R. G., &amp; Nisbett, J. K. (2020). </a:t>
            </a:r>
            <a:r>
              <a:rPr sz="1350" i="1" b="0">
                <a:solidFill>
                  <a:srgbClr val="1A1C1F"/>
                </a:solidFill>
                <a:latin typeface="Calibri"/>
              </a:rPr>
              <a:t>Shigley's mechanical engineering design</a:t>
            </a:r>
            <a:r>
              <a:rPr sz="1350" i="0" b="0">
                <a:solidFill>
                  <a:srgbClr val="1A1C1F"/>
                </a:solidFill>
                <a:latin typeface="Calibri"/>
              </a:rPr>
              <a:t> (11th ed.). McGraw-Hill Education.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2857500"/>
            <a:ext cx="50800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Childs, P. R. N. (2014). </a:t>
            </a:r>
            <a:r>
              <a:rPr sz="1350" i="1" b="0">
                <a:solidFill>
                  <a:srgbClr val="1A1C1F"/>
                </a:solidFill>
                <a:latin typeface="Calibri"/>
              </a:rPr>
              <a:t>Mechanical design engineering handbook</a:t>
            </a:r>
            <a:r>
              <a:rPr sz="1350" i="0" b="0">
                <a:solidFill>
                  <a:srgbClr val="1A1C1F"/>
                </a:solidFill>
                <a:latin typeface="Calibri"/>
              </a:rPr>
              <a:t>. Butterworth-Heinemann.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810000"/>
            <a:ext cx="50800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European Committee for Standardization. (2008). </a:t>
            </a:r>
            <a:r>
              <a:rPr sz="1350" i="1" b="0">
                <a:solidFill>
                  <a:srgbClr val="1A1C1F"/>
                </a:solidFill>
                <a:latin typeface="Calibri"/>
              </a:rPr>
              <a:t>Mobile or movable jacks and associated lifting equipment</a:t>
            </a:r>
            <a:r>
              <a:rPr sz="1350" i="0" b="0">
                <a:solidFill>
                  <a:srgbClr val="1A1C1F"/>
                </a:solidFill>
                <a:latin typeface="Calibri"/>
              </a:rPr>
              <a:t> (EN 1494:2000+A1:2008).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4762500"/>
            <a:ext cx="50800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European Committee for Standardization. (2019). </a:t>
            </a:r>
            <a:r>
              <a:rPr sz="1350" i="1" b="0">
                <a:solidFill>
                  <a:srgbClr val="1A1C1F"/>
                </a:solidFill>
                <a:latin typeface="Calibri"/>
              </a:rPr>
              <a:t>Hot rolled products of structural steels – Part 2</a:t>
            </a:r>
            <a:r>
              <a:rPr sz="1350" i="0" b="0">
                <a:solidFill>
                  <a:srgbClr val="1A1C1F"/>
                </a:solidFill>
                <a:latin typeface="Calibri"/>
              </a:rPr>
              <a:t> (EN 10025-2:2019).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3500" y="1905000"/>
            <a:ext cx="50800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Europos Parlamentas ir Taryba. (2023). </a:t>
            </a:r>
            <a:r>
              <a:rPr sz="1350" i="1" b="0">
                <a:solidFill>
                  <a:srgbClr val="1A1C1F"/>
                </a:solidFill>
                <a:latin typeface="Calibri"/>
              </a:rPr>
              <a:t>Reglamentas (ES) 2023/1230 dėl mašinų</a:t>
            </a:r>
            <a:r>
              <a:rPr sz="1350" i="0" b="0">
                <a:solidFill>
                  <a:srgbClr val="1A1C1F"/>
                </a:solidFill>
                <a:latin typeface="Calibri"/>
              </a:rPr>
              <a:t>. Europos Sąjungos oficialusis leidinys.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3500" y="2857500"/>
            <a:ext cx="50800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Encyclopaedia Britannica. (n.d.). </a:t>
            </a:r>
            <a:r>
              <a:rPr sz="1350" i="1" b="0">
                <a:solidFill>
                  <a:srgbClr val="1A1C1F"/>
                </a:solidFill>
                <a:latin typeface="Calibri"/>
              </a:rPr>
              <a:t>Jack</a:t>
            </a:r>
            <a:r>
              <a:rPr sz="1350" i="0" b="0">
                <a:solidFill>
                  <a:srgbClr val="1A1C1F"/>
                </a:solidFill>
                <a:latin typeface="Calibri"/>
              </a:rPr>
              <a:t>. Britannica. Retrieved [data], from https://www.britannica.com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3500" y="3810000"/>
            <a:ext cx="50800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C1F"/>
                </a:solidFill>
                <a:latin typeface="Calibri"/>
                <a:ea typeface="Calibri"/>
                <a:cs typeface="Calibri"/>
              </a:rPr>
              <a:t>Hi-Lift Jack Company. (n.d.). </a:t>
            </a:r>
            <a:r>
              <a:rPr sz="1350" i="1" b="0">
                <a:solidFill>
                  <a:srgbClr val="1A1C1F"/>
                </a:solidFill>
                <a:latin typeface="Calibri"/>
              </a:rPr>
              <a:t>Our history</a:t>
            </a:r>
            <a:r>
              <a:rPr sz="1350" i="0" b="0">
                <a:solidFill>
                  <a:srgbClr val="1A1C1F"/>
                </a:solidFill>
                <a:latin typeface="Calibri"/>
              </a:rPr>
              <a:t>. Retrieved [data], from https://www.hi-lift.com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52500" y="5905500"/>
            <a:ext cx="10541000" cy="9525"/>
          </a:xfrm>
          <a:prstGeom prst="rect">
            <a:avLst/>
          </a:prstGeom>
          <a:solidFill>
            <a:srgbClr val="CFCD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2500" y="6007100"/>
            <a:ext cx="10541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E6268"/>
                </a:solidFill>
                <a:latin typeface="Consolas"/>
                <a:ea typeface="Calibri"/>
                <a:cs typeface="Calibri"/>
              </a:rPr>
              <a:t>Pastaba: prieš atsiskaitymą patikrinkite kiekvieną šaltinį ir įrašykite peržiūros datas; čia pateikiami tik pristatyme minimi šaltiniai.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