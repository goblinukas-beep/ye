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Laba diena. Mūsų tema – domkratas. Parodysime, kaip domkratai vystėsi, kokias problemas jie turi šiandien ir kaip siūlome patobulinti automobilio žirklinį domkratą.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Domkratą turi beveik kiekvienas automobilis, o jame susitinka pavaros, medžiagos, sauga ir ergonomika.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Raida: nuo sverto ir sraigto per hidrauliką iki elektrinių domkratų. Pagrindinė tendencija – nuo jėgos laimėjimo link greičio, saugos ir patogumo.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Palyginome penkis pagrindinius tipus. Pasiteisino savistabdis sriegis ir hidraulika, o silpnybės – lėtumas, nestabilumas ir sauga. Gilinsimės į žirklinį, nes jis yra kiekvieno automobilio komplekte.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Žirklinis domkratas lėtas ir sunkiai sukamas, ypač pradžioje, nes jėga sraigte F = Q / tg θ. Todėl formuluojame uždavinį – greitesnis, lengviau valdomas ir stabilesnis domkratas.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Siūlome elektrinį žirklinį domkratą. Svarbiausi pakeitimai: 12 V variklis, trapecinis sraigtas iš grūdinto plieno su bronzine veržle, stipresnės svirtys ir platesnis pagrindas. Avarinis rankinis sukimas lieka.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Laimime greitį, jėgą ir stabilumą. Kompromisai – didesnė masė ir kaina. Preliminariai variklio galia apie 100 W, todėl užtenka automobilio 12 V lizdo.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Apibendrinant: žirklinį domkratą siūlome elektrifikuoti ir sustiprinti. TA2 etape atliksime skaičiavimus, patentų analizę ir įvertinsime atitiktį standartams. Ačiū, laukiame klausimų.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194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698480" cy="10972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FFFFFF"/>
                </a:solidFill>
                <a:latin typeface="Calibri"/>
              </a:rPr>
              <a:t>Domkratas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46120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Raida, problemos ir patobulinimo kryptis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69848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95959"/>
                </a:solidFill>
                <a:latin typeface="Calibri"/>
              </a:rPr>
              <a:t>PBL užduotis · Tarpinis atsiskaitymas Nr. 1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595959"/>
                </a:solidFill>
                <a:latin typeface="Calibri"/>
              </a:rPr>
              <a:t>Dalykas: Įvadas į specialybę · Mechanikos inžinerija</a:t>
            </a:r>
          </a:p>
          <a:p>
            <a:pPr>
              <a:spcAft>
                <a:spcPts val="400"/>
              </a:spcAft>
            </a:pPr>
            <a:r>
              <a:rPr sz="1800" b="0">
                <a:solidFill>
                  <a:srgbClr val="595959"/>
                </a:solidFill>
                <a:latin typeface="Calibri"/>
              </a:rPr>
              <a:t>Grupė: [Vardas Pavardė, …] · Dėstytojas: G. Viselga · 2026 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E79"/>
                </a:solidFill>
                <a:latin typeface="Calibri"/>
              </a:rPr>
              <a:t>Kodėl pasirinkome domkratą?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07008"/>
            <a:ext cx="10972800" cy="2743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98480" y="6355080"/>
            <a:ext cx="1005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2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PBL TA1 · Domkratas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4389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200" b="1">
                <a:solidFill>
                  <a:srgbClr val="222222"/>
                </a:solidFill>
                <a:latin typeface="Calibri"/>
              </a:rPr>
              <a:t>• Kasdienis įrenginys</a:t>
            </a:r>
            <a:r>
              <a:rPr sz="2200">
                <a:solidFill>
                  <a:srgbClr val="222222"/>
                </a:solidFill>
                <a:latin typeface="Calibri"/>
              </a:rPr>
              <a:t> – domkratą turi beveik kiekvienas automobilis (ratų keitimas).</a:t>
            </a:r>
          </a:p>
          <a:p>
            <a:pPr>
              <a:spcAft>
                <a:spcPts val="1600"/>
              </a:spcAft>
            </a:pPr>
            <a:r>
              <a:rPr sz="2200" b="1">
                <a:solidFill>
                  <a:srgbClr val="222222"/>
                </a:solidFill>
                <a:latin typeface="Calibri"/>
              </a:rPr>
              <a:t>• Platus taikymas</a:t>
            </a:r>
            <a:r>
              <a:rPr sz="2200">
                <a:solidFill>
                  <a:srgbClr val="222222"/>
                </a:solidFill>
                <a:latin typeface="Calibri"/>
              </a:rPr>
              <a:t> – autoservisai, statyba, geležinkelis, gelbėjimo tarnybos.</a:t>
            </a:r>
          </a:p>
          <a:p>
            <a:pPr>
              <a:spcAft>
                <a:spcPts val="1600"/>
              </a:spcAft>
            </a:pPr>
            <a:r>
              <a:rPr sz="2200" b="1">
                <a:solidFill>
                  <a:srgbClr val="222222"/>
                </a:solidFill>
                <a:latin typeface="Calibri"/>
              </a:rPr>
              <a:t>• Daug mechanikos vienoje vietoje</a:t>
            </a:r>
            <a:r>
              <a:rPr sz="2200">
                <a:solidFill>
                  <a:srgbClr val="222222"/>
                </a:solidFill>
                <a:latin typeface="Calibri"/>
              </a:rPr>
              <a:t> – sraigtinė, krumpliastiebinė ir hidraulinė pavaros, medžiagos, sauga.</a:t>
            </a:r>
          </a:p>
          <a:p>
            <a:pPr>
              <a:spcAft>
                <a:spcPts val="1600"/>
              </a:spcAft>
            </a:pPr>
            <a:r>
              <a:rPr sz="2200" b="1">
                <a:solidFill>
                  <a:srgbClr val="222222"/>
                </a:solidFill>
                <a:latin typeface="Calibri"/>
              </a:rPr>
              <a:t>• Svarbi sauga</a:t>
            </a:r>
            <a:r>
              <a:rPr sz="2200">
                <a:solidFill>
                  <a:srgbClr val="222222"/>
                </a:solidFill>
                <a:latin typeface="Calibri"/>
              </a:rPr>
              <a:t> – domkratas laiko šimtus kilogramų šalia žmogaus; vienam automobilio kampui tenka apie 0,4–0,5 t.</a:t>
            </a:r>
          </a:p>
          <a:p>
            <a:pPr>
              <a:spcAft>
                <a:spcPts val="1600"/>
              </a:spcAft>
            </a:pPr>
            <a:r>
              <a:rPr sz="2200" b="1">
                <a:solidFill>
                  <a:srgbClr val="222222"/>
                </a:solidFill>
                <a:latin typeface="Calibri"/>
              </a:rPr>
              <a:t>• Veikimo principas</a:t>
            </a:r>
            <a:r>
              <a:rPr sz="2200">
                <a:solidFill>
                  <a:srgbClr val="222222"/>
                </a:solidFill>
                <a:latin typeface="Calibri"/>
              </a:rPr>
              <a:t> – nedidele jėga pakeliamas didelis krovinys: sraigtu (svertu) arba hidraulika (Paskalio dėsnis).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E79"/>
                </a:solidFill>
                <a:latin typeface="Calibri"/>
              </a:rPr>
              <a:t>Istorinė raida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07008"/>
            <a:ext cx="10972800" cy="2743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98480" y="6355080"/>
            <a:ext cx="1005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3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PBL TA1 · Domkratas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554480"/>
          <a:ext cx="1088136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503920"/>
              </a:tblGrid>
              <a:tr h="566928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Laikotarpis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Sprendimas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222222"/>
                          </a:solidFill>
                          <a:latin typeface="Calibri"/>
                        </a:rPr>
                        <a:t>III a. pr. Kr.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22222"/>
                          </a:solidFill>
                          <a:latin typeface="Calibri"/>
                        </a:rPr>
                        <a:t>Archimedas aprašo sverto principą – jėgos laimėjimo pagrindą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222222"/>
                          </a:solidFill>
                          <a:latin typeface="Calibri"/>
                        </a:rPr>
                        <a:t>XV–XVI a.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22222"/>
                          </a:solidFill>
                          <a:latin typeface="Calibri"/>
                        </a:rPr>
                        <a:t>Sraigtiniai kėlikliai (sraigtas su veržle), Leonardo da Vinci eskizai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222222"/>
                          </a:solidFill>
                          <a:latin typeface="Calibri"/>
                        </a:rPr>
                        <a:t>1795 m.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22222"/>
                          </a:solidFill>
                          <a:latin typeface="Calibri"/>
                        </a:rPr>
                        <a:t>J. Bramah patentuoja hidraulinį presą (Paskalio dėsnis)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222222"/>
                          </a:solidFill>
                          <a:latin typeface="Calibri"/>
                        </a:rPr>
                        <a:t>1851 m.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22222"/>
                          </a:solidFill>
                          <a:latin typeface="Calibri"/>
                        </a:rPr>
                        <a:t>R. Dudgeon – nešiojamas hidraulinis domkratas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222222"/>
                          </a:solidFill>
                          <a:latin typeface="Calibri"/>
                        </a:rPr>
                        <a:t>XX a.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22222"/>
                          </a:solidFill>
                          <a:latin typeface="Calibri"/>
                        </a:rPr>
                        <a:t>„Hi-Lift“ krumpliastiebinis (1905 m.), žirklinis – automobilio komplekte, vežimėliniai – servisuose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222222"/>
                          </a:solidFill>
                          <a:latin typeface="Calibri"/>
                        </a:rPr>
                        <a:t>XXI a.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22222"/>
                          </a:solidFill>
                          <a:latin typeface="Calibri"/>
                        </a:rPr>
                        <a:t>12 V elektriniai, elektrohidrauliniai domkratai, pneumatinės pagalvės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Šaltiniai: Encyclopaedia Britannica (n.d.); Hi-Lift Jack Company (n.d.).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E79"/>
                </a:solidFill>
                <a:latin typeface="Calibri"/>
              </a:rPr>
              <a:t>Domkratų tipai ir jų vertinimas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07008"/>
            <a:ext cx="10972800" cy="2743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98480" y="6355080"/>
            <a:ext cx="1005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4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PBL TA1 · Domkratas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63040"/>
          <a:ext cx="1088136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2834640"/>
                <a:gridCol w="2926080"/>
              </a:tblGrid>
              <a:tr h="71323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Tipas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Veikimo principas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Pasiteisino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Trūkumai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22222"/>
                          </a:solidFill>
                          <a:latin typeface="Calibri"/>
                        </a:rPr>
                        <a:t>Sraigtinis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Sukamas sraigtas kelia stūmoklį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Savistabdis, patikimas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Lėtas, mažas kėlimo aukštis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22222"/>
                          </a:solidFill>
                          <a:latin typeface="Calibri"/>
                        </a:rPr>
                        <a:t>Krumpliastiebinis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Svirtis su skląsčiu kopia krumpliastiebiu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Labai didelis kėlimo aukštis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Nestabilus, pavojinga rankenos atatranka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22222"/>
                          </a:solidFill>
                          <a:latin typeface="Calibri"/>
                        </a:rPr>
                        <a:t>Žirklinis</a:t>
                      </a:r>
                    </a:p>
                  </a:txBody>
                  <a:tcPr marL="73152" marR="73152" anchor="ctr"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Horizontalus sraigtas suspaudžia rombo formos svirtis</a:t>
                      </a:r>
                    </a:p>
                  </a:txBody>
                  <a:tcPr marL="73152" marR="73152" anchor="ctr"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Kompaktiškas, lengvas, pigus</a:t>
                      </a:r>
                    </a:p>
                  </a:txBody>
                  <a:tcPr marL="73152" marR="73152" anchor="ctr">
                    <a:solidFill>
                      <a:srgbClr val="DEE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Lėtas, sunku sukti, siauras pagrindas</a:t>
                      </a:r>
                    </a:p>
                  </a:txBody>
                  <a:tcPr marL="73152" marR="73152" anchor="ctr">
                    <a:solidFill>
                      <a:srgbClr val="DEEAF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22222"/>
                          </a:solidFill>
                          <a:latin typeface="Calibri"/>
                        </a:rPr>
                        <a:t>Hidraulinis butelinis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Maža pompa spaudžia alyvą po dideliu stūmokliu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Didelė jėga mažame tūryje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Didelis pradinis aukštis, nutekėjimai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22222"/>
                          </a:solidFill>
                          <a:latin typeface="Calibri"/>
                        </a:rPr>
                        <a:t>Hidraulinis vežimėlinis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Hidrocilindras kelia ilgą svirtį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Greitas, stabilus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Sunkus, nenešiojamas, brangus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E79"/>
                </a:solidFill>
                <a:latin typeface="Calibri"/>
              </a:rPr>
              <a:t>Šiuolaikinė problema ir inžinerinis uždavinys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07008"/>
            <a:ext cx="10972800" cy="2743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98480" y="6355080"/>
            <a:ext cx="1005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5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PBL TA1 · Domkratas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F4E79"/>
                </a:solidFill>
                <a:latin typeface="Calibri"/>
              </a:rPr>
              <a:t>Automobilio žirklinio domkrato problemos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48640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222222"/>
                </a:solidFill>
                <a:latin typeface="Calibri"/>
              </a:rPr>
              <a:t>• Lėtas</a:t>
            </a:r>
            <a:r>
              <a:rPr sz="1900">
                <a:solidFill>
                  <a:srgbClr val="222222"/>
                </a:solidFill>
                <a:latin typeface="Calibri"/>
              </a:rPr>
              <a:t> – reikia apie 60–100 rankenos apsisukimų (2–4 min).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222222"/>
                </a:solidFill>
                <a:latin typeface="Calibri"/>
              </a:rPr>
              <a:t>• Sunku sukti</a:t>
            </a:r>
            <a:r>
              <a:rPr sz="1900">
                <a:solidFill>
                  <a:srgbClr val="222222"/>
                </a:solidFill>
                <a:latin typeface="Calibri"/>
              </a:rPr>
              <a:t> – žemoje padėtyje jėga sraigte kelis kartus didesnė už krovinį.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222222"/>
                </a:solidFill>
                <a:latin typeface="Calibri"/>
              </a:rPr>
              <a:t>• Nestabilus</a:t>
            </a:r>
            <a:r>
              <a:rPr sz="1900">
                <a:solidFill>
                  <a:srgbClr val="222222"/>
                </a:solidFill>
                <a:latin typeface="Calibri"/>
              </a:rPr>
              <a:t> – mažas pagrindas slysta ar smenga į minkštą gruntą.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222222"/>
                </a:solidFill>
                <a:latin typeface="Calibri"/>
              </a:rPr>
              <a:t>• Nepatogus</a:t>
            </a:r>
            <a:r>
              <a:rPr sz="1900">
                <a:solidFill>
                  <a:srgbClr val="222222"/>
                </a:solidFill>
                <a:latin typeface="Calibri"/>
              </a:rPr>
              <a:t> – žmogus dirba pasilenkęs, ilgai būna prie kelio.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0" y="1508760"/>
            <a:ext cx="5029200" cy="429768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1691640"/>
            <a:ext cx="4572000" cy="4023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F4E79"/>
                </a:solidFill>
                <a:latin typeface="Calibri"/>
              </a:rPr>
              <a:t>Uždavinys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222222"/>
                </a:solidFill>
                <a:latin typeface="Calibri"/>
              </a:rPr>
              <a:t>Patobulinti žirklinį domkratą, kad jis 1,5 t automobilį pakeltų greičiau nei per 60 s, be didelių fizinių pastangų ir stabiliai, išlaikant kompaktiškumą ir saugumą.</a:t>
            </a:r>
          </a:p>
          <a:p>
            <a:pPr>
              <a:spcAft>
                <a:spcPts val="400"/>
              </a:spcAft>
            </a:pPr>
            <a:r>
              <a:rPr sz="1900" b="1">
                <a:solidFill>
                  <a:srgbClr val="222222"/>
                </a:solidFill>
                <a:latin typeface="Calibri"/>
              </a:rPr>
              <a:t>Tikslai: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keliamoji galia ≥ 1500 kg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kėlimo aukštis 100–400 mm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kėlimo laikas ≤ 60 s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maitinimas iš 12 V automobilio lizdo</a:t>
            </a:r>
          </a:p>
          <a:p>
            <a:pPr>
              <a:spcAft>
                <a:spcPts val="2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masė ≤ 4,5 kg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Apsisukimų skaičius – mūsų įvertinimas.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E79"/>
                </a:solidFill>
                <a:latin typeface="Calibri"/>
              </a:rPr>
              <a:t>Sprendimas: keičiami elementai ir medžiagos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07008"/>
            <a:ext cx="10972800" cy="2743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98480" y="6355080"/>
            <a:ext cx="1005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6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PBL TA1 · Domkratas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63040"/>
          <a:ext cx="10881360" cy="4352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651760"/>
                <a:gridCol w="3291840"/>
                <a:gridCol w="3200400"/>
              </a:tblGrid>
              <a:tr h="62179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Elementas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Dabar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Siūloma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Kodėl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22222"/>
                          </a:solidFill>
                          <a:latin typeface="Calibri"/>
                        </a:rPr>
                        <a:t>Pavara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Rankinė rankena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12 V variklis (~100 W) + reduktorius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Greitai, be fizinių pastangų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22222"/>
                          </a:solidFill>
                          <a:latin typeface="Calibri"/>
                        </a:rPr>
                        <a:t>Sraigtas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Paprastas plienas, metrinis sriegis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Trapecinis Tr18×4, plienas 42CrMo4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Savistabdis, atsparus dilimui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22222"/>
                          </a:solidFill>
                          <a:latin typeface="Calibri"/>
                        </a:rPr>
                        <a:t>Veržlė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Plieninė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Bronza CuSn12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Mažesnė trintis, mažiau dyla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22222"/>
                          </a:solidFill>
                          <a:latin typeface="Calibri"/>
                        </a:rPr>
                        <a:t>Svirtys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Plienas S235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Plienas S420MC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~1,8 karto stipresnės, ta pati masė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22222"/>
                          </a:solidFill>
                          <a:latin typeface="Calibri"/>
                        </a:rPr>
                        <a:t>Pagrindas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~130×80 mm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~200×120 mm su guminiu padu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Stabilesnis, neslysta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22222"/>
                          </a:solidFill>
                          <a:latin typeface="Calibri"/>
                        </a:rPr>
                        <a:t>Sauga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Galiniai jungikliai, perkrovos apsauga, avarinis rankinis sukimas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22222"/>
                          </a:solidFill>
                          <a:latin typeface="Calibri"/>
                        </a:rPr>
                        <a:t>Veikia ir dingus elektrai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E79"/>
                </a:solidFill>
                <a:latin typeface="Calibri"/>
              </a:rPr>
              <a:t>Įprastas ir patobulintas domkratas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07008"/>
            <a:ext cx="10972800" cy="2743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98480" y="6355080"/>
            <a:ext cx="1005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7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PBL TA1 · Domkratas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63040"/>
          <a:ext cx="67665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94560"/>
                <a:gridCol w="2194560"/>
              </a:tblGrid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Parametras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Įprastas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Patobulintas</a:t>
                      </a:r>
                    </a:p>
                  </a:txBody>
                  <a:tcPr marL="73152" marR="73152" anchor="ctr">
                    <a:solidFill>
                      <a:srgbClr val="1F4E7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222222"/>
                          </a:solidFill>
                          <a:latin typeface="Calibri"/>
                        </a:rPr>
                        <a:t>Kėlimo laikas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22222"/>
                          </a:solidFill>
                          <a:latin typeface="Calibri"/>
                        </a:rPr>
                        <a:t>~2–4 min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22222"/>
                          </a:solidFill>
                          <a:latin typeface="Calibri"/>
                        </a:rPr>
                        <a:t>≤ 60 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222222"/>
                          </a:solidFill>
                          <a:latin typeface="Calibri"/>
                        </a:rPr>
                        <a:t>Rankos jėga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22222"/>
                          </a:solidFill>
                          <a:latin typeface="Calibri"/>
                        </a:rPr>
                        <a:t>~100–200 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22222"/>
                          </a:solidFill>
                          <a:latin typeface="Calibri"/>
                        </a:rPr>
                        <a:t>nereikia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222222"/>
                          </a:solidFill>
                          <a:latin typeface="Calibri"/>
                        </a:rPr>
                        <a:t>Pagrindo plotas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22222"/>
                          </a:solidFill>
                          <a:latin typeface="Calibri"/>
                        </a:rPr>
                        <a:t>~100 cm²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22222"/>
                          </a:solidFill>
                          <a:latin typeface="Calibri"/>
                        </a:rPr>
                        <a:t>~240 cm²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222222"/>
                          </a:solidFill>
                          <a:latin typeface="Calibri"/>
                        </a:rPr>
                        <a:t>Masė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22222"/>
                          </a:solidFill>
                          <a:latin typeface="Calibri"/>
                        </a:rPr>
                        <a:t>~3 kg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22222"/>
                          </a:solidFill>
                          <a:latin typeface="Calibri"/>
                        </a:rPr>
                        <a:t>~4,5 kg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222222"/>
                          </a:solidFill>
                          <a:latin typeface="Calibri"/>
                        </a:rPr>
                        <a:t>Kaina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22222"/>
                          </a:solidFill>
                          <a:latin typeface="Calibri"/>
                        </a:rPr>
                        <a:t>~20–30 €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222222"/>
                          </a:solidFill>
                          <a:latin typeface="Calibri"/>
                        </a:rPr>
                        <a:t>~60–80 €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0" y="1463040"/>
            <a:ext cx="384048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2100" b="1">
                <a:solidFill>
                  <a:srgbClr val="1F4E79"/>
                </a:solidFill>
                <a:latin typeface="Calibri"/>
              </a:rPr>
              <a:t>Preliminarus skaičiavimas</a:t>
            </a:r>
          </a:p>
          <a:p>
            <a:pPr>
              <a:spcAft>
                <a:spcPts val="200"/>
              </a:spcAft>
            </a:pPr>
            <a:r>
              <a:rPr sz="1800" b="1">
                <a:solidFill>
                  <a:srgbClr val="222222"/>
                </a:solidFill>
                <a:latin typeface="Calibri"/>
              </a:rPr>
              <a:t>Variklio galia: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P ≈ Q·h / (t·η) = 5000·0,25 / (45·0,3) ≈ 93 W</a:t>
            </a:r>
          </a:p>
          <a:p>
            <a:pPr>
              <a:spcAft>
                <a:spcPts val="200"/>
              </a:spcAft>
            </a:pPr>
            <a:r>
              <a:rPr sz="1800" b="1">
                <a:solidFill>
                  <a:srgbClr val="222222"/>
                </a:solidFill>
                <a:latin typeface="Calibri"/>
              </a:rPr>
              <a:t>Srovė iš 12 V lizdo: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≈ 8 A (saugiklis 15 A)</a:t>
            </a:r>
          </a:p>
          <a:p>
            <a:pPr>
              <a:spcAft>
                <a:spcPts val="200"/>
              </a:spcAft>
            </a:pPr>
            <a:r>
              <a:rPr sz="1800" b="1">
                <a:solidFill>
                  <a:srgbClr val="222222"/>
                </a:solidFill>
                <a:latin typeface="Calibri"/>
              </a:rPr>
              <a:t>Savistabdumas: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kėlimo kampas ψ = 4,5° &lt; trinties kampas φ′ ≈ 5,9° – krovinys nenusileidžia savaime.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95959"/>
                </a:solidFill>
                <a:latin typeface="Calibri"/>
              </a:rPr>
              <a:t>Visos vertės apytikslės; tikslūs skaičiavimai bus TA2 etape.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E79"/>
                </a:solidFill>
                <a:latin typeface="Calibri"/>
              </a:rPr>
              <a:t>Išvados ir tolesni darbai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07008"/>
            <a:ext cx="10972800" cy="2743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98480" y="6355080"/>
            <a:ext cx="1005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8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PBL TA1 · Domkratas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40080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Domkratai vystėsi nuo jėgos laimėjimo (svertas, sraigtas) per hidrauliką iki saugos ir patogumo.</a:t>
            </a:r>
          </a:p>
          <a:p>
            <a:pPr>
              <a:spcAft>
                <a:spcPts val="16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Žirklinis domkratas kompaktiškas ir savistabdis, bet lėtas, sunkiai sukamas ir nestabilus.</a:t>
            </a:r>
          </a:p>
          <a:p>
            <a:pPr>
              <a:spcAft>
                <a:spcPts val="16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Siūlome 12 V elektrinę pavarą, Tr18×4 sraigtą su bronzine veržle, stipresnes svirtis ir platesnį pagrindą.</a:t>
            </a:r>
          </a:p>
          <a:p>
            <a:pPr>
              <a:spcAft>
                <a:spcPts val="16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• Kompromisas – šiek tiek didesnė masė ir kaina.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6640" y="1600200"/>
            <a:ext cx="4114800" cy="310896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35240" y="1737360"/>
            <a:ext cx="365760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100" b="1">
                <a:solidFill>
                  <a:srgbClr val="1F4E79"/>
                </a:solidFill>
                <a:latin typeface="Calibri"/>
              </a:rPr>
              <a:t>TA2 etape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naujausių patentų ir straipsnių analizė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sraigto ir veržlės stiprumo skaičiavimai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variklio ir reduktoriaus parinkimas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• atitiktis standartui EN 1494, sauga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4937760"/>
            <a:ext cx="4114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3200" b="1">
                <a:solidFill>
                  <a:srgbClr val="1F4E79"/>
                </a:solidFill>
                <a:latin typeface="Calibri"/>
              </a:rPr>
              <a:t>Klausimai?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1F4E79"/>
                </a:solidFill>
                <a:latin typeface="Calibri"/>
              </a:rPr>
              <a:t>Šaltiniai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207008"/>
            <a:ext cx="10972800" cy="2743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98480" y="6355080"/>
            <a:ext cx="1005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9 /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95959"/>
                </a:solidFill>
                <a:latin typeface="Calibri"/>
              </a:rPr>
              <a:t>PBL TA1 · Domkratas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Budynas, R. G., &amp; Nisbett, J. K. (2020). </a:t>
            </a:r>
            <a:r>
              <a:rPr sz="1800" i="1">
                <a:solidFill>
                  <a:srgbClr val="222222"/>
                </a:solidFill>
                <a:latin typeface="Calibri"/>
              </a:rPr>
              <a:t>Shigley's mechanical engineering design</a:t>
            </a:r>
            <a:r>
              <a:rPr sz="1800" i="0">
                <a:solidFill>
                  <a:srgbClr val="222222"/>
                </a:solidFill>
                <a:latin typeface="Calibri"/>
              </a:rPr>
              <a:t> (11th ed.). McGraw-Hill Education.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Childs, P. R. N. (2014). </a:t>
            </a:r>
            <a:r>
              <a:rPr sz="1800" i="1">
                <a:solidFill>
                  <a:srgbClr val="222222"/>
                </a:solidFill>
                <a:latin typeface="Calibri"/>
              </a:rPr>
              <a:t>Mechanical design engineering handbook</a:t>
            </a:r>
            <a:r>
              <a:rPr sz="1800" i="0">
                <a:solidFill>
                  <a:srgbClr val="222222"/>
                </a:solidFill>
                <a:latin typeface="Calibri"/>
              </a:rPr>
              <a:t>. Butterworth-Heinemann.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European Committee for Standardization. (2008). </a:t>
            </a:r>
            <a:r>
              <a:rPr sz="1800" i="1">
                <a:solidFill>
                  <a:srgbClr val="222222"/>
                </a:solidFill>
                <a:latin typeface="Calibri"/>
              </a:rPr>
              <a:t>Mobile or movable jacks and associated lifting equipment</a:t>
            </a:r>
            <a:r>
              <a:rPr sz="1800" i="0">
                <a:solidFill>
                  <a:srgbClr val="222222"/>
                </a:solidFill>
                <a:latin typeface="Calibri"/>
              </a:rPr>
              <a:t> (EN 1494:2000+A1:2008).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Europos Parlamentas ir Taryba. (2023). </a:t>
            </a:r>
            <a:r>
              <a:rPr sz="1800" i="1">
                <a:solidFill>
                  <a:srgbClr val="222222"/>
                </a:solidFill>
                <a:latin typeface="Calibri"/>
              </a:rPr>
              <a:t>Reglamentas (ES) 2023/1230 dėl mašinų</a:t>
            </a:r>
            <a:r>
              <a:rPr sz="1800" i="0">
                <a:solidFill>
                  <a:srgbClr val="222222"/>
                </a:solidFill>
                <a:latin typeface="Calibri"/>
              </a:rPr>
              <a:t>. Europos Sąjungos oficialusis leidinys.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Encyclopaedia Britannica. (n.d.). </a:t>
            </a:r>
            <a:r>
              <a:rPr sz="1800" i="1">
                <a:solidFill>
                  <a:srgbClr val="222222"/>
                </a:solidFill>
                <a:latin typeface="Calibri"/>
              </a:rPr>
              <a:t>Jack</a:t>
            </a:r>
            <a:r>
              <a:rPr sz="1800" i="0">
                <a:solidFill>
                  <a:srgbClr val="222222"/>
                </a:solidFill>
                <a:latin typeface="Calibri"/>
              </a:rPr>
              <a:t>. Retrieved [data], from https://www.britannica.com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Hi-Lift Jack Company. (n.d.). </a:t>
            </a:r>
            <a:r>
              <a:rPr sz="1800" i="1">
                <a:solidFill>
                  <a:srgbClr val="222222"/>
                </a:solidFill>
                <a:latin typeface="Calibri"/>
              </a:rPr>
              <a:t>Our history</a:t>
            </a:r>
            <a:r>
              <a:rPr sz="1800" i="0">
                <a:solidFill>
                  <a:srgbClr val="222222"/>
                </a:solidFill>
                <a:latin typeface="Calibri"/>
              </a:rPr>
              <a:t>. Retrieved [data], from https://www.hi-lift.com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