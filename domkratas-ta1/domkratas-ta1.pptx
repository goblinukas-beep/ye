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Laba diena. Mūsų tema – automobilinis domkratas. Papasakosime, kodėl jo prireikė, kaip jis keitėsi per keturis žingsnius – kiekvienas iš mūsų pristatys vieną – ir ką siūlome patobulinti.</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Domkrato funkcija – nedidele žmogaus jėga pakelti sunkų krovinį, pavyzdžiui, automobilio kampą. Tai pavyksta dėl sverto ir sraigto arba dėl hidraulikos. Domkratai buvo naudojami dar vežimams, o atsiradus automobiliams, padangos prakiurdavo labai dažnai, todėl domkrato reikėjo kiekviename automobilyje.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Čia visi domkratų tipai surikiuoti pagal atsiradimo laiką. Paryškinti keturi, kuriuos pristatysime išsamiai – kiekvienas iš mūsų po vieną. Kitų tipų panaudojimą aptarsime skaidrėje „Pritaikymas“.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Pirmieji paplitę domkratai buvo sraigtiniai. Sukant rankeną sraigtas kyla ir kelia krovinį. Jie paprasti ir savistabdžiai, bet lėti ir sunkiai sukami, nes didelė trintis suvalgo daug energijos.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1851 m. Richardas Dudgeonas patentavo nešiojamą hidraulinį presą. Jis pats rašė, kad šis atliks darbą, kurį iki tol darė sraigtas. Hidraulika leido mažomis pastangomis kelti labai sunkius krovinius, tačiau butelinis domkratas yra aukštas ir netelpa po žemu automobiliu.</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1920 m. Joseph LaFrance patentavo domkratą, skirtą būtent automobiliams. Rombo formos svirtys leidžia jam būti žemam ir lengvam, todėl jis telpa bagažinėje. 1949 m. W. P. Brown patentavo patobulintą žirklinį domkratą. Tačiau sukti reikia ilgai, o siauras pagrindas ant minkšto grunto nestabilus.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Hidraulinis domkratas sumažino reikiamą jėgą, bet pumpuoti rankena ilgai buvo varginanti. 1966 m. Donald Juds pateikė patentą kombinuotam domkratui: alyvą pumpuoja suslėgtas oras iš kompresoriaus, o dingus orui domkratas veikia rankiniu būdu. Tai greita ir patogu servise, bet kelyje kompresoriaus paprastai nėra.</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Kiekvienas domkratų tipas rado savo vietą. Žirklinis – automobilio bagažinėje, vežimėlinis ir pneumohidraulinis – servisuose, butelinis – sunkiai technikai, krumpliastiebinis – visureigiams ir ūkiams, elektrinis – tiems, kam sunku sukti rankena.</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Kelios kompanijos sukūrė svarbiausius domkratus ir kai kurios veikia iki šiol. Dudgeon įmonė įkurta 1849 m. ir tebeveikia, Hi-Lift domkratai iki šiol gaminami Indianoje, o Blackhawk prekės ženklas dabar priklauso Stanley.</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Šiandien automobilyje dažniausiai rasime žirklinį domkratą. Jo trūkumai – lėtas, siauro pagrindo, nestabilus ant minkšto paviršiaus ir nepatogus sukti. Siūlome platesnį pagrindą su guminiu padu, savistabdį trapecinį sraigtą su bronzine veržle, stipresnes svirtis ir patogesnę rankeną.</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Apibendrinant: domkratas keitėsi nuo sraigtinio iki pneumohidraulinio, ir kiekvienas žingsnis sprendė ankstesniojo problemą. Mūsų idėja – stabilesnis ir patvaresnis žirklinis domkratas. Ačiū, laukiame klausimų.</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2011680"/>
            <a:ext cx="12191695" cy="2194560"/>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148840"/>
            <a:ext cx="10698480" cy="1097280"/>
          </a:xfrm>
          <a:prstGeom prst="rect">
            <a:avLst/>
          </a:prstGeom>
          <a:noFill/>
        </p:spPr>
        <p:txBody>
          <a:bodyPr wrap="square" anchor="b" lIns="45720" rIns="45720">
            <a:spAutoFit/>
          </a:bodyPr>
          <a:lstStyle/>
          <a:p>
            <a:pPr algn="l">
              <a:spcAft>
                <a:spcPts val="600"/>
              </a:spcAft>
            </a:pPr>
            <a:r>
              <a:rPr sz="4800" b="1">
                <a:solidFill>
                  <a:srgbClr val="FFFFFF"/>
                </a:solidFill>
                <a:latin typeface="Calibri"/>
              </a:rPr>
              <a:t>Automobilinis domkratas</a:t>
            </a:r>
          </a:p>
        </p:txBody>
      </p:sp>
      <p:sp>
        <p:nvSpPr>
          <p:cNvPr id="4" name="TextBox 3"/>
          <p:cNvSpPr txBox="1"/>
          <p:nvPr/>
        </p:nvSpPr>
        <p:spPr>
          <a:xfrm>
            <a:off x="731520" y="3246120"/>
            <a:ext cx="10698480" cy="822960"/>
          </a:xfrm>
          <a:prstGeom prst="rect">
            <a:avLst/>
          </a:prstGeom>
          <a:noFill/>
        </p:spPr>
        <p:txBody>
          <a:bodyPr wrap="square" anchor="t" lIns="45720" rIns="45720">
            <a:spAutoFit/>
          </a:bodyPr>
          <a:lstStyle/>
          <a:p>
            <a:pPr algn="l">
              <a:spcAft>
                <a:spcPts val="600"/>
              </a:spcAft>
            </a:pPr>
            <a:r>
              <a:rPr sz="2400" b="0">
                <a:solidFill>
                  <a:srgbClr val="FFFFFF"/>
                </a:solidFill>
                <a:latin typeface="Calibri"/>
              </a:rPr>
              <a:t>Kaip jis keitėsi ir ką galima patobulinti</a:t>
            </a:r>
          </a:p>
        </p:txBody>
      </p:sp>
      <p:sp>
        <p:nvSpPr>
          <p:cNvPr id="5" name="TextBox 4"/>
          <p:cNvSpPr txBox="1"/>
          <p:nvPr/>
        </p:nvSpPr>
        <p:spPr>
          <a:xfrm>
            <a:off x="731520" y="4572000"/>
            <a:ext cx="10698480" cy="1645920"/>
          </a:xfrm>
          <a:prstGeom prst="rect">
            <a:avLst/>
          </a:prstGeom>
          <a:noFill/>
        </p:spPr>
        <p:txBody>
          <a:bodyPr wrap="square" anchor="t" lIns="45720" rIns="45720">
            <a:spAutoFit/>
          </a:bodyPr>
          <a:lstStyle/>
          <a:p>
            <a:pPr algn="l">
              <a:spcAft>
                <a:spcPts val="400"/>
              </a:spcAft>
            </a:pPr>
            <a:r>
              <a:rPr sz="1800" b="0">
                <a:solidFill>
                  <a:srgbClr val="595959"/>
                </a:solidFill>
                <a:latin typeface="Calibri"/>
              </a:rPr>
              <a:t>PBL užduotis · Tarpinis atsiskaitymas Nr. 1</a:t>
            </a:r>
          </a:p>
          <a:p>
            <a:pPr>
              <a:spcAft>
                <a:spcPts val="400"/>
              </a:spcAft>
            </a:pPr>
            <a:r>
              <a:rPr sz="1800" b="0">
                <a:solidFill>
                  <a:srgbClr val="595959"/>
                </a:solidFill>
                <a:latin typeface="Calibri"/>
              </a:rPr>
              <a:t>Dalykas: Įvadas į specialybę · Mechanikos inžinerija</a:t>
            </a:r>
          </a:p>
          <a:p>
            <a:pPr>
              <a:spcAft>
                <a:spcPts val="400"/>
              </a:spcAft>
            </a:pPr>
            <a:r>
              <a:rPr sz="1800" b="0">
                <a:solidFill>
                  <a:srgbClr val="595959"/>
                </a:solidFill>
                <a:latin typeface="Calibri"/>
              </a:rPr>
              <a:t>Grupė: [Vardas Pavardė ×4] · Dėstytojas: G. Viselga · 2026 m.</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822960"/>
          </a:xfrm>
          <a:prstGeom prst="rect">
            <a:avLst/>
          </a:prstGeom>
          <a:noFill/>
        </p:spPr>
        <p:txBody>
          <a:bodyPr wrap="square" anchor="b" lIns="45720" rIns="45720">
            <a:spAutoFit/>
          </a:bodyPr>
          <a:lstStyle/>
          <a:p>
            <a:pPr algn="l">
              <a:spcAft>
                <a:spcPts val="600"/>
              </a:spcAft>
            </a:pPr>
            <a:r>
              <a:rPr sz="3200" b="1">
                <a:solidFill>
                  <a:srgbClr val="1F4E79"/>
                </a:solidFill>
                <a:latin typeface="Calibri"/>
              </a:rPr>
              <a:t>Funkcija: kam reikalingas domkratas?</a:t>
            </a:r>
          </a:p>
        </p:txBody>
      </p:sp>
      <p:sp>
        <p:nvSpPr>
          <p:cNvPr id="3" name="Rectangle 2"/>
          <p:cNvSpPr/>
          <p:nvPr/>
        </p:nvSpPr>
        <p:spPr>
          <a:xfrm>
            <a:off x="594360" y="1207008"/>
            <a:ext cx="10972800" cy="27432"/>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698480" y="6355080"/>
            <a:ext cx="1005840" cy="365760"/>
          </a:xfrm>
          <a:prstGeom prst="rect">
            <a:avLst/>
          </a:prstGeom>
          <a:noFill/>
        </p:spPr>
        <p:txBody>
          <a:bodyPr wrap="square" anchor="t" lIns="45720" rIns="45720">
            <a:spAutoFit/>
          </a:bodyPr>
          <a:lstStyle/>
          <a:p>
            <a:pPr algn="r">
              <a:spcAft>
                <a:spcPts val="600"/>
              </a:spcAft>
            </a:pPr>
            <a:r>
              <a:rPr sz="1200" b="0">
                <a:solidFill>
                  <a:srgbClr val="595959"/>
                </a:solidFill>
                <a:latin typeface="Calibri"/>
              </a:rPr>
              <a:t>2 / 12</a:t>
            </a:r>
          </a:p>
        </p:txBody>
      </p:sp>
      <p:sp>
        <p:nvSpPr>
          <p:cNvPr id="5" name="TextBox 4"/>
          <p:cNvSpPr txBox="1"/>
          <p:nvPr/>
        </p:nvSpPr>
        <p:spPr>
          <a:xfrm>
            <a:off x="548640" y="6355080"/>
            <a:ext cx="7315200" cy="365760"/>
          </a:xfrm>
          <a:prstGeom prst="rect">
            <a:avLst/>
          </a:prstGeom>
          <a:noFill/>
        </p:spPr>
        <p:txBody>
          <a:bodyPr wrap="square" anchor="t" lIns="45720" rIns="45720">
            <a:spAutoFit/>
          </a:bodyPr>
          <a:lstStyle/>
          <a:p>
            <a:pPr algn="l">
              <a:spcAft>
                <a:spcPts val="600"/>
              </a:spcAft>
            </a:pPr>
            <a:r>
              <a:rPr sz="1200" b="0">
                <a:solidFill>
                  <a:srgbClr val="595959"/>
                </a:solidFill>
                <a:latin typeface="Calibri"/>
              </a:rPr>
              <a:t>PBL · Automobilinis domkratas</a:t>
            </a:r>
          </a:p>
        </p:txBody>
      </p:sp>
      <p:sp>
        <p:nvSpPr>
          <p:cNvPr id="6" name="TextBox 5"/>
          <p:cNvSpPr txBox="1"/>
          <p:nvPr/>
        </p:nvSpPr>
        <p:spPr>
          <a:xfrm>
            <a:off x="640080" y="1554480"/>
            <a:ext cx="6400800" cy="4206240"/>
          </a:xfrm>
          <a:prstGeom prst="rect">
            <a:avLst/>
          </a:prstGeom>
          <a:noFill/>
        </p:spPr>
        <p:txBody>
          <a:bodyPr wrap="square" anchor="t" lIns="45720" rIns="45720">
            <a:spAutoFit/>
          </a:bodyPr>
          <a:lstStyle/>
          <a:p>
            <a:pPr algn="l">
              <a:spcAft>
                <a:spcPts val="1400"/>
              </a:spcAft>
            </a:pPr>
            <a:r>
              <a:rPr sz="2000" b="1">
                <a:solidFill>
                  <a:srgbClr val="222222"/>
                </a:solidFill>
                <a:latin typeface="Calibri"/>
              </a:rPr>
              <a:t>• Funkcija</a:t>
            </a:r>
            <a:r>
              <a:rPr sz="2000" b="0" i="0">
                <a:solidFill>
                  <a:srgbClr val="222222"/>
                </a:solidFill>
                <a:latin typeface="Calibri"/>
              </a:rPr>
              <a:t> – nedidele žmogaus jėga pakelti sunkų krovinį, pvz., automobilio kampą, kad būtų galima pakeisti ratą.</a:t>
            </a:r>
          </a:p>
          <a:p>
            <a:pPr>
              <a:spcAft>
                <a:spcPts val="1400"/>
              </a:spcAft>
            </a:pPr>
            <a:r>
              <a:rPr sz="2000" b="1">
                <a:solidFill>
                  <a:srgbClr val="222222"/>
                </a:solidFill>
                <a:latin typeface="Calibri"/>
              </a:rPr>
              <a:t>• Kaip tai pavyksta</a:t>
            </a:r>
            <a:r>
              <a:rPr sz="2000" b="0" i="0">
                <a:solidFill>
                  <a:srgbClr val="222222"/>
                </a:solidFill>
                <a:latin typeface="Calibri"/>
              </a:rPr>
              <a:t> – sraigtas ar svirtis: maža jėga, bet ilgas kelias; hidraulika: pagal Paskalio dėsnį didesnis stūmoklis duoda didesnę jėgą.</a:t>
            </a:r>
          </a:p>
          <a:p>
            <a:pPr>
              <a:spcAft>
                <a:spcPts val="1400"/>
              </a:spcAft>
            </a:pPr>
            <a:r>
              <a:rPr sz="2000" b="1">
                <a:solidFill>
                  <a:srgbClr val="222222"/>
                </a:solidFill>
                <a:latin typeface="Calibri"/>
              </a:rPr>
              <a:t>• Prieš automobilius</a:t>
            </a:r>
            <a:r>
              <a:rPr sz="2000" b="0" i="0">
                <a:solidFill>
                  <a:srgbClr val="222222"/>
                </a:solidFill>
                <a:latin typeface="Calibri"/>
              </a:rPr>
              <a:t> – vežimams kelti naudoti svertiniai domkratai (dešinėje – 1882 m. vežimo domkratas).</a:t>
            </a:r>
          </a:p>
          <a:p>
            <a:pPr>
              <a:spcAft>
                <a:spcPts val="1400"/>
              </a:spcAft>
            </a:pPr>
            <a:r>
              <a:rPr sz="2000" b="1">
                <a:solidFill>
                  <a:srgbClr val="222222"/>
                </a:solidFill>
                <a:latin typeface="Calibri"/>
              </a:rPr>
              <a:t>• Kodėl prireikė automobiliams</a:t>
            </a:r>
            <a:r>
              <a:rPr sz="2000" b="0" i="0">
                <a:solidFill>
                  <a:srgbClr val="222222"/>
                </a:solidFill>
                <a:latin typeface="Calibri"/>
              </a:rPr>
              <a:t> – keliuose gulėjo daug pasagų vinių, padangos prakiurdavo labai dažnai, todėl domkrato reikėjo kiekviename automobilyje.</a:t>
            </a:r>
          </a:p>
        </p:txBody>
      </p:sp>
      <p:sp>
        <p:nvSpPr>
          <p:cNvPr id="7" name="Rectangle 6"/>
          <p:cNvSpPr/>
          <p:nvPr/>
        </p:nvSpPr>
        <p:spPr>
          <a:xfrm>
            <a:off x="7498079" y="1463040"/>
            <a:ext cx="4023360" cy="4343400"/>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0-vezimo-bovey-1882.png"/>
          <p:cNvPicPr>
            <a:picLocks noChangeAspect="1"/>
          </p:cNvPicPr>
          <p:nvPr/>
        </p:nvPicPr>
        <p:blipFill>
          <a:blip r:embed="rId3"/>
          <a:stretch>
            <a:fillRect/>
          </a:stretch>
        </p:blipFill>
        <p:spPr>
          <a:xfrm>
            <a:off x="8304187" y="1554480"/>
            <a:ext cx="2411145" cy="4160520"/>
          </a:xfrm>
          <a:prstGeom prst="rect">
            <a:avLst/>
          </a:prstGeom>
        </p:spPr>
      </p:pic>
      <p:sp>
        <p:nvSpPr>
          <p:cNvPr id="9" name="TextBox 8"/>
          <p:cNvSpPr txBox="1"/>
          <p:nvPr/>
        </p:nvSpPr>
        <p:spPr>
          <a:xfrm>
            <a:off x="7498079" y="5833872"/>
            <a:ext cx="4023360" cy="365760"/>
          </a:xfrm>
          <a:prstGeom prst="rect">
            <a:avLst/>
          </a:prstGeom>
          <a:noFill/>
        </p:spPr>
        <p:txBody>
          <a:bodyPr wrap="square" anchor="t" lIns="45720" rIns="45720">
            <a:spAutoFit/>
          </a:bodyPr>
          <a:lstStyle/>
          <a:p>
            <a:pPr algn="l">
              <a:spcAft>
                <a:spcPts val="600"/>
              </a:spcAft>
            </a:pPr>
            <a:r>
              <a:rPr sz="1200" b="0">
                <a:solidFill>
                  <a:srgbClr val="595959"/>
                </a:solidFill>
                <a:latin typeface="Calibri"/>
              </a:rPr>
              <a:t>Brėžinys: G. O. Bovey, JAV patentas Nr. 260,276 (1882)</a:t>
            </a:r>
          </a:p>
        </p:txBody>
      </p:sp>
      <p:sp>
        <p:nvSpPr>
          <p:cNvPr id="10" name="TextBox 9"/>
          <p:cNvSpPr txBox="1"/>
          <p:nvPr/>
        </p:nvSpPr>
        <p:spPr>
          <a:xfrm>
            <a:off x="640080" y="5897880"/>
            <a:ext cx="6400800" cy="457200"/>
          </a:xfrm>
          <a:prstGeom prst="rect">
            <a:avLst/>
          </a:prstGeom>
          <a:noFill/>
        </p:spPr>
        <p:txBody>
          <a:bodyPr wrap="square" anchor="t" lIns="45720" rIns="45720">
            <a:spAutoFit/>
          </a:bodyPr>
          <a:lstStyle/>
          <a:p>
            <a:pPr algn="l">
              <a:spcAft>
                <a:spcPts val="600"/>
              </a:spcAft>
            </a:pPr>
            <a:r>
              <a:rPr sz="1300" b="0">
                <a:solidFill>
                  <a:srgbClr val="595959"/>
                </a:solidFill>
                <a:latin typeface="Calibri"/>
              </a:rPr>
              <a:t>Šaltiniai: Joyce/Dayton (n.d.); LibreTexts (n.d.); Bovey (1882); Wikipedia (n.d.-d); Junkyard Mob (n.d.).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822960"/>
          </a:xfrm>
          <a:prstGeom prst="rect">
            <a:avLst/>
          </a:prstGeom>
          <a:noFill/>
        </p:spPr>
        <p:txBody>
          <a:bodyPr wrap="square" anchor="b" lIns="45720" rIns="45720">
            <a:spAutoFit/>
          </a:bodyPr>
          <a:lstStyle/>
          <a:p>
            <a:pPr algn="l">
              <a:spcAft>
                <a:spcPts val="600"/>
              </a:spcAft>
            </a:pPr>
            <a:r>
              <a:rPr sz="3200" b="1">
                <a:solidFill>
                  <a:srgbClr val="1F4E79"/>
                </a:solidFill>
                <a:latin typeface="Calibri"/>
              </a:rPr>
              <a:t>Istorija: domkratų raida laiko juostoje</a:t>
            </a:r>
          </a:p>
        </p:txBody>
      </p:sp>
      <p:sp>
        <p:nvSpPr>
          <p:cNvPr id="3" name="Rectangle 2"/>
          <p:cNvSpPr/>
          <p:nvPr/>
        </p:nvSpPr>
        <p:spPr>
          <a:xfrm>
            <a:off x="594360" y="1207008"/>
            <a:ext cx="10972800" cy="27432"/>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698480" y="6355080"/>
            <a:ext cx="1005840" cy="365760"/>
          </a:xfrm>
          <a:prstGeom prst="rect">
            <a:avLst/>
          </a:prstGeom>
          <a:noFill/>
        </p:spPr>
        <p:txBody>
          <a:bodyPr wrap="square" anchor="t" lIns="45720" rIns="45720">
            <a:spAutoFit/>
          </a:bodyPr>
          <a:lstStyle/>
          <a:p>
            <a:pPr algn="r">
              <a:spcAft>
                <a:spcPts val="600"/>
              </a:spcAft>
            </a:pPr>
            <a:r>
              <a:rPr sz="1200" b="0">
                <a:solidFill>
                  <a:srgbClr val="595959"/>
                </a:solidFill>
                <a:latin typeface="Calibri"/>
              </a:rPr>
              <a:t>3 / 12</a:t>
            </a:r>
          </a:p>
        </p:txBody>
      </p:sp>
      <p:sp>
        <p:nvSpPr>
          <p:cNvPr id="5" name="TextBox 4"/>
          <p:cNvSpPr txBox="1"/>
          <p:nvPr/>
        </p:nvSpPr>
        <p:spPr>
          <a:xfrm>
            <a:off x="548640" y="6355080"/>
            <a:ext cx="7315200" cy="365760"/>
          </a:xfrm>
          <a:prstGeom prst="rect">
            <a:avLst/>
          </a:prstGeom>
          <a:noFill/>
        </p:spPr>
        <p:txBody>
          <a:bodyPr wrap="square" anchor="t" lIns="45720" rIns="45720">
            <a:spAutoFit/>
          </a:bodyPr>
          <a:lstStyle/>
          <a:p>
            <a:pPr algn="l">
              <a:spcAft>
                <a:spcPts val="600"/>
              </a:spcAft>
            </a:pPr>
            <a:r>
              <a:rPr sz="1200" b="0">
                <a:solidFill>
                  <a:srgbClr val="595959"/>
                </a:solidFill>
                <a:latin typeface="Calibri"/>
              </a:rPr>
              <a:t>PBL · Automobilinis domkratas</a:t>
            </a:r>
          </a:p>
        </p:txBody>
      </p:sp>
      <p:graphicFrame>
        <p:nvGraphicFramePr>
          <p:cNvPr id="6" name="Table 5"/>
          <p:cNvGraphicFramePr>
            <a:graphicFrameLocks noGrp="1"/>
          </p:cNvGraphicFramePr>
          <p:nvPr/>
        </p:nvGraphicFramePr>
        <p:xfrm>
          <a:off x="640080" y="1463040"/>
          <a:ext cx="10881360" cy="4242816"/>
        </p:xfrm>
        <a:graphic>
          <a:graphicData uri="http://schemas.openxmlformats.org/drawingml/2006/table">
            <a:tbl>
              <a:tblPr firstRow="1" bandRow="1">
                <a:tableStyleId>{5C22544A-7EE6-4342-B048-85BDC9FD1C3A}</a:tableStyleId>
              </a:tblPr>
              <a:tblGrid>
                <a:gridCol w="1554480"/>
                <a:gridCol w="2743200"/>
                <a:gridCol w="3291840"/>
                <a:gridCol w="3291840"/>
              </a:tblGrid>
              <a:tr h="530352">
                <a:tc>
                  <a:txBody>
                    <a:bodyPr/>
                    <a:lstStyle/>
                    <a:p>
                      <a:r>
                        <a:rPr sz="1500" b="1" i="0">
                          <a:solidFill>
                            <a:srgbClr val="FFFFFF"/>
                          </a:solidFill>
                          <a:latin typeface="Calibri"/>
                        </a:rPr>
                        <a:t>Laikas</a:t>
                      </a:r>
                    </a:p>
                  </a:txBody>
                  <a:tcPr marL="73152" marR="73152" anchor="ctr">
                    <a:solidFill>
                      <a:srgbClr val="1F4E79"/>
                    </a:solidFill>
                  </a:tcPr>
                </a:tc>
                <a:tc>
                  <a:txBody>
                    <a:bodyPr/>
                    <a:lstStyle/>
                    <a:p>
                      <a:r>
                        <a:rPr sz="1500" b="1" i="0">
                          <a:solidFill>
                            <a:srgbClr val="FFFFFF"/>
                          </a:solidFill>
                          <a:latin typeface="Calibri"/>
                        </a:rPr>
                        <a:t>Tipas</a:t>
                      </a:r>
                    </a:p>
                  </a:txBody>
                  <a:tcPr marL="73152" marR="73152" anchor="ctr">
                    <a:solidFill>
                      <a:srgbClr val="1F4E79"/>
                    </a:solidFill>
                  </a:tcPr>
                </a:tc>
                <a:tc>
                  <a:txBody>
                    <a:bodyPr/>
                    <a:lstStyle/>
                    <a:p>
                      <a:r>
                        <a:rPr sz="1500" b="1" i="0">
                          <a:solidFill>
                            <a:srgbClr val="FFFFFF"/>
                          </a:solidFill>
                          <a:latin typeface="Calibri"/>
                        </a:rPr>
                        <a:t>Ką išsprendė</a:t>
                      </a:r>
                    </a:p>
                  </a:txBody>
                  <a:tcPr marL="73152" marR="73152" anchor="ctr">
                    <a:solidFill>
                      <a:srgbClr val="1F4E79"/>
                    </a:solidFill>
                  </a:tcPr>
                </a:tc>
                <a:tc>
                  <a:txBody>
                    <a:bodyPr/>
                    <a:lstStyle/>
                    <a:p>
                      <a:r>
                        <a:rPr sz="1500" b="1" i="0">
                          <a:solidFill>
                            <a:srgbClr val="FFFFFF"/>
                          </a:solidFill>
                          <a:latin typeface="Calibri"/>
                        </a:rPr>
                        <a:t>Kokia problema liko</a:t>
                      </a:r>
                    </a:p>
                  </a:txBody>
                  <a:tcPr marL="73152" marR="73152" anchor="ctr">
                    <a:solidFill>
                      <a:srgbClr val="1F4E79"/>
                    </a:solidFill>
                  </a:tcPr>
                </a:tc>
              </a:tr>
              <a:tr h="530352">
                <a:tc>
                  <a:txBody>
                    <a:bodyPr/>
                    <a:lstStyle/>
                    <a:p>
                      <a:r>
                        <a:rPr sz="1500" b="1" i="0">
                          <a:solidFill>
                            <a:srgbClr val="222222"/>
                          </a:solidFill>
                          <a:latin typeface="Calibri"/>
                        </a:rPr>
                        <a:t>Iki 1851 m.</a:t>
                      </a:r>
                    </a:p>
                  </a:txBody>
                  <a:tcPr marL="73152" marR="73152" anchor="ctr">
                    <a:solidFill>
                      <a:srgbClr val="DEEAF6"/>
                    </a:solidFill>
                  </a:tcPr>
                </a:tc>
                <a:tc>
                  <a:txBody>
                    <a:bodyPr/>
                    <a:lstStyle/>
                    <a:p>
                      <a:r>
                        <a:rPr sz="1500" b="1" i="0">
                          <a:solidFill>
                            <a:srgbClr val="222222"/>
                          </a:solidFill>
                          <a:latin typeface="Calibri"/>
                        </a:rPr>
                        <a:t>1. Sraigtinis</a:t>
                      </a:r>
                    </a:p>
                  </a:txBody>
                  <a:tcPr marL="73152" marR="73152" anchor="ctr">
                    <a:solidFill>
                      <a:srgbClr val="DEEAF6"/>
                    </a:solidFill>
                  </a:tcPr>
                </a:tc>
                <a:tc>
                  <a:txBody>
                    <a:bodyPr/>
                    <a:lstStyle/>
                    <a:p>
                      <a:r>
                        <a:rPr sz="1500" b="1" i="0">
                          <a:solidFill>
                            <a:srgbClr val="222222"/>
                          </a:solidFill>
                          <a:latin typeface="Calibri"/>
                        </a:rPr>
                        <a:t>Paprastas ir savistabdis</a:t>
                      </a:r>
                    </a:p>
                  </a:txBody>
                  <a:tcPr marL="73152" marR="73152" anchor="ctr">
                    <a:solidFill>
                      <a:srgbClr val="DEEAF6"/>
                    </a:solidFill>
                  </a:tcPr>
                </a:tc>
                <a:tc>
                  <a:txBody>
                    <a:bodyPr/>
                    <a:lstStyle/>
                    <a:p>
                      <a:r>
                        <a:rPr sz="1500" b="1" i="0">
                          <a:solidFill>
                            <a:srgbClr val="222222"/>
                          </a:solidFill>
                          <a:latin typeface="Calibri"/>
                        </a:rPr>
                        <a:t>Lėtas, reikia daug jėgos</a:t>
                      </a:r>
                    </a:p>
                  </a:txBody>
                  <a:tcPr marL="73152" marR="73152" anchor="ctr">
                    <a:solidFill>
                      <a:srgbClr val="DEEAF6"/>
                    </a:solidFill>
                  </a:tcPr>
                </a:tc>
              </a:tr>
              <a:tr h="530352">
                <a:tc>
                  <a:txBody>
                    <a:bodyPr/>
                    <a:lstStyle/>
                    <a:p>
                      <a:r>
                        <a:rPr sz="1500" b="1" i="0">
                          <a:solidFill>
                            <a:srgbClr val="222222"/>
                          </a:solidFill>
                          <a:latin typeface="Calibri"/>
                        </a:rPr>
                        <a:t>1851 m.</a:t>
                      </a:r>
                    </a:p>
                  </a:txBody>
                  <a:tcPr marL="73152" marR="73152" anchor="ctr">
                    <a:solidFill>
                      <a:srgbClr val="DEEAF6"/>
                    </a:solidFill>
                  </a:tcPr>
                </a:tc>
                <a:tc>
                  <a:txBody>
                    <a:bodyPr/>
                    <a:lstStyle/>
                    <a:p>
                      <a:r>
                        <a:rPr sz="1500" b="1" i="0">
                          <a:solidFill>
                            <a:srgbClr val="222222"/>
                          </a:solidFill>
                          <a:latin typeface="Calibri"/>
                        </a:rPr>
                        <a:t>2. Hidraulinis (butelinis)</a:t>
                      </a:r>
                    </a:p>
                  </a:txBody>
                  <a:tcPr marL="73152" marR="73152" anchor="ctr">
                    <a:solidFill>
                      <a:srgbClr val="DEEAF6"/>
                    </a:solidFill>
                  </a:tcPr>
                </a:tc>
                <a:tc>
                  <a:txBody>
                    <a:bodyPr/>
                    <a:lstStyle/>
                    <a:p>
                      <a:r>
                        <a:rPr sz="1500" b="1" i="0">
                          <a:solidFill>
                            <a:srgbClr val="222222"/>
                          </a:solidFill>
                          <a:latin typeface="Calibri"/>
                        </a:rPr>
                        <a:t>Mažiau jėgos, kelia daugiau</a:t>
                      </a:r>
                    </a:p>
                  </a:txBody>
                  <a:tcPr marL="73152" marR="73152" anchor="ctr">
                    <a:solidFill>
                      <a:srgbClr val="DEEAF6"/>
                    </a:solidFill>
                  </a:tcPr>
                </a:tc>
                <a:tc>
                  <a:txBody>
                    <a:bodyPr/>
                    <a:lstStyle/>
                    <a:p>
                      <a:r>
                        <a:rPr sz="1500" b="1" i="0">
                          <a:solidFill>
                            <a:srgbClr val="222222"/>
                          </a:solidFill>
                          <a:latin typeface="Calibri"/>
                        </a:rPr>
                        <a:t>Per aukštas žemam automobiliui, varginantis pumpavimas</a:t>
                      </a:r>
                    </a:p>
                  </a:txBody>
                  <a:tcPr marL="73152" marR="73152" anchor="ctr">
                    <a:solidFill>
                      <a:srgbClr val="DEEAF6"/>
                    </a:solidFill>
                  </a:tcPr>
                </a:tc>
              </a:tr>
              <a:tr h="530352">
                <a:tc>
                  <a:txBody>
                    <a:bodyPr/>
                    <a:lstStyle/>
                    <a:p>
                      <a:r>
                        <a:rPr sz="1500" b="1" i="0">
                          <a:solidFill>
                            <a:srgbClr val="222222"/>
                          </a:solidFill>
                          <a:latin typeface="Calibri"/>
                        </a:rPr>
                        <a:t>1905 m.</a:t>
                      </a:r>
                    </a:p>
                  </a:txBody>
                  <a:tcPr marL="73152" marR="73152" anchor="ctr">
                    <a:solidFill>
                      <a:srgbClr val="FFFFFF"/>
                    </a:solidFill>
                  </a:tcPr>
                </a:tc>
                <a:tc>
                  <a:txBody>
                    <a:bodyPr/>
                    <a:lstStyle/>
                    <a:p>
                      <a:r>
                        <a:rPr sz="1500" b="0" i="0">
                          <a:solidFill>
                            <a:srgbClr val="222222"/>
                          </a:solidFill>
                          <a:latin typeface="Calibri"/>
                        </a:rPr>
                        <a:t>Krumpliastiebinis</a:t>
                      </a:r>
                    </a:p>
                  </a:txBody>
                  <a:tcPr marL="73152" marR="73152" anchor="ctr">
                    <a:solidFill>
                      <a:srgbClr val="FFFFFF"/>
                    </a:solidFill>
                  </a:tcPr>
                </a:tc>
                <a:tc>
                  <a:txBody>
                    <a:bodyPr/>
                    <a:lstStyle/>
                    <a:p>
                      <a:r>
                        <a:rPr sz="1500" b="0" i="0">
                          <a:solidFill>
                            <a:srgbClr val="222222"/>
                          </a:solidFill>
                          <a:latin typeface="Calibri"/>
                        </a:rPr>
                        <a:t>Kelia labai aukštai</a:t>
                      </a:r>
                    </a:p>
                  </a:txBody>
                  <a:tcPr marL="73152" marR="73152" anchor="ctr">
                    <a:solidFill>
                      <a:srgbClr val="FFFFFF"/>
                    </a:solidFill>
                  </a:tcPr>
                </a:tc>
                <a:tc>
                  <a:txBody>
                    <a:bodyPr/>
                    <a:lstStyle/>
                    <a:p>
                      <a:r>
                        <a:rPr sz="1500" b="0" i="0">
                          <a:solidFill>
                            <a:srgbClr val="222222"/>
                          </a:solidFill>
                          <a:latin typeface="Calibri"/>
                        </a:rPr>
                        <a:t>Pavojinga rankenos atatranka</a:t>
                      </a:r>
                    </a:p>
                  </a:txBody>
                  <a:tcPr marL="73152" marR="73152" anchor="ctr">
                    <a:solidFill>
                      <a:srgbClr val="FFFFFF"/>
                    </a:solidFill>
                  </a:tcPr>
                </a:tc>
              </a:tr>
              <a:tr h="530352">
                <a:tc>
                  <a:txBody>
                    <a:bodyPr/>
                    <a:lstStyle/>
                    <a:p>
                      <a:r>
                        <a:rPr sz="1500" b="1" i="0">
                          <a:solidFill>
                            <a:srgbClr val="222222"/>
                          </a:solidFill>
                          <a:latin typeface="Calibri"/>
                        </a:rPr>
                        <a:t>1910 m.</a:t>
                      </a:r>
                    </a:p>
                  </a:txBody>
                  <a:tcPr marL="73152" marR="73152" anchor="ctr">
                    <a:solidFill>
                      <a:srgbClr val="FFFFFF"/>
                    </a:solidFill>
                  </a:tcPr>
                </a:tc>
                <a:tc>
                  <a:txBody>
                    <a:bodyPr/>
                    <a:lstStyle/>
                    <a:p>
                      <a:r>
                        <a:rPr sz="1500" b="0" i="0">
                          <a:solidFill>
                            <a:srgbClr val="222222"/>
                          </a:solidFill>
                          <a:latin typeface="Calibri"/>
                        </a:rPr>
                        <a:t>Vežimėlinis</a:t>
                      </a:r>
                    </a:p>
                  </a:txBody>
                  <a:tcPr marL="73152" marR="73152" anchor="ctr">
                    <a:solidFill>
                      <a:srgbClr val="FFFFFF"/>
                    </a:solidFill>
                  </a:tcPr>
                </a:tc>
                <a:tc>
                  <a:txBody>
                    <a:bodyPr/>
                    <a:lstStyle/>
                    <a:p>
                      <a:r>
                        <a:rPr sz="1500" b="0" i="0">
                          <a:solidFill>
                            <a:srgbClr val="222222"/>
                          </a:solidFill>
                          <a:latin typeface="Calibri"/>
                        </a:rPr>
                        <a:t>Greitas ir stabilus</a:t>
                      </a:r>
                    </a:p>
                  </a:txBody>
                  <a:tcPr marL="73152" marR="73152" anchor="ctr">
                    <a:solidFill>
                      <a:srgbClr val="FFFFFF"/>
                    </a:solidFill>
                  </a:tcPr>
                </a:tc>
                <a:tc>
                  <a:txBody>
                    <a:bodyPr/>
                    <a:lstStyle/>
                    <a:p>
                      <a:r>
                        <a:rPr sz="1500" b="0" i="0">
                          <a:solidFill>
                            <a:srgbClr val="222222"/>
                          </a:solidFill>
                          <a:latin typeface="Calibri"/>
                        </a:rPr>
                        <a:t>Didelis ir sunkus</a:t>
                      </a:r>
                    </a:p>
                  </a:txBody>
                  <a:tcPr marL="73152" marR="73152" anchor="ctr">
                    <a:solidFill>
                      <a:srgbClr val="FFFFFF"/>
                    </a:solidFill>
                  </a:tcPr>
                </a:tc>
              </a:tr>
              <a:tr h="530352">
                <a:tc>
                  <a:txBody>
                    <a:bodyPr/>
                    <a:lstStyle/>
                    <a:p>
                      <a:r>
                        <a:rPr sz="1500" b="1" i="0">
                          <a:solidFill>
                            <a:srgbClr val="222222"/>
                          </a:solidFill>
                          <a:latin typeface="Calibri"/>
                        </a:rPr>
                        <a:t>1920 m.</a:t>
                      </a:r>
                    </a:p>
                  </a:txBody>
                  <a:tcPr marL="73152" marR="73152" anchor="ctr">
                    <a:solidFill>
                      <a:srgbClr val="DEEAF6"/>
                    </a:solidFill>
                  </a:tcPr>
                </a:tc>
                <a:tc>
                  <a:txBody>
                    <a:bodyPr/>
                    <a:lstStyle/>
                    <a:p>
                      <a:r>
                        <a:rPr sz="1500" b="1" i="0">
                          <a:solidFill>
                            <a:srgbClr val="222222"/>
                          </a:solidFill>
                          <a:latin typeface="Calibri"/>
                        </a:rPr>
                        <a:t>3. Žirklinis</a:t>
                      </a:r>
                    </a:p>
                  </a:txBody>
                  <a:tcPr marL="73152" marR="73152" anchor="ctr">
                    <a:solidFill>
                      <a:srgbClr val="DEEAF6"/>
                    </a:solidFill>
                  </a:tcPr>
                </a:tc>
                <a:tc>
                  <a:txBody>
                    <a:bodyPr/>
                    <a:lstStyle/>
                    <a:p>
                      <a:r>
                        <a:rPr sz="1500" b="1" i="0">
                          <a:solidFill>
                            <a:srgbClr val="222222"/>
                          </a:solidFill>
                          <a:latin typeface="Calibri"/>
                        </a:rPr>
                        <a:t>Žemas, lengvas, telpa bagažinėje</a:t>
                      </a:r>
                    </a:p>
                  </a:txBody>
                  <a:tcPr marL="73152" marR="73152" anchor="ctr">
                    <a:solidFill>
                      <a:srgbClr val="DEEAF6"/>
                    </a:solidFill>
                  </a:tcPr>
                </a:tc>
                <a:tc>
                  <a:txBody>
                    <a:bodyPr/>
                    <a:lstStyle/>
                    <a:p>
                      <a:r>
                        <a:rPr sz="1500" b="1" i="0">
                          <a:solidFill>
                            <a:srgbClr val="222222"/>
                          </a:solidFill>
                          <a:latin typeface="Calibri"/>
                        </a:rPr>
                        <a:t>Lėtas, siauras pagrindas</a:t>
                      </a:r>
                    </a:p>
                  </a:txBody>
                  <a:tcPr marL="73152" marR="73152" anchor="ctr">
                    <a:solidFill>
                      <a:srgbClr val="DEEAF6"/>
                    </a:solidFill>
                  </a:tcPr>
                </a:tc>
              </a:tr>
              <a:tr h="530352">
                <a:tc>
                  <a:txBody>
                    <a:bodyPr/>
                    <a:lstStyle/>
                    <a:p>
                      <a:r>
                        <a:rPr sz="1500" b="1" i="0">
                          <a:solidFill>
                            <a:srgbClr val="222222"/>
                          </a:solidFill>
                          <a:latin typeface="Calibri"/>
                        </a:rPr>
                        <a:t>1966 m.</a:t>
                      </a:r>
                    </a:p>
                  </a:txBody>
                  <a:tcPr marL="73152" marR="73152" anchor="ctr">
                    <a:solidFill>
                      <a:srgbClr val="DEEAF6"/>
                    </a:solidFill>
                  </a:tcPr>
                </a:tc>
                <a:tc>
                  <a:txBody>
                    <a:bodyPr/>
                    <a:lstStyle/>
                    <a:p>
                      <a:r>
                        <a:rPr sz="1500" b="1" i="0">
                          <a:solidFill>
                            <a:srgbClr val="222222"/>
                          </a:solidFill>
                          <a:latin typeface="Calibri"/>
                        </a:rPr>
                        <a:t>4. Pneumohidraulinis</a:t>
                      </a:r>
                    </a:p>
                  </a:txBody>
                  <a:tcPr marL="73152" marR="73152" anchor="ctr">
                    <a:solidFill>
                      <a:srgbClr val="DEEAF6"/>
                    </a:solidFill>
                  </a:tcPr>
                </a:tc>
                <a:tc>
                  <a:txBody>
                    <a:bodyPr/>
                    <a:lstStyle/>
                    <a:p>
                      <a:r>
                        <a:rPr sz="1500" b="1" i="0">
                          <a:solidFill>
                            <a:srgbClr val="222222"/>
                          </a:solidFill>
                          <a:latin typeface="Calibri"/>
                        </a:rPr>
                        <a:t>Nereikia pumpuoti rankomis</a:t>
                      </a:r>
                    </a:p>
                  </a:txBody>
                  <a:tcPr marL="73152" marR="73152" anchor="ctr">
                    <a:solidFill>
                      <a:srgbClr val="DEEAF6"/>
                    </a:solidFill>
                  </a:tcPr>
                </a:tc>
                <a:tc>
                  <a:txBody>
                    <a:bodyPr/>
                    <a:lstStyle/>
                    <a:p>
                      <a:r>
                        <a:rPr sz="1500" b="1" i="0">
                          <a:solidFill>
                            <a:srgbClr val="222222"/>
                          </a:solidFill>
                          <a:latin typeface="Calibri"/>
                        </a:rPr>
                        <a:t>Reikia kompresoriaus</a:t>
                      </a:r>
                    </a:p>
                  </a:txBody>
                  <a:tcPr marL="73152" marR="73152" anchor="ctr">
                    <a:solidFill>
                      <a:srgbClr val="DEEAF6"/>
                    </a:solidFill>
                  </a:tcPr>
                </a:tc>
              </a:tr>
              <a:tr h="530352">
                <a:tc>
                  <a:txBody>
                    <a:bodyPr/>
                    <a:lstStyle/>
                    <a:p>
                      <a:r>
                        <a:rPr sz="1500" b="1" i="0">
                          <a:solidFill>
                            <a:srgbClr val="222222"/>
                          </a:solidFill>
                          <a:latin typeface="Calibri"/>
                        </a:rPr>
                        <a:t>2004 m.</a:t>
                      </a:r>
                    </a:p>
                  </a:txBody>
                  <a:tcPr marL="73152" marR="73152" anchor="ctr">
                    <a:solidFill>
                      <a:srgbClr val="FFFFFF"/>
                    </a:solidFill>
                  </a:tcPr>
                </a:tc>
                <a:tc>
                  <a:txBody>
                    <a:bodyPr/>
                    <a:lstStyle/>
                    <a:p>
                      <a:r>
                        <a:rPr sz="1500" b="0" i="0">
                          <a:solidFill>
                            <a:srgbClr val="222222"/>
                          </a:solidFill>
                          <a:latin typeface="Calibri"/>
                        </a:rPr>
                        <a:t>Elektrinis žirklinis</a:t>
                      </a:r>
                    </a:p>
                  </a:txBody>
                  <a:tcPr marL="73152" marR="73152" anchor="ctr">
                    <a:solidFill>
                      <a:srgbClr val="FFFFFF"/>
                    </a:solidFill>
                  </a:tcPr>
                </a:tc>
                <a:tc>
                  <a:txBody>
                    <a:bodyPr/>
                    <a:lstStyle/>
                    <a:p>
                      <a:r>
                        <a:rPr sz="1500" b="0" i="0">
                          <a:solidFill>
                            <a:srgbClr val="222222"/>
                          </a:solidFill>
                          <a:latin typeface="Calibri"/>
                        </a:rPr>
                        <a:t>Nereikia sukti rankos</a:t>
                      </a:r>
                    </a:p>
                  </a:txBody>
                  <a:tcPr marL="73152" marR="73152" anchor="ctr">
                    <a:solidFill>
                      <a:srgbClr val="FFFFFF"/>
                    </a:solidFill>
                  </a:tcPr>
                </a:tc>
                <a:tc>
                  <a:txBody>
                    <a:bodyPr/>
                    <a:lstStyle/>
                    <a:p>
                      <a:r>
                        <a:rPr sz="1500" b="0" i="0">
                          <a:solidFill>
                            <a:srgbClr val="222222"/>
                          </a:solidFill>
                          <a:latin typeface="Calibri"/>
                        </a:rPr>
                        <a:t>Reikia elektros, brangesnis</a:t>
                      </a:r>
                    </a:p>
                  </a:txBody>
                  <a:tcPr marL="73152" marR="73152" anchor="ctr">
                    <a:solidFill>
                      <a:srgbClr val="FFFFFF"/>
                    </a:solidFill>
                  </a:tcPr>
                </a:tc>
              </a:tr>
            </a:tbl>
          </a:graphicData>
        </a:graphic>
      </p:graphicFrame>
      <p:sp>
        <p:nvSpPr>
          <p:cNvPr id="7" name="TextBox 6"/>
          <p:cNvSpPr txBox="1"/>
          <p:nvPr/>
        </p:nvSpPr>
        <p:spPr>
          <a:xfrm>
            <a:off x="640080" y="5806440"/>
            <a:ext cx="10881360" cy="457200"/>
          </a:xfrm>
          <a:prstGeom prst="rect">
            <a:avLst/>
          </a:prstGeom>
          <a:noFill/>
        </p:spPr>
        <p:txBody>
          <a:bodyPr wrap="square" anchor="t" lIns="45720" rIns="45720">
            <a:spAutoFit/>
          </a:bodyPr>
          <a:lstStyle/>
          <a:p>
            <a:pPr algn="l">
              <a:spcAft>
                <a:spcPts val="600"/>
              </a:spcAft>
            </a:pPr>
            <a:r>
              <a:rPr sz="1500" b="1">
                <a:solidFill>
                  <a:srgbClr val="1F4E79"/>
                </a:solidFill>
                <a:latin typeface="Calibri"/>
              </a:rPr>
              <a:t>Paryškinti – keturi tipai, kuriuos pristatome išsamiai. Datos – patentų ar pirmųjų gaminių metai.</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822960"/>
          </a:xfrm>
          <a:prstGeom prst="rect">
            <a:avLst/>
          </a:prstGeom>
          <a:noFill/>
        </p:spPr>
        <p:txBody>
          <a:bodyPr wrap="square" anchor="b" lIns="45720" rIns="45720">
            <a:spAutoFit/>
          </a:bodyPr>
          <a:lstStyle/>
          <a:p>
            <a:pPr algn="l">
              <a:spcAft>
                <a:spcPts val="600"/>
              </a:spcAft>
            </a:pPr>
            <a:r>
              <a:rPr sz="3200" b="1">
                <a:solidFill>
                  <a:srgbClr val="1F4E79"/>
                </a:solidFill>
                <a:latin typeface="Calibri"/>
              </a:rPr>
              <a:t>Sraigtinis domkratas</a:t>
            </a:r>
          </a:p>
        </p:txBody>
      </p:sp>
      <p:sp>
        <p:nvSpPr>
          <p:cNvPr id="3" name="Rectangle 2"/>
          <p:cNvSpPr/>
          <p:nvPr/>
        </p:nvSpPr>
        <p:spPr>
          <a:xfrm>
            <a:off x="594360" y="1207008"/>
            <a:ext cx="10972800" cy="27432"/>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698480" y="6355080"/>
            <a:ext cx="1005840" cy="365760"/>
          </a:xfrm>
          <a:prstGeom prst="rect">
            <a:avLst/>
          </a:prstGeom>
          <a:noFill/>
        </p:spPr>
        <p:txBody>
          <a:bodyPr wrap="square" anchor="t" lIns="45720" rIns="45720">
            <a:spAutoFit/>
          </a:bodyPr>
          <a:lstStyle/>
          <a:p>
            <a:pPr algn="r">
              <a:spcAft>
                <a:spcPts val="600"/>
              </a:spcAft>
            </a:pPr>
            <a:r>
              <a:rPr sz="1200" b="0">
                <a:solidFill>
                  <a:srgbClr val="595959"/>
                </a:solidFill>
                <a:latin typeface="Calibri"/>
              </a:rPr>
              <a:t>4 / 12</a:t>
            </a:r>
          </a:p>
        </p:txBody>
      </p:sp>
      <p:sp>
        <p:nvSpPr>
          <p:cNvPr id="5" name="TextBox 4"/>
          <p:cNvSpPr txBox="1"/>
          <p:nvPr/>
        </p:nvSpPr>
        <p:spPr>
          <a:xfrm>
            <a:off x="548640" y="6355080"/>
            <a:ext cx="7315200" cy="365760"/>
          </a:xfrm>
          <a:prstGeom prst="rect">
            <a:avLst/>
          </a:prstGeom>
          <a:noFill/>
        </p:spPr>
        <p:txBody>
          <a:bodyPr wrap="square" anchor="t" lIns="45720" rIns="45720">
            <a:spAutoFit/>
          </a:bodyPr>
          <a:lstStyle/>
          <a:p>
            <a:pPr algn="l">
              <a:spcAft>
                <a:spcPts val="600"/>
              </a:spcAft>
            </a:pPr>
            <a:r>
              <a:rPr sz="1200" b="0">
                <a:solidFill>
                  <a:srgbClr val="595959"/>
                </a:solidFill>
                <a:latin typeface="Calibri"/>
              </a:rPr>
              <a:t>PBL · Automobilinis domkratas</a:t>
            </a:r>
          </a:p>
        </p:txBody>
      </p:sp>
      <p:sp>
        <p:nvSpPr>
          <p:cNvPr id="6" name="Rectangle 5"/>
          <p:cNvSpPr/>
          <p:nvPr/>
        </p:nvSpPr>
        <p:spPr>
          <a:xfrm>
            <a:off x="640080" y="1463040"/>
            <a:ext cx="4572000" cy="4343400"/>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1-sraigtinis-stevenson-1898.png"/>
          <p:cNvPicPr>
            <a:picLocks noChangeAspect="1"/>
          </p:cNvPicPr>
          <p:nvPr/>
        </p:nvPicPr>
        <p:blipFill>
          <a:blip r:embed="rId3"/>
          <a:stretch>
            <a:fillRect/>
          </a:stretch>
        </p:blipFill>
        <p:spPr>
          <a:xfrm>
            <a:off x="1757934" y="1554480"/>
            <a:ext cx="2336291" cy="4160520"/>
          </a:xfrm>
          <a:prstGeom prst="rect">
            <a:avLst/>
          </a:prstGeom>
        </p:spPr>
      </p:pic>
      <p:sp>
        <p:nvSpPr>
          <p:cNvPr id="8" name="TextBox 7"/>
          <p:cNvSpPr txBox="1"/>
          <p:nvPr/>
        </p:nvSpPr>
        <p:spPr>
          <a:xfrm>
            <a:off x="640080" y="5833872"/>
            <a:ext cx="4572000" cy="365760"/>
          </a:xfrm>
          <a:prstGeom prst="rect">
            <a:avLst/>
          </a:prstGeom>
          <a:noFill/>
        </p:spPr>
        <p:txBody>
          <a:bodyPr wrap="square" anchor="t" lIns="45720" rIns="45720">
            <a:spAutoFit/>
          </a:bodyPr>
          <a:lstStyle/>
          <a:p>
            <a:pPr algn="l">
              <a:spcAft>
                <a:spcPts val="600"/>
              </a:spcAft>
            </a:pPr>
            <a:r>
              <a:rPr sz="1200" b="0">
                <a:solidFill>
                  <a:srgbClr val="595959"/>
                </a:solidFill>
                <a:latin typeface="Calibri"/>
              </a:rPr>
              <a:t>Brėžinys: H. M. Stevenson, JAV patentas Nr. 601,451 (1898)</a:t>
            </a:r>
          </a:p>
        </p:txBody>
      </p:sp>
      <p:sp>
        <p:nvSpPr>
          <p:cNvPr id="9" name="TextBox 8"/>
          <p:cNvSpPr txBox="1"/>
          <p:nvPr/>
        </p:nvSpPr>
        <p:spPr>
          <a:xfrm>
            <a:off x="5577840" y="1417320"/>
            <a:ext cx="6035040" cy="411480"/>
          </a:xfrm>
          <a:prstGeom prst="rect">
            <a:avLst/>
          </a:prstGeom>
          <a:noFill/>
        </p:spPr>
        <p:txBody>
          <a:bodyPr wrap="square" anchor="t" lIns="45720" rIns="45720">
            <a:spAutoFit/>
          </a:bodyPr>
          <a:lstStyle/>
          <a:p>
            <a:pPr algn="l">
              <a:spcAft>
                <a:spcPts val="600"/>
              </a:spcAft>
            </a:pPr>
            <a:r>
              <a:rPr sz="1500" b="1">
                <a:solidFill>
                  <a:srgbClr val="1F4E79"/>
                </a:solidFill>
                <a:latin typeface="Calibri"/>
              </a:rPr>
              <a:t>1 žingsnis · XIX a. · Pristato: [vardas]</a:t>
            </a:r>
          </a:p>
        </p:txBody>
      </p:sp>
      <p:sp>
        <p:nvSpPr>
          <p:cNvPr id="10" name="TextBox 9"/>
          <p:cNvSpPr txBox="1"/>
          <p:nvPr/>
        </p:nvSpPr>
        <p:spPr>
          <a:xfrm>
            <a:off x="5577840" y="1783080"/>
            <a:ext cx="6035040" cy="3977639"/>
          </a:xfrm>
          <a:prstGeom prst="rect">
            <a:avLst/>
          </a:prstGeom>
          <a:noFill/>
        </p:spPr>
        <p:txBody>
          <a:bodyPr wrap="square" anchor="t" lIns="45720" rIns="45720">
            <a:spAutoFit/>
          </a:bodyPr>
          <a:lstStyle/>
          <a:p>
            <a:pPr algn="l">
              <a:spcAft>
                <a:spcPts val="100"/>
              </a:spcAft>
            </a:pPr>
            <a:r>
              <a:rPr sz="1700" b="1">
                <a:solidFill>
                  <a:srgbClr val="1F4E79"/>
                </a:solidFill>
                <a:latin typeface="Calibri"/>
              </a:rPr>
              <a:t>Tipas</a:t>
            </a:r>
          </a:p>
          <a:p>
            <a:pPr>
              <a:spcAft>
                <a:spcPts val="800"/>
              </a:spcAft>
            </a:pPr>
            <a:r>
              <a:rPr sz="1600" b="0">
                <a:solidFill>
                  <a:srgbClr val="222222"/>
                </a:solidFill>
                <a:latin typeface="Calibri"/>
              </a:rPr>
              <a:t>Mechaninis domkratas.</a:t>
            </a:r>
          </a:p>
          <a:p>
            <a:pPr>
              <a:spcAft>
                <a:spcPts val="100"/>
              </a:spcAft>
            </a:pPr>
            <a:r>
              <a:rPr sz="1700" b="1">
                <a:solidFill>
                  <a:srgbClr val="1F4E79"/>
                </a:solidFill>
                <a:latin typeface="Calibri"/>
              </a:rPr>
              <a:t>Kaip veikia</a:t>
            </a:r>
          </a:p>
          <a:p>
            <a:pPr>
              <a:spcAft>
                <a:spcPts val="800"/>
              </a:spcAft>
            </a:pPr>
            <a:r>
              <a:rPr sz="1600" b="0">
                <a:solidFill>
                  <a:srgbClr val="222222"/>
                </a:solidFill>
                <a:latin typeface="Calibri"/>
              </a:rPr>
              <a:t>Sukant rankeną, sraigtas išsisuka iš korpuso ir stumia krovinį aukštyn.</a:t>
            </a:r>
          </a:p>
          <a:p>
            <a:pPr>
              <a:spcAft>
                <a:spcPts val="100"/>
              </a:spcAft>
            </a:pPr>
            <a:r>
              <a:rPr sz="1700" b="1">
                <a:solidFill>
                  <a:srgbClr val="1F4E79"/>
                </a:solidFill>
                <a:latin typeface="Calibri"/>
              </a:rPr>
              <a:t>Kuo geras</a:t>
            </a:r>
          </a:p>
          <a:p>
            <a:pPr>
              <a:spcAft>
                <a:spcPts val="800"/>
              </a:spcAft>
            </a:pPr>
            <a:r>
              <a:rPr sz="1600" b="0">
                <a:solidFill>
                  <a:srgbClr val="222222"/>
                </a:solidFill>
                <a:latin typeface="Calibri"/>
              </a:rPr>
              <a:t>Paprastas ir savistabdis – paleidus rankeną krovinys nenukrenta.</a:t>
            </a:r>
          </a:p>
          <a:p>
            <a:pPr>
              <a:spcAft>
                <a:spcPts val="100"/>
              </a:spcAft>
            </a:pPr>
            <a:r>
              <a:rPr sz="1700" b="1">
                <a:solidFill>
                  <a:srgbClr val="1F4E79"/>
                </a:solidFill>
                <a:latin typeface="Calibri"/>
              </a:rPr>
              <a:t>Problemos</a:t>
            </a:r>
          </a:p>
          <a:p>
            <a:pPr>
              <a:spcAft>
                <a:spcPts val="800"/>
              </a:spcAft>
            </a:pPr>
            <a:r>
              <a:rPr sz="1600" b="0">
                <a:solidFill>
                  <a:srgbClr val="222222"/>
                </a:solidFill>
                <a:latin typeface="Calibri"/>
              </a:rPr>
              <a:t>Lėtas ir reikalauja daug jėgos: dėl didelės trinties naudingumo koeficientas tik 30–40 %.</a:t>
            </a:r>
          </a:p>
        </p:txBody>
      </p:sp>
      <p:sp>
        <p:nvSpPr>
          <p:cNvPr id="11" name="TextBox 10"/>
          <p:cNvSpPr txBox="1"/>
          <p:nvPr/>
        </p:nvSpPr>
        <p:spPr>
          <a:xfrm>
            <a:off x="5577840" y="5833872"/>
            <a:ext cx="6035040" cy="457200"/>
          </a:xfrm>
          <a:prstGeom prst="rect">
            <a:avLst/>
          </a:prstGeom>
          <a:noFill/>
        </p:spPr>
        <p:txBody>
          <a:bodyPr wrap="square" anchor="t" lIns="45720" rIns="45720">
            <a:spAutoFit/>
          </a:bodyPr>
          <a:lstStyle/>
          <a:p>
            <a:pPr algn="l">
              <a:spcAft>
                <a:spcPts val="600"/>
              </a:spcAft>
            </a:pPr>
            <a:r>
              <a:rPr sz="1300" b="0">
                <a:solidFill>
                  <a:srgbClr val="595959"/>
                </a:solidFill>
                <a:latin typeface="Calibri"/>
              </a:rPr>
              <a:t>Šaltiniai: Stevenson (1898); Wikipedia (n.d.-b); Joyce/Dayton (n.d.).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822960"/>
          </a:xfrm>
          <a:prstGeom prst="rect">
            <a:avLst/>
          </a:prstGeom>
          <a:noFill/>
        </p:spPr>
        <p:txBody>
          <a:bodyPr wrap="square" anchor="b" lIns="45720" rIns="45720">
            <a:spAutoFit/>
          </a:bodyPr>
          <a:lstStyle/>
          <a:p>
            <a:pPr algn="l">
              <a:spcAft>
                <a:spcPts val="600"/>
              </a:spcAft>
            </a:pPr>
            <a:r>
              <a:rPr sz="3200" b="1">
                <a:solidFill>
                  <a:srgbClr val="1F4E79"/>
                </a:solidFill>
                <a:latin typeface="Calibri"/>
              </a:rPr>
              <a:t>Hidraulinis (butelinis) domkratas</a:t>
            </a:r>
          </a:p>
        </p:txBody>
      </p:sp>
      <p:sp>
        <p:nvSpPr>
          <p:cNvPr id="3" name="Rectangle 2"/>
          <p:cNvSpPr/>
          <p:nvPr/>
        </p:nvSpPr>
        <p:spPr>
          <a:xfrm>
            <a:off x="594360" y="1207008"/>
            <a:ext cx="10972800" cy="27432"/>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698480" y="6355080"/>
            <a:ext cx="1005840" cy="365760"/>
          </a:xfrm>
          <a:prstGeom prst="rect">
            <a:avLst/>
          </a:prstGeom>
          <a:noFill/>
        </p:spPr>
        <p:txBody>
          <a:bodyPr wrap="square" anchor="t" lIns="45720" rIns="45720">
            <a:spAutoFit/>
          </a:bodyPr>
          <a:lstStyle/>
          <a:p>
            <a:pPr algn="r">
              <a:spcAft>
                <a:spcPts val="600"/>
              </a:spcAft>
            </a:pPr>
            <a:r>
              <a:rPr sz="1200" b="0">
                <a:solidFill>
                  <a:srgbClr val="595959"/>
                </a:solidFill>
                <a:latin typeface="Calibri"/>
              </a:rPr>
              <a:t>5 / 12</a:t>
            </a:r>
          </a:p>
        </p:txBody>
      </p:sp>
      <p:sp>
        <p:nvSpPr>
          <p:cNvPr id="5" name="TextBox 4"/>
          <p:cNvSpPr txBox="1"/>
          <p:nvPr/>
        </p:nvSpPr>
        <p:spPr>
          <a:xfrm>
            <a:off x="548640" y="6355080"/>
            <a:ext cx="7315200" cy="365760"/>
          </a:xfrm>
          <a:prstGeom prst="rect">
            <a:avLst/>
          </a:prstGeom>
          <a:noFill/>
        </p:spPr>
        <p:txBody>
          <a:bodyPr wrap="square" anchor="t" lIns="45720" rIns="45720">
            <a:spAutoFit/>
          </a:bodyPr>
          <a:lstStyle/>
          <a:p>
            <a:pPr algn="l">
              <a:spcAft>
                <a:spcPts val="600"/>
              </a:spcAft>
            </a:pPr>
            <a:r>
              <a:rPr sz="1200" b="0">
                <a:solidFill>
                  <a:srgbClr val="595959"/>
                </a:solidFill>
                <a:latin typeface="Calibri"/>
              </a:rPr>
              <a:t>PBL · Automobilinis domkratas</a:t>
            </a:r>
          </a:p>
        </p:txBody>
      </p:sp>
      <p:sp>
        <p:nvSpPr>
          <p:cNvPr id="6" name="Rectangle 5"/>
          <p:cNvSpPr/>
          <p:nvPr/>
        </p:nvSpPr>
        <p:spPr>
          <a:xfrm>
            <a:off x="640080" y="1463040"/>
            <a:ext cx="4572000" cy="4343400"/>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2-hidraulinis-dudgeon-1851.png"/>
          <p:cNvPicPr>
            <a:picLocks noChangeAspect="1"/>
          </p:cNvPicPr>
          <p:nvPr/>
        </p:nvPicPr>
        <p:blipFill>
          <a:blip r:embed="rId3"/>
          <a:stretch>
            <a:fillRect/>
          </a:stretch>
        </p:blipFill>
        <p:spPr>
          <a:xfrm>
            <a:off x="1486397" y="1554480"/>
            <a:ext cx="2879364" cy="4160520"/>
          </a:xfrm>
          <a:prstGeom prst="rect">
            <a:avLst/>
          </a:prstGeom>
        </p:spPr>
      </p:pic>
      <p:sp>
        <p:nvSpPr>
          <p:cNvPr id="8" name="TextBox 7"/>
          <p:cNvSpPr txBox="1"/>
          <p:nvPr/>
        </p:nvSpPr>
        <p:spPr>
          <a:xfrm>
            <a:off x="640080" y="5833872"/>
            <a:ext cx="4572000" cy="365760"/>
          </a:xfrm>
          <a:prstGeom prst="rect">
            <a:avLst/>
          </a:prstGeom>
          <a:noFill/>
        </p:spPr>
        <p:txBody>
          <a:bodyPr wrap="square" anchor="t" lIns="45720" rIns="45720">
            <a:spAutoFit/>
          </a:bodyPr>
          <a:lstStyle/>
          <a:p>
            <a:pPr algn="l">
              <a:spcAft>
                <a:spcPts val="600"/>
              </a:spcAft>
            </a:pPr>
            <a:r>
              <a:rPr sz="1200" b="0">
                <a:solidFill>
                  <a:srgbClr val="595959"/>
                </a:solidFill>
                <a:latin typeface="Calibri"/>
              </a:rPr>
              <a:t>Brėžinys: R. Dudgeon, JAV patentas Nr. 8,203 (1851)</a:t>
            </a:r>
          </a:p>
        </p:txBody>
      </p:sp>
      <p:sp>
        <p:nvSpPr>
          <p:cNvPr id="9" name="TextBox 8"/>
          <p:cNvSpPr txBox="1"/>
          <p:nvPr/>
        </p:nvSpPr>
        <p:spPr>
          <a:xfrm>
            <a:off x="5577840" y="1417320"/>
            <a:ext cx="6035040" cy="411480"/>
          </a:xfrm>
          <a:prstGeom prst="rect">
            <a:avLst/>
          </a:prstGeom>
          <a:noFill/>
        </p:spPr>
        <p:txBody>
          <a:bodyPr wrap="square" anchor="t" lIns="45720" rIns="45720">
            <a:spAutoFit/>
          </a:bodyPr>
          <a:lstStyle/>
          <a:p>
            <a:pPr algn="l">
              <a:spcAft>
                <a:spcPts val="600"/>
              </a:spcAft>
            </a:pPr>
            <a:r>
              <a:rPr sz="1500" b="1">
                <a:solidFill>
                  <a:srgbClr val="1F4E79"/>
                </a:solidFill>
                <a:latin typeface="Calibri"/>
              </a:rPr>
              <a:t>2 žingsnis · 1851 m. · Pristato: [vardas]</a:t>
            </a:r>
          </a:p>
        </p:txBody>
      </p:sp>
      <p:sp>
        <p:nvSpPr>
          <p:cNvPr id="10" name="TextBox 9"/>
          <p:cNvSpPr txBox="1"/>
          <p:nvPr/>
        </p:nvSpPr>
        <p:spPr>
          <a:xfrm>
            <a:off x="5577840" y="1783080"/>
            <a:ext cx="6035040" cy="3977639"/>
          </a:xfrm>
          <a:prstGeom prst="rect">
            <a:avLst/>
          </a:prstGeom>
          <a:noFill/>
        </p:spPr>
        <p:txBody>
          <a:bodyPr wrap="square" anchor="t" lIns="45720" rIns="45720">
            <a:spAutoFit/>
          </a:bodyPr>
          <a:lstStyle/>
          <a:p>
            <a:pPr algn="l">
              <a:spcAft>
                <a:spcPts val="100"/>
              </a:spcAft>
            </a:pPr>
            <a:r>
              <a:rPr sz="1700" b="1">
                <a:solidFill>
                  <a:srgbClr val="1F4E79"/>
                </a:solidFill>
                <a:latin typeface="Calibri"/>
              </a:rPr>
              <a:t>Tipas</a:t>
            </a:r>
          </a:p>
          <a:p>
            <a:pPr>
              <a:spcAft>
                <a:spcPts val="800"/>
              </a:spcAft>
            </a:pPr>
            <a:r>
              <a:rPr sz="1600" b="0">
                <a:solidFill>
                  <a:srgbClr val="222222"/>
                </a:solidFill>
                <a:latin typeface="Calibri"/>
              </a:rPr>
              <a:t>Hidraulinis domkratas.</a:t>
            </a:r>
          </a:p>
          <a:p>
            <a:pPr>
              <a:spcAft>
                <a:spcPts val="100"/>
              </a:spcAft>
            </a:pPr>
            <a:r>
              <a:rPr sz="1700" b="1">
                <a:solidFill>
                  <a:srgbClr val="1F4E79"/>
                </a:solidFill>
                <a:latin typeface="Calibri"/>
              </a:rPr>
              <a:t>Kaip veikia</a:t>
            </a:r>
          </a:p>
          <a:p>
            <a:pPr>
              <a:spcAft>
                <a:spcPts val="800"/>
              </a:spcAft>
            </a:pPr>
            <a:r>
              <a:rPr sz="1600" b="0">
                <a:solidFill>
                  <a:srgbClr val="222222"/>
                </a:solidFill>
                <a:latin typeface="Calibri"/>
              </a:rPr>
              <a:t>Svirtimi pumpuojamas skystis iš mažo cilindro po dideliu stūmokliu. Pagal Paskalio dėsnį jėga padidėja. Dudgeon naudojo vandenį.</a:t>
            </a:r>
          </a:p>
          <a:p>
            <a:pPr>
              <a:spcAft>
                <a:spcPts val="100"/>
              </a:spcAft>
            </a:pPr>
            <a:r>
              <a:rPr sz="1700" b="1">
                <a:solidFill>
                  <a:srgbClr val="1F4E79"/>
                </a:solidFill>
                <a:latin typeface="Calibri"/>
              </a:rPr>
              <a:t>Ką išsprendė</a:t>
            </a:r>
          </a:p>
          <a:p>
            <a:pPr>
              <a:spcAft>
                <a:spcPts val="800"/>
              </a:spcAft>
            </a:pPr>
            <a:r>
              <a:rPr sz="1600" b="0">
                <a:solidFill>
                  <a:srgbClr val="222222"/>
                </a:solidFill>
                <a:latin typeface="Calibri"/>
              </a:rPr>
              <a:t>Dudgeon rašė, kad jo presas atliks didžiąją dalį darbo, kurį iki tol atlikdavo sraigtas. Reikia mažiau jėgos, o pakeliami kroviniai iki 50 t.</a:t>
            </a:r>
          </a:p>
          <a:p>
            <a:pPr>
              <a:spcAft>
                <a:spcPts val="100"/>
              </a:spcAft>
            </a:pPr>
            <a:r>
              <a:rPr sz="1700" b="1">
                <a:solidFill>
                  <a:srgbClr val="1F4E79"/>
                </a:solidFill>
                <a:latin typeface="Calibri"/>
              </a:rPr>
              <a:t>Problemos</a:t>
            </a:r>
          </a:p>
          <a:p>
            <a:pPr>
              <a:spcAft>
                <a:spcPts val="800"/>
              </a:spcAft>
            </a:pPr>
            <a:r>
              <a:rPr sz="1600" b="0">
                <a:solidFill>
                  <a:srgbClr val="222222"/>
                </a:solidFill>
                <a:latin typeface="Calibri"/>
              </a:rPr>
              <a:t>Didelis pradinis aukštis – netelpa po žemu automobiliu. Mažas pagrindas, todėl mažiau stabilus. Ilgai pumpuoti rankena varginanti.</a:t>
            </a:r>
          </a:p>
        </p:txBody>
      </p:sp>
      <p:sp>
        <p:nvSpPr>
          <p:cNvPr id="11" name="TextBox 10"/>
          <p:cNvSpPr txBox="1"/>
          <p:nvPr/>
        </p:nvSpPr>
        <p:spPr>
          <a:xfrm>
            <a:off x="5577840" y="5833872"/>
            <a:ext cx="6035040" cy="457200"/>
          </a:xfrm>
          <a:prstGeom prst="rect">
            <a:avLst/>
          </a:prstGeom>
          <a:noFill/>
        </p:spPr>
        <p:txBody>
          <a:bodyPr wrap="square" anchor="t" lIns="45720" rIns="45720">
            <a:spAutoFit/>
          </a:bodyPr>
          <a:lstStyle/>
          <a:p>
            <a:pPr algn="l">
              <a:spcAft>
                <a:spcPts val="600"/>
              </a:spcAft>
            </a:pPr>
            <a:r>
              <a:rPr sz="1300" b="0">
                <a:solidFill>
                  <a:srgbClr val="595959"/>
                </a:solidFill>
                <a:latin typeface="Calibri"/>
              </a:rPr>
              <a:t>Šaltiniai: Dudgeon (1851); LibreTexts (n.d.); CJ Pony Parts (n.d.); Redline Stands (n.d.); Juds (1967).</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822960"/>
          </a:xfrm>
          <a:prstGeom prst="rect">
            <a:avLst/>
          </a:prstGeom>
          <a:noFill/>
        </p:spPr>
        <p:txBody>
          <a:bodyPr wrap="square" anchor="b" lIns="45720" rIns="45720">
            <a:spAutoFit/>
          </a:bodyPr>
          <a:lstStyle/>
          <a:p>
            <a:pPr algn="l">
              <a:spcAft>
                <a:spcPts val="600"/>
              </a:spcAft>
            </a:pPr>
            <a:r>
              <a:rPr sz="3200" b="1">
                <a:solidFill>
                  <a:srgbClr val="1F4E79"/>
                </a:solidFill>
                <a:latin typeface="Calibri"/>
              </a:rPr>
              <a:t>Žirklinis domkratas</a:t>
            </a:r>
          </a:p>
        </p:txBody>
      </p:sp>
      <p:sp>
        <p:nvSpPr>
          <p:cNvPr id="3" name="Rectangle 2"/>
          <p:cNvSpPr/>
          <p:nvPr/>
        </p:nvSpPr>
        <p:spPr>
          <a:xfrm>
            <a:off x="594360" y="1207008"/>
            <a:ext cx="10972800" cy="27432"/>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698480" y="6355080"/>
            <a:ext cx="1005840" cy="365760"/>
          </a:xfrm>
          <a:prstGeom prst="rect">
            <a:avLst/>
          </a:prstGeom>
          <a:noFill/>
        </p:spPr>
        <p:txBody>
          <a:bodyPr wrap="square" anchor="t" lIns="45720" rIns="45720">
            <a:spAutoFit/>
          </a:bodyPr>
          <a:lstStyle/>
          <a:p>
            <a:pPr algn="r">
              <a:spcAft>
                <a:spcPts val="600"/>
              </a:spcAft>
            </a:pPr>
            <a:r>
              <a:rPr sz="1200" b="0">
                <a:solidFill>
                  <a:srgbClr val="595959"/>
                </a:solidFill>
                <a:latin typeface="Calibri"/>
              </a:rPr>
              <a:t>6 / 12</a:t>
            </a:r>
          </a:p>
        </p:txBody>
      </p:sp>
      <p:sp>
        <p:nvSpPr>
          <p:cNvPr id="5" name="TextBox 4"/>
          <p:cNvSpPr txBox="1"/>
          <p:nvPr/>
        </p:nvSpPr>
        <p:spPr>
          <a:xfrm>
            <a:off x="548640" y="6355080"/>
            <a:ext cx="7315200" cy="365760"/>
          </a:xfrm>
          <a:prstGeom prst="rect">
            <a:avLst/>
          </a:prstGeom>
          <a:noFill/>
        </p:spPr>
        <p:txBody>
          <a:bodyPr wrap="square" anchor="t" lIns="45720" rIns="45720">
            <a:spAutoFit/>
          </a:bodyPr>
          <a:lstStyle/>
          <a:p>
            <a:pPr algn="l">
              <a:spcAft>
                <a:spcPts val="600"/>
              </a:spcAft>
            </a:pPr>
            <a:r>
              <a:rPr sz="1200" b="0">
                <a:solidFill>
                  <a:srgbClr val="595959"/>
                </a:solidFill>
                <a:latin typeface="Calibri"/>
              </a:rPr>
              <a:t>PBL · Automobilinis domkratas</a:t>
            </a:r>
          </a:p>
        </p:txBody>
      </p:sp>
      <p:sp>
        <p:nvSpPr>
          <p:cNvPr id="6" name="Rectangle 5"/>
          <p:cNvSpPr/>
          <p:nvPr/>
        </p:nvSpPr>
        <p:spPr>
          <a:xfrm>
            <a:off x="640080" y="1463040"/>
            <a:ext cx="4572000" cy="4343400"/>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3-zirklinis-lafrance-1920.png"/>
          <p:cNvPicPr>
            <a:picLocks noChangeAspect="1"/>
          </p:cNvPicPr>
          <p:nvPr/>
        </p:nvPicPr>
        <p:blipFill>
          <a:blip r:embed="rId3"/>
          <a:stretch>
            <a:fillRect/>
          </a:stretch>
        </p:blipFill>
        <p:spPr>
          <a:xfrm>
            <a:off x="1510947" y="1554480"/>
            <a:ext cx="2830264" cy="4160520"/>
          </a:xfrm>
          <a:prstGeom prst="rect">
            <a:avLst/>
          </a:prstGeom>
        </p:spPr>
      </p:pic>
      <p:sp>
        <p:nvSpPr>
          <p:cNvPr id="8" name="TextBox 7"/>
          <p:cNvSpPr txBox="1"/>
          <p:nvPr/>
        </p:nvSpPr>
        <p:spPr>
          <a:xfrm>
            <a:off x="640080" y="5833872"/>
            <a:ext cx="4572000" cy="365760"/>
          </a:xfrm>
          <a:prstGeom prst="rect">
            <a:avLst/>
          </a:prstGeom>
          <a:noFill/>
        </p:spPr>
        <p:txBody>
          <a:bodyPr wrap="square" anchor="t" lIns="45720" rIns="45720">
            <a:spAutoFit/>
          </a:bodyPr>
          <a:lstStyle/>
          <a:p>
            <a:pPr algn="l">
              <a:spcAft>
                <a:spcPts val="600"/>
              </a:spcAft>
            </a:pPr>
            <a:r>
              <a:rPr sz="1200" b="0">
                <a:solidFill>
                  <a:srgbClr val="595959"/>
                </a:solidFill>
                <a:latin typeface="Calibri"/>
              </a:rPr>
              <a:t>Brėžinys: J. LaFrance, JAV patentas Nr. 1,362,630 (1920)</a:t>
            </a:r>
          </a:p>
        </p:txBody>
      </p:sp>
      <p:sp>
        <p:nvSpPr>
          <p:cNvPr id="9" name="TextBox 8"/>
          <p:cNvSpPr txBox="1"/>
          <p:nvPr/>
        </p:nvSpPr>
        <p:spPr>
          <a:xfrm>
            <a:off x="5577840" y="1417320"/>
            <a:ext cx="6035040" cy="411480"/>
          </a:xfrm>
          <a:prstGeom prst="rect">
            <a:avLst/>
          </a:prstGeom>
          <a:noFill/>
        </p:spPr>
        <p:txBody>
          <a:bodyPr wrap="square" anchor="t" lIns="45720" rIns="45720">
            <a:spAutoFit/>
          </a:bodyPr>
          <a:lstStyle/>
          <a:p>
            <a:pPr algn="l">
              <a:spcAft>
                <a:spcPts val="600"/>
              </a:spcAft>
            </a:pPr>
            <a:r>
              <a:rPr sz="1500" b="1">
                <a:solidFill>
                  <a:srgbClr val="1F4E79"/>
                </a:solidFill>
                <a:latin typeface="Calibri"/>
              </a:rPr>
              <a:t>3 žingsnis · 1920 m. · Pristato: [vardas]</a:t>
            </a:r>
          </a:p>
        </p:txBody>
      </p:sp>
      <p:sp>
        <p:nvSpPr>
          <p:cNvPr id="10" name="TextBox 9"/>
          <p:cNvSpPr txBox="1"/>
          <p:nvPr/>
        </p:nvSpPr>
        <p:spPr>
          <a:xfrm>
            <a:off x="5577840" y="1783080"/>
            <a:ext cx="6035040" cy="3977639"/>
          </a:xfrm>
          <a:prstGeom prst="rect">
            <a:avLst/>
          </a:prstGeom>
          <a:noFill/>
        </p:spPr>
        <p:txBody>
          <a:bodyPr wrap="square" anchor="t" lIns="45720" rIns="45720">
            <a:spAutoFit/>
          </a:bodyPr>
          <a:lstStyle/>
          <a:p>
            <a:pPr algn="l">
              <a:spcAft>
                <a:spcPts val="100"/>
              </a:spcAft>
            </a:pPr>
            <a:r>
              <a:rPr sz="1700" b="1">
                <a:solidFill>
                  <a:srgbClr val="1F4E79"/>
                </a:solidFill>
                <a:latin typeface="Calibri"/>
              </a:rPr>
              <a:t>Tipas</a:t>
            </a:r>
          </a:p>
          <a:p>
            <a:pPr>
              <a:spcAft>
                <a:spcPts val="800"/>
              </a:spcAft>
            </a:pPr>
            <a:r>
              <a:rPr sz="1600" b="0">
                <a:solidFill>
                  <a:srgbClr val="222222"/>
                </a:solidFill>
                <a:latin typeface="Calibri"/>
              </a:rPr>
              <a:t>Mechaninis domkratas: sraigtas ir rombo formos svirtys.</a:t>
            </a:r>
          </a:p>
          <a:p>
            <a:pPr>
              <a:spcAft>
                <a:spcPts val="100"/>
              </a:spcAft>
            </a:pPr>
            <a:r>
              <a:rPr sz="1700" b="1">
                <a:solidFill>
                  <a:srgbClr val="1F4E79"/>
                </a:solidFill>
                <a:latin typeface="Calibri"/>
              </a:rPr>
              <a:t>Kaip veikia</a:t>
            </a:r>
          </a:p>
          <a:p>
            <a:pPr>
              <a:spcAft>
                <a:spcPts val="800"/>
              </a:spcAft>
            </a:pPr>
            <a:r>
              <a:rPr sz="1600" b="0">
                <a:solidFill>
                  <a:srgbClr val="222222"/>
                </a:solidFill>
                <a:latin typeface="Calibri"/>
              </a:rPr>
              <a:t>Sukamas horizontalus sraigtas traukia rombo šonines jungtis vieną prie kitos, todėl viršus kyla.</a:t>
            </a:r>
          </a:p>
          <a:p>
            <a:pPr>
              <a:spcAft>
                <a:spcPts val="100"/>
              </a:spcAft>
            </a:pPr>
            <a:r>
              <a:rPr sz="1700" b="1">
                <a:solidFill>
                  <a:srgbClr val="1F4E79"/>
                </a:solidFill>
                <a:latin typeface="Calibri"/>
              </a:rPr>
              <a:t>Ką išsprendė</a:t>
            </a:r>
          </a:p>
          <a:p>
            <a:pPr>
              <a:spcAft>
                <a:spcPts val="800"/>
              </a:spcAft>
            </a:pPr>
            <a:r>
              <a:rPr sz="1600" b="0">
                <a:solidFill>
                  <a:srgbClr val="222222"/>
                </a:solidFill>
                <a:latin typeface="Calibri"/>
              </a:rPr>
              <a:t>Žemas ir lengvas – telpa po automobiliu ir bagažinėje. LaFrance norėjo, kad jis būtų tvirtas, lengvai valdomas, paprastas ir pigus. Todėl jį deda į naujus automobilius.</a:t>
            </a:r>
          </a:p>
          <a:p>
            <a:pPr>
              <a:spcAft>
                <a:spcPts val="100"/>
              </a:spcAft>
            </a:pPr>
            <a:r>
              <a:rPr sz="1700" b="1">
                <a:solidFill>
                  <a:srgbClr val="1F4E79"/>
                </a:solidFill>
                <a:latin typeface="Calibri"/>
              </a:rPr>
              <a:t>Problemos</a:t>
            </a:r>
          </a:p>
          <a:p>
            <a:pPr>
              <a:spcAft>
                <a:spcPts val="800"/>
              </a:spcAft>
            </a:pPr>
            <a:r>
              <a:rPr sz="1600" b="0">
                <a:solidFill>
                  <a:srgbClr val="222222"/>
                </a:solidFill>
                <a:latin typeface="Calibri"/>
              </a:rPr>
              <a:t>Lėtas – reikia daug rankenos apsisukimų. Siauras pagrindas, nestabilus ant minkšto ar nelygaus paviršiaus.</a:t>
            </a:r>
          </a:p>
        </p:txBody>
      </p:sp>
      <p:sp>
        <p:nvSpPr>
          <p:cNvPr id="11" name="TextBox 10"/>
          <p:cNvSpPr txBox="1"/>
          <p:nvPr/>
        </p:nvSpPr>
        <p:spPr>
          <a:xfrm>
            <a:off x="5577840" y="5833872"/>
            <a:ext cx="6035040" cy="457200"/>
          </a:xfrm>
          <a:prstGeom prst="rect">
            <a:avLst/>
          </a:prstGeom>
          <a:noFill/>
        </p:spPr>
        <p:txBody>
          <a:bodyPr wrap="square" anchor="t" lIns="45720" rIns="45720">
            <a:spAutoFit/>
          </a:bodyPr>
          <a:lstStyle/>
          <a:p>
            <a:pPr algn="l">
              <a:spcAft>
                <a:spcPts val="600"/>
              </a:spcAft>
            </a:pPr>
            <a:r>
              <a:rPr sz="1300" b="0">
                <a:solidFill>
                  <a:srgbClr val="595959"/>
                </a:solidFill>
                <a:latin typeface="Calibri"/>
              </a:rPr>
              <a:t>Šaltiniai: LaFrance (1920); Brown (1949); CJ Pony Parts (n.d.); CN Trailer Parts (n.d.).</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822960"/>
          </a:xfrm>
          <a:prstGeom prst="rect">
            <a:avLst/>
          </a:prstGeom>
          <a:noFill/>
        </p:spPr>
        <p:txBody>
          <a:bodyPr wrap="square" anchor="b" lIns="45720" rIns="45720">
            <a:spAutoFit/>
          </a:bodyPr>
          <a:lstStyle/>
          <a:p>
            <a:pPr algn="l">
              <a:spcAft>
                <a:spcPts val="600"/>
              </a:spcAft>
            </a:pPr>
            <a:r>
              <a:rPr sz="3200" b="1">
                <a:solidFill>
                  <a:srgbClr val="1F4E79"/>
                </a:solidFill>
                <a:latin typeface="Calibri"/>
              </a:rPr>
              <a:t>Pneumohidraulinis domkratas</a:t>
            </a:r>
          </a:p>
        </p:txBody>
      </p:sp>
      <p:sp>
        <p:nvSpPr>
          <p:cNvPr id="3" name="Rectangle 2"/>
          <p:cNvSpPr/>
          <p:nvPr/>
        </p:nvSpPr>
        <p:spPr>
          <a:xfrm>
            <a:off x="594360" y="1207008"/>
            <a:ext cx="10972800" cy="27432"/>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698480" y="6355080"/>
            <a:ext cx="1005840" cy="365760"/>
          </a:xfrm>
          <a:prstGeom prst="rect">
            <a:avLst/>
          </a:prstGeom>
          <a:noFill/>
        </p:spPr>
        <p:txBody>
          <a:bodyPr wrap="square" anchor="t" lIns="45720" rIns="45720">
            <a:spAutoFit/>
          </a:bodyPr>
          <a:lstStyle/>
          <a:p>
            <a:pPr algn="r">
              <a:spcAft>
                <a:spcPts val="600"/>
              </a:spcAft>
            </a:pPr>
            <a:r>
              <a:rPr sz="1200" b="0">
                <a:solidFill>
                  <a:srgbClr val="595959"/>
                </a:solidFill>
                <a:latin typeface="Calibri"/>
              </a:rPr>
              <a:t>7 / 12</a:t>
            </a:r>
          </a:p>
        </p:txBody>
      </p:sp>
      <p:sp>
        <p:nvSpPr>
          <p:cNvPr id="5" name="TextBox 4"/>
          <p:cNvSpPr txBox="1"/>
          <p:nvPr/>
        </p:nvSpPr>
        <p:spPr>
          <a:xfrm>
            <a:off x="548640" y="6355080"/>
            <a:ext cx="7315200" cy="365760"/>
          </a:xfrm>
          <a:prstGeom prst="rect">
            <a:avLst/>
          </a:prstGeom>
          <a:noFill/>
        </p:spPr>
        <p:txBody>
          <a:bodyPr wrap="square" anchor="t" lIns="45720" rIns="45720">
            <a:spAutoFit/>
          </a:bodyPr>
          <a:lstStyle/>
          <a:p>
            <a:pPr algn="l">
              <a:spcAft>
                <a:spcPts val="600"/>
              </a:spcAft>
            </a:pPr>
            <a:r>
              <a:rPr sz="1200" b="0">
                <a:solidFill>
                  <a:srgbClr val="595959"/>
                </a:solidFill>
                <a:latin typeface="Calibri"/>
              </a:rPr>
              <a:t>PBL · Automobilinis domkratas</a:t>
            </a:r>
          </a:p>
        </p:txBody>
      </p:sp>
      <p:sp>
        <p:nvSpPr>
          <p:cNvPr id="6" name="Rectangle 5"/>
          <p:cNvSpPr/>
          <p:nvPr/>
        </p:nvSpPr>
        <p:spPr>
          <a:xfrm>
            <a:off x="640080" y="1463040"/>
            <a:ext cx="4572000" cy="4343400"/>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4-pneumohidraulinis-juds-1967.png"/>
          <p:cNvPicPr>
            <a:picLocks noChangeAspect="1"/>
          </p:cNvPicPr>
          <p:nvPr/>
        </p:nvPicPr>
        <p:blipFill>
          <a:blip r:embed="rId3"/>
          <a:stretch>
            <a:fillRect/>
          </a:stretch>
        </p:blipFill>
        <p:spPr>
          <a:xfrm>
            <a:off x="1618530" y="1554480"/>
            <a:ext cx="2615099" cy="4160520"/>
          </a:xfrm>
          <a:prstGeom prst="rect">
            <a:avLst/>
          </a:prstGeom>
        </p:spPr>
      </p:pic>
      <p:sp>
        <p:nvSpPr>
          <p:cNvPr id="8" name="TextBox 7"/>
          <p:cNvSpPr txBox="1"/>
          <p:nvPr/>
        </p:nvSpPr>
        <p:spPr>
          <a:xfrm>
            <a:off x="640080" y="5833872"/>
            <a:ext cx="4572000" cy="365760"/>
          </a:xfrm>
          <a:prstGeom prst="rect">
            <a:avLst/>
          </a:prstGeom>
          <a:noFill/>
        </p:spPr>
        <p:txBody>
          <a:bodyPr wrap="square" anchor="t" lIns="45720" rIns="45720">
            <a:spAutoFit/>
          </a:bodyPr>
          <a:lstStyle/>
          <a:p>
            <a:pPr algn="l">
              <a:spcAft>
                <a:spcPts val="600"/>
              </a:spcAft>
            </a:pPr>
            <a:r>
              <a:rPr sz="1200" b="0">
                <a:solidFill>
                  <a:srgbClr val="595959"/>
                </a:solidFill>
                <a:latin typeface="Calibri"/>
              </a:rPr>
              <a:t>Brėžinys: D. H. Juds, JAV patentas Nr. 3,329,403 (1967)</a:t>
            </a:r>
          </a:p>
        </p:txBody>
      </p:sp>
      <p:sp>
        <p:nvSpPr>
          <p:cNvPr id="9" name="TextBox 8"/>
          <p:cNvSpPr txBox="1"/>
          <p:nvPr/>
        </p:nvSpPr>
        <p:spPr>
          <a:xfrm>
            <a:off x="5577840" y="1417320"/>
            <a:ext cx="6035040" cy="411480"/>
          </a:xfrm>
          <a:prstGeom prst="rect">
            <a:avLst/>
          </a:prstGeom>
          <a:noFill/>
        </p:spPr>
        <p:txBody>
          <a:bodyPr wrap="square" anchor="t" lIns="45720" rIns="45720">
            <a:spAutoFit/>
          </a:bodyPr>
          <a:lstStyle/>
          <a:p>
            <a:pPr algn="l">
              <a:spcAft>
                <a:spcPts val="600"/>
              </a:spcAft>
            </a:pPr>
            <a:r>
              <a:rPr sz="1500" b="1">
                <a:solidFill>
                  <a:srgbClr val="1F4E79"/>
                </a:solidFill>
                <a:latin typeface="Calibri"/>
              </a:rPr>
              <a:t>4 žingsnis · 1966 m. · Pristato: [vardas]</a:t>
            </a:r>
          </a:p>
        </p:txBody>
      </p:sp>
      <p:sp>
        <p:nvSpPr>
          <p:cNvPr id="10" name="TextBox 9"/>
          <p:cNvSpPr txBox="1"/>
          <p:nvPr/>
        </p:nvSpPr>
        <p:spPr>
          <a:xfrm>
            <a:off x="5577840" y="1783080"/>
            <a:ext cx="6035040" cy="3977639"/>
          </a:xfrm>
          <a:prstGeom prst="rect">
            <a:avLst/>
          </a:prstGeom>
          <a:noFill/>
        </p:spPr>
        <p:txBody>
          <a:bodyPr wrap="square" anchor="t" lIns="45720" rIns="45720">
            <a:spAutoFit/>
          </a:bodyPr>
          <a:lstStyle/>
          <a:p>
            <a:pPr algn="l">
              <a:spcAft>
                <a:spcPts val="100"/>
              </a:spcAft>
            </a:pPr>
            <a:r>
              <a:rPr sz="1700" b="1">
                <a:solidFill>
                  <a:srgbClr val="1F4E79"/>
                </a:solidFill>
                <a:latin typeface="Calibri"/>
              </a:rPr>
              <a:t>Tipas</a:t>
            </a:r>
          </a:p>
          <a:p>
            <a:pPr>
              <a:spcAft>
                <a:spcPts val="800"/>
              </a:spcAft>
            </a:pPr>
            <a:r>
              <a:rPr sz="1600" b="0">
                <a:solidFill>
                  <a:srgbClr val="222222"/>
                </a:solidFill>
                <a:latin typeface="Calibri"/>
              </a:rPr>
              <a:t>Pneumohidraulinis domkratas: suslėgtas oras + hidraulika.</a:t>
            </a:r>
          </a:p>
          <a:p>
            <a:pPr>
              <a:spcAft>
                <a:spcPts val="100"/>
              </a:spcAft>
            </a:pPr>
            <a:r>
              <a:rPr sz="1700" b="1">
                <a:solidFill>
                  <a:srgbClr val="1F4E79"/>
                </a:solidFill>
                <a:latin typeface="Calibri"/>
              </a:rPr>
              <a:t>Kaip veikia</a:t>
            </a:r>
          </a:p>
          <a:p>
            <a:pPr>
              <a:spcAft>
                <a:spcPts val="800"/>
              </a:spcAft>
            </a:pPr>
            <a:r>
              <a:rPr sz="1600" b="0">
                <a:solidFill>
                  <a:srgbClr val="222222"/>
                </a:solidFill>
                <a:latin typeface="Calibri"/>
              </a:rPr>
              <a:t>Suslėgtas oras iš kompresoriaus varo siurblio stūmoklį, kuris spaudžia alyvą į pagrindinį cilindrą, ir stūmoklis kyla.</a:t>
            </a:r>
          </a:p>
          <a:p>
            <a:pPr>
              <a:spcAft>
                <a:spcPts val="100"/>
              </a:spcAft>
            </a:pPr>
            <a:r>
              <a:rPr sz="1700" b="1">
                <a:solidFill>
                  <a:srgbClr val="1F4E79"/>
                </a:solidFill>
                <a:latin typeface="Calibri"/>
              </a:rPr>
              <a:t>Ką išsprendė</a:t>
            </a:r>
          </a:p>
          <a:p>
            <a:pPr>
              <a:spcAft>
                <a:spcPts val="800"/>
              </a:spcAft>
            </a:pPr>
            <a:r>
              <a:rPr sz="1600" b="0">
                <a:solidFill>
                  <a:srgbClr val="222222"/>
                </a:solidFill>
                <a:latin typeface="Calibri"/>
              </a:rPr>
              <a:t>Juds rašė, kad rankinis pumpavimas hidrauliniame domkrate tampa varginantis, o pneumatiniai domkratai greiti ir jį pašalina. Dingus orui, krovinys lieka stovėti ant alyvos ir galima pumpuoti rankomis.</a:t>
            </a:r>
          </a:p>
          <a:p>
            <a:pPr>
              <a:spcAft>
                <a:spcPts val="100"/>
              </a:spcAft>
            </a:pPr>
            <a:r>
              <a:rPr sz="1700" b="1">
                <a:solidFill>
                  <a:srgbClr val="1F4E79"/>
                </a:solidFill>
                <a:latin typeface="Calibri"/>
              </a:rPr>
              <a:t>Problemos</a:t>
            </a:r>
          </a:p>
          <a:p>
            <a:pPr>
              <a:spcAft>
                <a:spcPts val="800"/>
              </a:spcAft>
            </a:pPr>
            <a:r>
              <a:rPr sz="1600" b="0">
                <a:solidFill>
                  <a:srgbClr val="222222"/>
                </a:solidFill>
                <a:latin typeface="Calibri"/>
              </a:rPr>
              <a:t>Reikia kompresoriaus su pakankamu slėgiu (dažniausiai apie 8–10 bar), o kelyje jo paprastai nėra. Brangesnis.</a:t>
            </a:r>
          </a:p>
        </p:txBody>
      </p:sp>
      <p:sp>
        <p:nvSpPr>
          <p:cNvPr id="11" name="TextBox 10"/>
          <p:cNvSpPr txBox="1"/>
          <p:nvPr/>
        </p:nvSpPr>
        <p:spPr>
          <a:xfrm>
            <a:off x="5577840" y="5833872"/>
            <a:ext cx="6035040" cy="457200"/>
          </a:xfrm>
          <a:prstGeom prst="rect">
            <a:avLst/>
          </a:prstGeom>
          <a:noFill/>
        </p:spPr>
        <p:txBody>
          <a:bodyPr wrap="square" anchor="t" lIns="45720" rIns="45720">
            <a:spAutoFit/>
          </a:bodyPr>
          <a:lstStyle/>
          <a:p>
            <a:pPr algn="l">
              <a:spcAft>
                <a:spcPts val="600"/>
              </a:spcAft>
            </a:pPr>
            <a:r>
              <a:rPr sz="1300" b="0">
                <a:solidFill>
                  <a:srgbClr val="595959"/>
                </a:solidFill>
                <a:latin typeface="Calibri"/>
              </a:rPr>
              <a:t>Šaltiniai: Juds (1967); TMG Industrial (n.d.); VEVOR (n.d.).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822960"/>
          </a:xfrm>
          <a:prstGeom prst="rect">
            <a:avLst/>
          </a:prstGeom>
          <a:noFill/>
        </p:spPr>
        <p:txBody>
          <a:bodyPr wrap="square" anchor="b" lIns="45720" rIns="45720">
            <a:spAutoFit/>
          </a:bodyPr>
          <a:lstStyle/>
          <a:p>
            <a:pPr algn="l">
              <a:spcAft>
                <a:spcPts val="600"/>
              </a:spcAft>
            </a:pPr>
            <a:r>
              <a:rPr sz="3200" b="1">
                <a:solidFill>
                  <a:srgbClr val="1F4E79"/>
                </a:solidFill>
                <a:latin typeface="Calibri"/>
              </a:rPr>
              <a:t>Pritaikymas: kur naudojami domkratai</a:t>
            </a:r>
          </a:p>
        </p:txBody>
      </p:sp>
      <p:sp>
        <p:nvSpPr>
          <p:cNvPr id="3" name="Rectangle 2"/>
          <p:cNvSpPr/>
          <p:nvPr/>
        </p:nvSpPr>
        <p:spPr>
          <a:xfrm>
            <a:off x="594360" y="1207008"/>
            <a:ext cx="10972800" cy="27432"/>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698480" y="6355080"/>
            <a:ext cx="1005840" cy="365760"/>
          </a:xfrm>
          <a:prstGeom prst="rect">
            <a:avLst/>
          </a:prstGeom>
          <a:noFill/>
        </p:spPr>
        <p:txBody>
          <a:bodyPr wrap="square" anchor="t" lIns="45720" rIns="45720">
            <a:spAutoFit/>
          </a:bodyPr>
          <a:lstStyle/>
          <a:p>
            <a:pPr algn="r">
              <a:spcAft>
                <a:spcPts val="600"/>
              </a:spcAft>
            </a:pPr>
            <a:r>
              <a:rPr sz="1200" b="0">
                <a:solidFill>
                  <a:srgbClr val="595959"/>
                </a:solidFill>
                <a:latin typeface="Calibri"/>
              </a:rPr>
              <a:t>8 / 12</a:t>
            </a:r>
          </a:p>
        </p:txBody>
      </p:sp>
      <p:sp>
        <p:nvSpPr>
          <p:cNvPr id="5" name="TextBox 4"/>
          <p:cNvSpPr txBox="1"/>
          <p:nvPr/>
        </p:nvSpPr>
        <p:spPr>
          <a:xfrm>
            <a:off x="548640" y="6355080"/>
            <a:ext cx="7315200" cy="365760"/>
          </a:xfrm>
          <a:prstGeom prst="rect">
            <a:avLst/>
          </a:prstGeom>
          <a:noFill/>
        </p:spPr>
        <p:txBody>
          <a:bodyPr wrap="square" anchor="t" lIns="45720" rIns="45720">
            <a:spAutoFit/>
          </a:bodyPr>
          <a:lstStyle/>
          <a:p>
            <a:pPr algn="l">
              <a:spcAft>
                <a:spcPts val="600"/>
              </a:spcAft>
            </a:pPr>
            <a:r>
              <a:rPr sz="1200" b="0">
                <a:solidFill>
                  <a:srgbClr val="595959"/>
                </a:solidFill>
                <a:latin typeface="Calibri"/>
              </a:rPr>
              <a:t>PBL · Automobilinis domkratas</a:t>
            </a:r>
          </a:p>
        </p:txBody>
      </p:sp>
      <p:graphicFrame>
        <p:nvGraphicFramePr>
          <p:cNvPr id="6" name="Table 5"/>
          <p:cNvGraphicFramePr>
            <a:graphicFrameLocks noGrp="1"/>
          </p:cNvGraphicFramePr>
          <p:nvPr/>
        </p:nvGraphicFramePr>
        <p:xfrm>
          <a:off x="640080" y="1463040"/>
          <a:ext cx="10881360" cy="3968496"/>
        </p:xfrm>
        <a:graphic>
          <a:graphicData uri="http://schemas.openxmlformats.org/drawingml/2006/table">
            <a:tbl>
              <a:tblPr firstRow="1" bandRow="1">
                <a:tableStyleId>{5C22544A-7EE6-4342-B048-85BDC9FD1C3A}</a:tableStyleId>
              </a:tblPr>
              <a:tblGrid>
                <a:gridCol w="2926080"/>
                <a:gridCol w="3017520"/>
                <a:gridCol w="4937760"/>
              </a:tblGrid>
              <a:tr h="566928">
                <a:tc>
                  <a:txBody>
                    <a:bodyPr/>
                    <a:lstStyle/>
                    <a:p>
                      <a:r>
                        <a:rPr sz="1600" b="1" i="0">
                          <a:solidFill>
                            <a:srgbClr val="FFFFFF"/>
                          </a:solidFill>
                          <a:latin typeface="Calibri"/>
                        </a:rPr>
                        <a:t>Kur naudojama</a:t>
                      </a:r>
                    </a:p>
                  </a:txBody>
                  <a:tcPr marL="73152" marR="73152" anchor="ctr">
                    <a:solidFill>
                      <a:srgbClr val="1F4E79"/>
                    </a:solidFill>
                  </a:tcPr>
                </a:tc>
                <a:tc>
                  <a:txBody>
                    <a:bodyPr/>
                    <a:lstStyle/>
                    <a:p>
                      <a:r>
                        <a:rPr sz="1600" b="1" i="0">
                          <a:solidFill>
                            <a:srgbClr val="FFFFFF"/>
                          </a:solidFill>
                          <a:latin typeface="Calibri"/>
                        </a:rPr>
                        <a:t>Domkrato tipas</a:t>
                      </a:r>
                    </a:p>
                  </a:txBody>
                  <a:tcPr marL="73152" marR="73152" anchor="ctr">
                    <a:solidFill>
                      <a:srgbClr val="1F4E79"/>
                    </a:solidFill>
                  </a:tcPr>
                </a:tc>
                <a:tc>
                  <a:txBody>
                    <a:bodyPr/>
                    <a:lstStyle/>
                    <a:p>
                      <a:r>
                        <a:rPr sz="1600" b="1" i="0">
                          <a:solidFill>
                            <a:srgbClr val="FFFFFF"/>
                          </a:solidFill>
                          <a:latin typeface="Calibri"/>
                        </a:rPr>
                        <a:t>Kodėl tinka</a:t>
                      </a:r>
                    </a:p>
                  </a:txBody>
                  <a:tcPr marL="73152" marR="73152" anchor="ctr">
                    <a:solidFill>
                      <a:srgbClr val="1F4E79"/>
                    </a:solidFill>
                  </a:tcPr>
                </a:tc>
              </a:tr>
              <a:tr h="566928">
                <a:tc>
                  <a:txBody>
                    <a:bodyPr/>
                    <a:lstStyle/>
                    <a:p>
                      <a:r>
                        <a:rPr sz="1600" b="1" i="0">
                          <a:solidFill>
                            <a:srgbClr val="222222"/>
                          </a:solidFill>
                          <a:latin typeface="Calibri"/>
                        </a:rPr>
                        <a:t>Lengvasis automobilis (ratui keisti)</a:t>
                      </a:r>
                    </a:p>
                  </a:txBody>
                  <a:tcPr marL="73152" marR="73152" anchor="ctr">
                    <a:solidFill>
                      <a:srgbClr val="FFFFFF"/>
                    </a:solidFill>
                  </a:tcPr>
                </a:tc>
                <a:tc>
                  <a:txBody>
                    <a:bodyPr/>
                    <a:lstStyle/>
                    <a:p>
                      <a:r>
                        <a:rPr sz="1600" b="0" i="0">
                          <a:solidFill>
                            <a:srgbClr val="222222"/>
                          </a:solidFill>
                          <a:latin typeface="Calibri"/>
                        </a:rPr>
                        <a:t>Žirklinis</a:t>
                      </a:r>
                    </a:p>
                  </a:txBody>
                  <a:tcPr marL="73152" marR="73152" anchor="ctr">
                    <a:solidFill>
                      <a:srgbClr val="FFFFFF"/>
                    </a:solidFill>
                  </a:tcPr>
                </a:tc>
                <a:tc>
                  <a:txBody>
                    <a:bodyPr/>
                    <a:lstStyle/>
                    <a:p>
                      <a:r>
                        <a:rPr sz="1600" b="0" i="0">
                          <a:solidFill>
                            <a:srgbClr val="222222"/>
                          </a:solidFill>
                          <a:latin typeface="Calibri"/>
                        </a:rPr>
                        <a:t>Lengvas ir pigus – gamintojai deda į naujus automobilius</a:t>
                      </a:r>
                    </a:p>
                  </a:txBody>
                  <a:tcPr marL="73152" marR="73152" anchor="ctr">
                    <a:solidFill>
                      <a:srgbClr val="FFFFFF"/>
                    </a:solidFill>
                  </a:tcPr>
                </a:tc>
              </a:tr>
              <a:tr h="566928">
                <a:tc>
                  <a:txBody>
                    <a:bodyPr/>
                    <a:lstStyle/>
                    <a:p>
                      <a:r>
                        <a:rPr sz="1600" b="1" i="0">
                          <a:solidFill>
                            <a:srgbClr val="222222"/>
                          </a:solidFill>
                          <a:latin typeface="Calibri"/>
                        </a:rPr>
                        <a:t>Autoservisai ir garažai</a:t>
                      </a:r>
                    </a:p>
                  </a:txBody>
                  <a:tcPr marL="73152" marR="73152" anchor="ctr">
                    <a:solidFill>
                      <a:srgbClr val="FFFFFF"/>
                    </a:solidFill>
                  </a:tcPr>
                </a:tc>
                <a:tc>
                  <a:txBody>
                    <a:bodyPr/>
                    <a:lstStyle/>
                    <a:p>
                      <a:r>
                        <a:rPr sz="1600" b="0" i="0">
                          <a:solidFill>
                            <a:srgbClr val="222222"/>
                          </a:solidFill>
                          <a:latin typeface="Calibri"/>
                        </a:rPr>
                        <a:t>Vežimėlinis, pneumohidraulinis</a:t>
                      </a:r>
                    </a:p>
                  </a:txBody>
                  <a:tcPr marL="73152" marR="73152" anchor="ctr">
                    <a:solidFill>
                      <a:srgbClr val="FFFFFF"/>
                    </a:solidFill>
                  </a:tcPr>
                </a:tc>
                <a:tc>
                  <a:txBody>
                    <a:bodyPr/>
                    <a:lstStyle/>
                    <a:p>
                      <a:r>
                        <a:rPr sz="1600" b="0" i="0">
                          <a:solidFill>
                            <a:srgbClr val="222222"/>
                          </a:solidFill>
                          <a:latin typeface="Calibri"/>
                        </a:rPr>
                        <a:t>Greitas ir stabilus; servisuose yra suslėgto oro linija</a:t>
                      </a:r>
                    </a:p>
                  </a:txBody>
                  <a:tcPr marL="73152" marR="73152" anchor="ctr">
                    <a:solidFill>
                      <a:srgbClr val="FFFFFF"/>
                    </a:solidFill>
                  </a:tcPr>
                </a:tc>
              </a:tr>
              <a:tr h="566928">
                <a:tc>
                  <a:txBody>
                    <a:bodyPr/>
                    <a:lstStyle/>
                    <a:p>
                      <a:r>
                        <a:rPr sz="1600" b="1" i="0">
                          <a:solidFill>
                            <a:srgbClr val="222222"/>
                          </a:solidFill>
                          <a:latin typeface="Calibri"/>
                        </a:rPr>
                        <a:t>Sunkvežimiai ir pramonė</a:t>
                      </a:r>
                    </a:p>
                  </a:txBody>
                  <a:tcPr marL="73152" marR="73152" anchor="ctr">
                    <a:solidFill>
                      <a:srgbClr val="FFFFFF"/>
                    </a:solidFill>
                  </a:tcPr>
                </a:tc>
                <a:tc>
                  <a:txBody>
                    <a:bodyPr/>
                    <a:lstStyle/>
                    <a:p>
                      <a:r>
                        <a:rPr sz="1600" b="0" i="0">
                          <a:solidFill>
                            <a:srgbClr val="222222"/>
                          </a:solidFill>
                          <a:latin typeface="Calibri"/>
                        </a:rPr>
                        <a:t>Hidraulinis butelinis</a:t>
                      </a:r>
                    </a:p>
                  </a:txBody>
                  <a:tcPr marL="73152" marR="73152" anchor="ctr">
                    <a:solidFill>
                      <a:srgbClr val="FFFFFF"/>
                    </a:solidFill>
                  </a:tcPr>
                </a:tc>
                <a:tc>
                  <a:txBody>
                    <a:bodyPr/>
                    <a:lstStyle/>
                    <a:p>
                      <a:r>
                        <a:rPr sz="1600" b="0" i="0">
                          <a:solidFill>
                            <a:srgbClr val="222222"/>
                          </a:solidFill>
                          <a:latin typeface="Calibri"/>
                        </a:rPr>
                        <a:t>Didelė keliamoji galia – nuo 3 iki 50 t</a:t>
                      </a:r>
                    </a:p>
                  </a:txBody>
                  <a:tcPr marL="73152" marR="73152" anchor="ctr">
                    <a:solidFill>
                      <a:srgbClr val="FFFFFF"/>
                    </a:solidFill>
                  </a:tcPr>
                </a:tc>
              </a:tr>
              <a:tr h="566928">
                <a:tc>
                  <a:txBody>
                    <a:bodyPr/>
                    <a:lstStyle/>
                    <a:p>
                      <a:r>
                        <a:rPr sz="1600" b="1" i="0">
                          <a:solidFill>
                            <a:srgbClr val="222222"/>
                          </a:solidFill>
                          <a:latin typeface="Calibri"/>
                        </a:rPr>
                        <a:t>Visureigiai ir ūkiai</a:t>
                      </a:r>
                    </a:p>
                  </a:txBody>
                  <a:tcPr marL="73152" marR="73152" anchor="ctr">
                    <a:solidFill>
                      <a:srgbClr val="FFFFFF"/>
                    </a:solidFill>
                  </a:tcPr>
                </a:tc>
                <a:tc>
                  <a:txBody>
                    <a:bodyPr/>
                    <a:lstStyle/>
                    <a:p>
                      <a:r>
                        <a:rPr sz="1600" b="0" i="0">
                          <a:solidFill>
                            <a:srgbClr val="222222"/>
                          </a:solidFill>
                          <a:latin typeface="Calibri"/>
                        </a:rPr>
                        <a:t>Krumpliastiebinis („Hi-Lift“)</a:t>
                      </a:r>
                    </a:p>
                  </a:txBody>
                  <a:tcPr marL="73152" marR="73152" anchor="ctr">
                    <a:solidFill>
                      <a:srgbClr val="FFFFFF"/>
                    </a:solidFill>
                  </a:tcPr>
                </a:tc>
                <a:tc>
                  <a:txBody>
                    <a:bodyPr/>
                    <a:lstStyle/>
                    <a:p>
                      <a:r>
                        <a:rPr sz="1600" b="0" i="0">
                          <a:solidFill>
                            <a:srgbClr val="222222"/>
                          </a:solidFill>
                          <a:latin typeface="Calibri"/>
                        </a:rPr>
                        <a:t>Kelia labai aukštai, tinka ir traukti, spausti</a:t>
                      </a:r>
                    </a:p>
                  </a:txBody>
                  <a:tcPr marL="73152" marR="73152" anchor="ctr">
                    <a:solidFill>
                      <a:srgbClr val="FFFFFF"/>
                    </a:solidFill>
                  </a:tcPr>
                </a:tc>
              </a:tr>
              <a:tr h="566928">
                <a:tc>
                  <a:txBody>
                    <a:bodyPr/>
                    <a:lstStyle/>
                    <a:p>
                      <a:r>
                        <a:rPr sz="1600" b="1" i="0">
                          <a:solidFill>
                            <a:srgbClr val="222222"/>
                          </a:solidFill>
                          <a:latin typeface="Calibri"/>
                        </a:rPr>
                        <a:t>Statyba ir sunkūs kroviniai</a:t>
                      </a:r>
                    </a:p>
                  </a:txBody>
                  <a:tcPr marL="73152" marR="73152" anchor="ctr">
                    <a:solidFill>
                      <a:srgbClr val="FFFFFF"/>
                    </a:solidFill>
                  </a:tcPr>
                </a:tc>
                <a:tc>
                  <a:txBody>
                    <a:bodyPr/>
                    <a:lstStyle/>
                    <a:p>
                      <a:r>
                        <a:rPr sz="1600" b="0" i="0">
                          <a:solidFill>
                            <a:srgbClr val="222222"/>
                          </a:solidFill>
                          <a:latin typeface="Calibri"/>
                        </a:rPr>
                        <a:t>Hidraulinės kėlimo sistemos</a:t>
                      </a:r>
                    </a:p>
                  </a:txBody>
                  <a:tcPr marL="73152" marR="73152" anchor="ctr">
                    <a:solidFill>
                      <a:srgbClr val="FFFFFF"/>
                    </a:solidFill>
                  </a:tcPr>
                </a:tc>
                <a:tc>
                  <a:txBody>
                    <a:bodyPr/>
                    <a:lstStyle/>
                    <a:p>
                      <a:r>
                        <a:rPr sz="1600" b="0" i="0">
                          <a:solidFill>
                            <a:srgbClr val="222222"/>
                          </a:solidFill>
                          <a:latin typeface="Calibri"/>
                        </a:rPr>
                        <a:t>Daug domkratų kartu kelia didelius objektus</a:t>
                      </a:r>
                    </a:p>
                  </a:txBody>
                  <a:tcPr marL="73152" marR="73152" anchor="ctr">
                    <a:solidFill>
                      <a:srgbClr val="FFFFFF"/>
                    </a:solidFill>
                  </a:tcPr>
                </a:tc>
              </a:tr>
              <a:tr h="566928">
                <a:tc>
                  <a:txBody>
                    <a:bodyPr/>
                    <a:lstStyle/>
                    <a:p>
                      <a:r>
                        <a:rPr sz="1600" b="1" i="0">
                          <a:solidFill>
                            <a:srgbClr val="222222"/>
                          </a:solidFill>
                          <a:latin typeface="Calibri"/>
                        </a:rPr>
                        <a:t>Kas nenori sukti rankenos</a:t>
                      </a:r>
                    </a:p>
                  </a:txBody>
                  <a:tcPr marL="73152" marR="73152" anchor="ctr">
                    <a:solidFill>
                      <a:srgbClr val="FFFFFF"/>
                    </a:solidFill>
                  </a:tcPr>
                </a:tc>
                <a:tc>
                  <a:txBody>
                    <a:bodyPr/>
                    <a:lstStyle/>
                    <a:p>
                      <a:r>
                        <a:rPr sz="1600" b="0" i="0">
                          <a:solidFill>
                            <a:srgbClr val="222222"/>
                          </a:solidFill>
                          <a:latin typeface="Calibri"/>
                        </a:rPr>
                        <a:t>Elektrinis žirklinis</a:t>
                      </a:r>
                    </a:p>
                  </a:txBody>
                  <a:tcPr marL="73152" marR="73152" anchor="ctr">
                    <a:solidFill>
                      <a:srgbClr val="FFFFFF"/>
                    </a:solidFill>
                  </a:tcPr>
                </a:tc>
                <a:tc>
                  <a:txBody>
                    <a:bodyPr/>
                    <a:lstStyle/>
                    <a:p>
                      <a:r>
                        <a:rPr sz="1600" b="0" i="0">
                          <a:solidFill>
                            <a:srgbClr val="222222"/>
                          </a:solidFill>
                          <a:latin typeface="Calibri"/>
                        </a:rPr>
                        <a:t>Kyla paspaudus mygtuką, maitinamas iš 12 V lizdo</a:t>
                      </a:r>
                    </a:p>
                  </a:txBody>
                  <a:tcPr marL="73152" marR="73152" anchor="ctr">
                    <a:solidFill>
                      <a:srgbClr val="FFFFFF"/>
                    </a:solidFill>
                  </a:tcPr>
                </a:tc>
              </a:tr>
            </a:tbl>
          </a:graphicData>
        </a:graphic>
      </p:graphicFrame>
      <p:sp>
        <p:nvSpPr>
          <p:cNvPr id="7" name="TextBox 6"/>
          <p:cNvSpPr txBox="1"/>
          <p:nvPr/>
        </p:nvSpPr>
        <p:spPr>
          <a:xfrm>
            <a:off x="640080" y="5897880"/>
            <a:ext cx="10881360" cy="457200"/>
          </a:xfrm>
          <a:prstGeom prst="rect">
            <a:avLst/>
          </a:prstGeom>
          <a:noFill/>
        </p:spPr>
        <p:txBody>
          <a:bodyPr wrap="square" anchor="t" lIns="45720" rIns="45720">
            <a:spAutoFit/>
          </a:bodyPr>
          <a:lstStyle/>
          <a:p>
            <a:pPr algn="l">
              <a:spcAft>
                <a:spcPts val="600"/>
              </a:spcAft>
            </a:pPr>
            <a:r>
              <a:rPr sz="1300" b="0">
                <a:solidFill>
                  <a:srgbClr val="595959"/>
                </a:solidFill>
                <a:latin typeface="Calibri"/>
              </a:rPr>
              <a:t>Šaltiniai: CJ Pony Parts (n.d.); Juds (1967); Hi-Lift Jack Company (n.d.-a); Richard Dudgeon, Inc. (n.d.); Pro-Lift-Montagetechnik (n.d.).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822960"/>
          </a:xfrm>
          <a:prstGeom prst="rect">
            <a:avLst/>
          </a:prstGeom>
          <a:noFill/>
        </p:spPr>
        <p:txBody>
          <a:bodyPr wrap="square" anchor="b" lIns="45720" rIns="45720">
            <a:spAutoFit/>
          </a:bodyPr>
          <a:lstStyle/>
          <a:p>
            <a:pPr algn="l">
              <a:spcAft>
                <a:spcPts val="600"/>
              </a:spcAft>
            </a:pPr>
            <a:r>
              <a:rPr sz="3200" b="1">
                <a:solidFill>
                  <a:srgbClr val="1F4E79"/>
                </a:solidFill>
                <a:latin typeface="Calibri"/>
              </a:rPr>
              <a:t>Kompanijos, kūrusios domkratus</a:t>
            </a:r>
          </a:p>
        </p:txBody>
      </p:sp>
      <p:sp>
        <p:nvSpPr>
          <p:cNvPr id="3" name="Rectangle 2"/>
          <p:cNvSpPr/>
          <p:nvPr/>
        </p:nvSpPr>
        <p:spPr>
          <a:xfrm>
            <a:off x="594360" y="1207008"/>
            <a:ext cx="10972800" cy="27432"/>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698480" y="6355080"/>
            <a:ext cx="1005840" cy="365760"/>
          </a:xfrm>
          <a:prstGeom prst="rect">
            <a:avLst/>
          </a:prstGeom>
          <a:noFill/>
        </p:spPr>
        <p:txBody>
          <a:bodyPr wrap="square" anchor="t" lIns="45720" rIns="45720">
            <a:spAutoFit/>
          </a:bodyPr>
          <a:lstStyle/>
          <a:p>
            <a:pPr algn="r">
              <a:spcAft>
                <a:spcPts val="600"/>
              </a:spcAft>
            </a:pPr>
            <a:r>
              <a:rPr sz="1200" b="0">
                <a:solidFill>
                  <a:srgbClr val="595959"/>
                </a:solidFill>
                <a:latin typeface="Calibri"/>
              </a:rPr>
              <a:t>9 / 12</a:t>
            </a:r>
          </a:p>
        </p:txBody>
      </p:sp>
      <p:sp>
        <p:nvSpPr>
          <p:cNvPr id="5" name="TextBox 4"/>
          <p:cNvSpPr txBox="1"/>
          <p:nvPr/>
        </p:nvSpPr>
        <p:spPr>
          <a:xfrm>
            <a:off x="548640" y="6355080"/>
            <a:ext cx="7315200" cy="365760"/>
          </a:xfrm>
          <a:prstGeom prst="rect">
            <a:avLst/>
          </a:prstGeom>
          <a:noFill/>
        </p:spPr>
        <p:txBody>
          <a:bodyPr wrap="square" anchor="t" lIns="45720" rIns="45720">
            <a:spAutoFit/>
          </a:bodyPr>
          <a:lstStyle/>
          <a:p>
            <a:pPr algn="l">
              <a:spcAft>
                <a:spcPts val="600"/>
              </a:spcAft>
            </a:pPr>
            <a:r>
              <a:rPr sz="1200" b="0">
                <a:solidFill>
                  <a:srgbClr val="595959"/>
                </a:solidFill>
                <a:latin typeface="Calibri"/>
              </a:rPr>
              <a:t>PBL · Automobilinis domkratas</a:t>
            </a:r>
          </a:p>
        </p:txBody>
      </p:sp>
      <p:graphicFrame>
        <p:nvGraphicFramePr>
          <p:cNvPr id="6" name="Table 5"/>
          <p:cNvGraphicFramePr>
            <a:graphicFrameLocks noGrp="1"/>
          </p:cNvGraphicFramePr>
          <p:nvPr/>
        </p:nvGraphicFramePr>
        <p:xfrm>
          <a:off x="640080" y="1463040"/>
          <a:ext cx="10881360" cy="3950208"/>
        </p:xfrm>
        <a:graphic>
          <a:graphicData uri="http://schemas.openxmlformats.org/drawingml/2006/table">
            <a:tbl>
              <a:tblPr firstRow="1" bandRow="1">
                <a:tableStyleId>{5C22544A-7EE6-4342-B048-85BDC9FD1C3A}</a:tableStyleId>
              </a:tblPr>
              <a:tblGrid>
                <a:gridCol w="2743200"/>
                <a:gridCol w="1554480"/>
                <a:gridCol w="4023360"/>
                <a:gridCol w="2560320"/>
              </a:tblGrid>
              <a:tr h="658368">
                <a:tc>
                  <a:txBody>
                    <a:bodyPr/>
                    <a:lstStyle/>
                    <a:p>
                      <a:r>
                        <a:rPr sz="1600" b="1" i="0">
                          <a:solidFill>
                            <a:srgbClr val="FFFFFF"/>
                          </a:solidFill>
                          <a:latin typeface="Calibri"/>
                        </a:rPr>
                        <a:t>Kompanija</a:t>
                      </a:r>
                    </a:p>
                  </a:txBody>
                  <a:tcPr marL="73152" marR="73152" anchor="ctr">
                    <a:solidFill>
                      <a:srgbClr val="1F4E79"/>
                    </a:solidFill>
                  </a:tcPr>
                </a:tc>
                <a:tc>
                  <a:txBody>
                    <a:bodyPr/>
                    <a:lstStyle/>
                    <a:p>
                      <a:r>
                        <a:rPr sz="1600" b="1" i="0">
                          <a:solidFill>
                            <a:srgbClr val="FFFFFF"/>
                          </a:solidFill>
                          <a:latin typeface="Calibri"/>
                        </a:rPr>
                        <a:t>Įkurta</a:t>
                      </a:r>
                    </a:p>
                  </a:txBody>
                  <a:tcPr marL="73152" marR="73152" anchor="ctr">
                    <a:solidFill>
                      <a:srgbClr val="1F4E79"/>
                    </a:solidFill>
                  </a:tcPr>
                </a:tc>
                <a:tc>
                  <a:txBody>
                    <a:bodyPr/>
                    <a:lstStyle/>
                    <a:p>
                      <a:r>
                        <a:rPr sz="1600" b="1" i="0">
                          <a:solidFill>
                            <a:srgbClr val="FFFFFF"/>
                          </a:solidFill>
                          <a:latin typeface="Calibri"/>
                        </a:rPr>
                        <a:t>Ką sukūrė</a:t>
                      </a:r>
                    </a:p>
                  </a:txBody>
                  <a:tcPr marL="73152" marR="73152" anchor="ctr">
                    <a:solidFill>
                      <a:srgbClr val="1F4E79"/>
                    </a:solidFill>
                  </a:tcPr>
                </a:tc>
                <a:tc>
                  <a:txBody>
                    <a:bodyPr/>
                    <a:lstStyle/>
                    <a:p>
                      <a:r>
                        <a:rPr sz="1600" b="1" i="0">
                          <a:solidFill>
                            <a:srgbClr val="FFFFFF"/>
                          </a:solidFill>
                          <a:latin typeface="Calibri"/>
                        </a:rPr>
                        <a:t>Šiandien</a:t>
                      </a:r>
                    </a:p>
                  </a:txBody>
                  <a:tcPr marL="73152" marR="73152" anchor="ctr">
                    <a:solidFill>
                      <a:srgbClr val="1F4E79"/>
                    </a:solidFill>
                  </a:tcPr>
                </a:tc>
              </a:tr>
              <a:tr h="658368">
                <a:tc>
                  <a:txBody>
                    <a:bodyPr/>
                    <a:lstStyle/>
                    <a:p>
                      <a:r>
                        <a:rPr sz="1600" b="1" i="0">
                          <a:solidFill>
                            <a:srgbClr val="222222"/>
                          </a:solidFill>
                          <a:latin typeface="Calibri"/>
                        </a:rPr>
                        <a:t>Richard Dudgeon, Inc. (Niujorkas)</a:t>
                      </a:r>
                    </a:p>
                  </a:txBody>
                  <a:tcPr marL="73152" marR="73152" anchor="ctr">
                    <a:solidFill>
                      <a:srgbClr val="FFFFFF"/>
                    </a:solidFill>
                  </a:tcPr>
                </a:tc>
                <a:tc>
                  <a:txBody>
                    <a:bodyPr/>
                    <a:lstStyle/>
                    <a:p>
                      <a:r>
                        <a:rPr sz="1600" b="0" i="0">
                          <a:solidFill>
                            <a:srgbClr val="222222"/>
                          </a:solidFill>
                          <a:latin typeface="Calibri"/>
                        </a:rPr>
                        <a:t>1849 m.</a:t>
                      </a:r>
                    </a:p>
                  </a:txBody>
                  <a:tcPr marL="73152" marR="73152" anchor="ctr">
                    <a:solidFill>
                      <a:srgbClr val="FFFFFF"/>
                    </a:solidFill>
                  </a:tcPr>
                </a:tc>
                <a:tc>
                  <a:txBody>
                    <a:bodyPr/>
                    <a:lstStyle/>
                    <a:p>
                      <a:r>
                        <a:rPr sz="1600" b="0" i="0">
                          <a:solidFill>
                            <a:srgbClr val="222222"/>
                          </a:solidFill>
                          <a:latin typeface="Calibri"/>
                        </a:rPr>
                        <a:t>Pirmasis nešiojamas hidraulinis domkratas (1851 m.)</a:t>
                      </a:r>
                    </a:p>
                  </a:txBody>
                  <a:tcPr marL="73152" marR="73152" anchor="ctr">
                    <a:solidFill>
                      <a:srgbClr val="FFFFFF"/>
                    </a:solidFill>
                  </a:tcPr>
                </a:tc>
                <a:tc>
                  <a:txBody>
                    <a:bodyPr/>
                    <a:lstStyle/>
                    <a:p>
                      <a:r>
                        <a:rPr sz="1600" b="0" i="0">
                          <a:solidFill>
                            <a:srgbClr val="222222"/>
                          </a:solidFill>
                          <a:latin typeface="Calibri"/>
                        </a:rPr>
                        <a:t>Tebeveikia (Konektikutas)</a:t>
                      </a:r>
                    </a:p>
                  </a:txBody>
                  <a:tcPr marL="73152" marR="73152" anchor="ctr">
                    <a:solidFill>
                      <a:srgbClr val="FFFFFF"/>
                    </a:solidFill>
                  </a:tcPr>
                </a:tc>
              </a:tr>
              <a:tr h="658368">
                <a:tc>
                  <a:txBody>
                    <a:bodyPr/>
                    <a:lstStyle/>
                    <a:p>
                      <a:r>
                        <a:rPr sz="1600" b="1" i="0">
                          <a:solidFill>
                            <a:srgbClr val="222222"/>
                          </a:solidFill>
                          <a:latin typeface="Calibri"/>
                        </a:rPr>
                        <a:t>Hi-Lift Jack Company (Indiana)</a:t>
                      </a:r>
                    </a:p>
                  </a:txBody>
                  <a:tcPr marL="73152" marR="73152" anchor="ctr">
                    <a:solidFill>
                      <a:srgbClr val="FFFFFF"/>
                    </a:solidFill>
                  </a:tcPr>
                </a:tc>
                <a:tc>
                  <a:txBody>
                    <a:bodyPr/>
                    <a:lstStyle/>
                    <a:p>
                      <a:r>
                        <a:rPr sz="1600" b="0" i="0">
                          <a:solidFill>
                            <a:srgbClr val="222222"/>
                          </a:solidFill>
                          <a:latin typeface="Calibri"/>
                        </a:rPr>
                        <a:t>1895 m.</a:t>
                      </a:r>
                    </a:p>
                  </a:txBody>
                  <a:tcPr marL="73152" marR="73152" anchor="ctr">
                    <a:solidFill>
                      <a:srgbClr val="FFFFFF"/>
                    </a:solidFill>
                  </a:tcPr>
                </a:tc>
                <a:tc>
                  <a:txBody>
                    <a:bodyPr/>
                    <a:lstStyle/>
                    <a:p>
                      <a:r>
                        <a:rPr sz="1600" b="0" i="0">
                          <a:solidFill>
                            <a:srgbClr val="222222"/>
                          </a:solidFill>
                          <a:latin typeface="Calibri"/>
                        </a:rPr>
                        <a:t>Krumpliastiebinis „Hi-Lift“ domkratas (1905 m.)</a:t>
                      </a:r>
                    </a:p>
                  </a:txBody>
                  <a:tcPr marL="73152" marR="73152" anchor="ctr">
                    <a:solidFill>
                      <a:srgbClr val="FFFFFF"/>
                    </a:solidFill>
                  </a:tcPr>
                </a:tc>
                <a:tc>
                  <a:txBody>
                    <a:bodyPr/>
                    <a:lstStyle/>
                    <a:p>
                      <a:r>
                        <a:rPr sz="1600" b="0" i="0">
                          <a:solidFill>
                            <a:srgbClr val="222222"/>
                          </a:solidFill>
                          <a:latin typeface="Calibri"/>
                        </a:rPr>
                        <a:t>Gamina iki šiol</a:t>
                      </a:r>
                    </a:p>
                  </a:txBody>
                  <a:tcPr marL="73152" marR="73152" anchor="ctr">
                    <a:solidFill>
                      <a:srgbClr val="FFFFFF"/>
                    </a:solidFill>
                  </a:tcPr>
                </a:tc>
              </a:tr>
              <a:tr h="658368">
                <a:tc>
                  <a:txBody>
                    <a:bodyPr/>
                    <a:lstStyle/>
                    <a:p>
                      <a:r>
                        <a:rPr sz="1600" b="1" i="0">
                          <a:solidFill>
                            <a:srgbClr val="222222"/>
                          </a:solidFill>
                          <a:latin typeface="Calibri"/>
                        </a:rPr>
                        <a:t>Weaver Manufacturing</a:t>
                      </a:r>
                    </a:p>
                  </a:txBody>
                  <a:tcPr marL="73152" marR="73152" anchor="ctr">
                    <a:solidFill>
                      <a:srgbClr val="FFFFFF"/>
                    </a:solidFill>
                  </a:tcPr>
                </a:tc>
                <a:tc>
                  <a:txBody>
                    <a:bodyPr/>
                    <a:lstStyle/>
                    <a:p>
                      <a:r>
                        <a:rPr sz="1600" b="0" i="0">
                          <a:solidFill>
                            <a:srgbClr val="222222"/>
                          </a:solidFill>
                          <a:latin typeface="Calibri"/>
                        </a:rPr>
                        <a:t>—</a:t>
                      </a:r>
                    </a:p>
                  </a:txBody>
                  <a:tcPr marL="73152" marR="73152" anchor="ctr">
                    <a:solidFill>
                      <a:srgbClr val="FFFFFF"/>
                    </a:solidFill>
                  </a:tcPr>
                </a:tc>
                <a:tc>
                  <a:txBody>
                    <a:bodyPr/>
                    <a:lstStyle/>
                    <a:p>
                      <a:r>
                        <a:rPr sz="1600" b="0" i="0">
                          <a:solidFill>
                            <a:srgbClr val="222222"/>
                          </a:solidFill>
                          <a:latin typeface="Calibri"/>
                        </a:rPr>
                        <a:t>Vežimėlinis „Auto-Twin“ (1910 m.), pirmasis hidraulinis (1928 m.)</a:t>
                      </a:r>
                    </a:p>
                  </a:txBody>
                  <a:tcPr marL="73152" marR="73152" anchor="ctr">
                    <a:solidFill>
                      <a:srgbClr val="FFFFFF"/>
                    </a:solidFill>
                  </a:tcPr>
                </a:tc>
                <a:tc>
                  <a:txBody>
                    <a:bodyPr/>
                    <a:lstStyle/>
                    <a:p>
                      <a:r>
                        <a:rPr sz="1600" b="0" i="0">
                          <a:solidFill>
                            <a:srgbClr val="222222"/>
                          </a:solidFill>
                          <a:latin typeface="Calibri"/>
                        </a:rPr>
                        <a:t>—</a:t>
                      </a:r>
                    </a:p>
                  </a:txBody>
                  <a:tcPr marL="73152" marR="73152" anchor="ctr">
                    <a:solidFill>
                      <a:srgbClr val="FFFFFF"/>
                    </a:solidFill>
                  </a:tcPr>
                </a:tc>
              </a:tr>
              <a:tr h="658368">
                <a:tc>
                  <a:txBody>
                    <a:bodyPr/>
                    <a:lstStyle/>
                    <a:p>
                      <a:r>
                        <a:rPr sz="1600" b="1" i="0">
                          <a:solidFill>
                            <a:srgbClr val="222222"/>
                          </a:solidFill>
                          <a:latin typeface="Calibri"/>
                        </a:rPr>
                        <a:t>Blackhawk (Milvokis)</a:t>
                      </a:r>
                    </a:p>
                  </a:txBody>
                  <a:tcPr marL="73152" marR="73152" anchor="ctr">
                    <a:solidFill>
                      <a:srgbClr val="FFFFFF"/>
                    </a:solidFill>
                  </a:tcPr>
                </a:tc>
                <a:tc>
                  <a:txBody>
                    <a:bodyPr/>
                    <a:lstStyle/>
                    <a:p>
                      <a:r>
                        <a:rPr sz="1600" b="0" i="0">
                          <a:solidFill>
                            <a:srgbClr val="222222"/>
                          </a:solidFill>
                          <a:latin typeface="Calibri"/>
                        </a:rPr>
                        <a:t>1919 m.</a:t>
                      </a:r>
                    </a:p>
                  </a:txBody>
                  <a:tcPr marL="73152" marR="73152" anchor="ctr">
                    <a:solidFill>
                      <a:srgbClr val="FFFFFF"/>
                    </a:solidFill>
                  </a:tcPr>
                </a:tc>
                <a:tc>
                  <a:txBody>
                    <a:bodyPr/>
                    <a:lstStyle/>
                    <a:p>
                      <a:r>
                        <a:rPr sz="1600" b="0" i="0">
                          <a:solidFill>
                            <a:srgbClr val="222222"/>
                          </a:solidFill>
                          <a:latin typeface="Calibri"/>
                        </a:rPr>
                        <a:t>Įrankiai ir vežimėliniai domkratai</a:t>
                      </a:r>
                    </a:p>
                  </a:txBody>
                  <a:tcPr marL="73152" marR="73152" anchor="ctr">
                    <a:solidFill>
                      <a:srgbClr val="FFFFFF"/>
                    </a:solidFill>
                  </a:tcPr>
                </a:tc>
                <a:tc>
                  <a:txBody>
                    <a:bodyPr/>
                    <a:lstStyle/>
                    <a:p>
                      <a:r>
                        <a:rPr sz="1600" b="0" i="0">
                          <a:solidFill>
                            <a:srgbClr val="222222"/>
                          </a:solidFill>
                          <a:latin typeface="Calibri"/>
                        </a:rPr>
                        <a:t>Prekės ženklas priklauso Stanley</a:t>
                      </a:r>
                    </a:p>
                  </a:txBody>
                  <a:tcPr marL="73152" marR="73152" anchor="ctr">
                    <a:solidFill>
                      <a:srgbClr val="FFFFFF"/>
                    </a:solidFill>
                  </a:tcPr>
                </a:tc>
              </a:tr>
              <a:tr h="658368">
                <a:tc>
                  <a:txBody>
                    <a:bodyPr/>
                    <a:lstStyle/>
                    <a:p>
                      <a:r>
                        <a:rPr sz="1600" b="1" i="0">
                          <a:solidFill>
                            <a:srgbClr val="222222"/>
                          </a:solidFill>
                          <a:latin typeface="Calibri"/>
                        </a:rPr>
                        <a:t>Milwaukee Hydraulic Products</a:t>
                      </a:r>
                    </a:p>
                  </a:txBody>
                  <a:tcPr marL="73152" marR="73152" anchor="ctr">
                    <a:solidFill>
                      <a:srgbClr val="FFFFFF"/>
                    </a:solidFill>
                  </a:tcPr>
                </a:tc>
                <a:tc>
                  <a:txBody>
                    <a:bodyPr/>
                    <a:lstStyle/>
                    <a:p>
                      <a:r>
                        <a:rPr sz="1600" b="0" i="0">
                          <a:solidFill>
                            <a:srgbClr val="222222"/>
                          </a:solidFill>
                          <a:latin typeface="Calibri"/>
                        </a:rPr>
                        <a:t>—</a:t>
                      </a:r>
                    </a:p>
                  </a:txBody>
                  <a:tcPr marL="73152" marR="73152" anchor="ctr">
                    <a:solidFill>
                      <a:srgbClr val="FFFFFF"/>
                    </a:solidFill>
                  </a:tcPr>
                </a:tc>
                <a:tc>
                  <a:txBody>
                    <a:bodyPr/>
                    <a:lstStyle/>
                    <a:p>
                      <a:r>
                        <a:rPr sz="1600" b="0" i="0">
                          <a:solidFill>
                            <a:srgbClr val="222222"/>
                          </a:solidFill>
                          <a:latin typeface="Calibri"/>
                        </a:rPr>
                        <a:t>Kombinuotas pneumohidraulinis domkratas (1967 m. patentas)</a:t>
                      </a:r>
                    </a:p>
                  </a:txBody>
                  <a:tcPr marL="73152" marR="73152" anchor="ctr">
                    <a:solidFill>
                      <a:srgbClr val="FFFFFF"/>
                    </a:solidFill>
                  </a:tcPr>
                </a:tc>
                <a:tc>
                  <a:txBody>
                    <a:bodyPr/>
                    <a:lstStyle/>
                    <a:p>
                      <a:r>
                        <a:rPr sz="1600" b="0" i="0">
                          <a:solidFill>
                            <a:srgbClr val="222222"/>
                          </a:solidFill>
                          <a:latin typeface="Calibri"/>
                        </a:rPr>
                        <a:t>—</a:t>
                      </a:r>
                    </a:p>
                  </a:txBody>
                  <a:tcPr marL="73152" marR="73152" anchor="ctr">
                    <a:solidFill>
                      <a:srgbClr val="FFFFFF"/>
                    </a:solidFill>
                  </a:tcPr>
                </a:tc>
              </a:tr>
            </a:tbl>
          </a:graphicData>
        </a:graphic>
      </p:graphicFrame>
      <p:sp>
        <p:nvSpPr>
          <p:cNvPr id="7" name="TextBox 6"/>
          <p:cNvSpPr txBox="1"/>
          <p:nvPr/>
        </p:nvSpPr>
        <p:spPr>
          <a:xfrm>
            <a:off x="640080" y="5897880"/>
            <a:ext cx="10881360" cy="457200"/>
          </a:xfrm>
          <a:prstGeom prst="rect">
            <a:avLst/>
          </a:prstGeom>
          <a:noFill/>
        </p:spPr>
        <p:txBody>
          <a:bodyPr wrap="square" anchor="t" lIns="45720" rIns="45720">
            <a:spAutoFit/>
          </a:bodyPr>
          <a:lstStyle/>
          <a:p>
            <a:pPr algn="l">
              <a:spcAft>
                <a:spcPts val="600"/>
              </a:spcAft>
            </a:pPr>
            <a:r>
              <a:rPr sz="1300" b="0">
                <a:solidFill>
                  <a:srgbClr val="595959"/>
                </a:solidFill>
                <a:latin typeface="Calibri"/>
              </a:rPr>
              <a:t>Šaltiniai: Wikipedia (n.d.-c); Richard Dudgeon, Inc. (n.d.); Hi-Lift Jack Company (n.d.-a); Castle Equipment (n.d.); Wikipedia (n.d.-a); Juds (1967).</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822960"/>
          </a:xfrm>
          <a:prstGeom prst="rect">
            <a:avLst/>
          </a:prstGeom>
          <a:noFill/>
        </p:spPr>
        <p:txBody>
          <a:bodyPr wrap="square" anchor="b" lIns="45720" rIns="45720">
            <a:spAutoFit/>
          </a:bodyPr>
          <a:lstStyle/>
          <a:p>
            <a:pPr algn="l">
              <a:spcAft>
                <a:spcPts val="600"/>
              </a:spcAft>
            </a:pPr>
            <a:r>
              <a:rPr sz="3200" b="1">
                <a:solidFill>
                  <a:srgbClr val="1F4E79"/>
                </a:solidFill>
                <a:latin typeface="Calibri"/>
              </a:rPr>
              <a:t>Trūkumai ir mūsų patobulinimas</a:t>
            </a:r>
          </a:p>
        </p:txBody>
      </p:sp>
      <p:sp>
        <p:nvSpPr>
          <p:cNvPr id="3" name="Rectangle 2"/>
          <p:cNvSpPr/>
          <p:nvPr/>
        </p:nvSpPr>
        <p:spPr>
          <a:xfrm>
            <a:off x="594360" y="1207008"/>
            <a:ext cx="10972800" cy="27432"/>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698480" y="6355080"/>
            <a:ext cx="1005840" cy="365760"/>
          </a:xfrm>
          <a:prstGeom prst="rect">
            <a:avLst/>
          </a:prstGeom>
          <a:noFill/>
        </p:spPr>
        <p:txBody>
          <a:bodyPr wrap="square" anchor="t" lIns="45720" rIns="45720">
            <a:spAutoFit/>
          </a:bodyPr>
          <a:lstStyle/>
          <a:p>
            <a:pPr algn="r">
              <a:spcAft>
                <a:spcPts val="600"/>
              </a:spcAft>
            </a:pPr>
            <a:r>
              <a:rPr sz="1200" b="0">
                <a:solidFill>
                  <a:srgbClr val="595959"/>
                </a:solidFill>
                <a:latin typeface="Calibri"/>
              </a:rPr>
              <a:t>10 / 12</a:t>
            </a:r>
          </a:p>
        </p:txBody>
      </p:sp>
      <p:sp>
        <p:nvSpPr>
          <p:cNvPr id="5" name="TextBox 4"/>
          <p:cNvSpPr txBox="1"/>
          <p:nvPr/>
        </p:nvSpPr>
        <p:spPr>
          <a:xfrm>
            <a:off x="548640" y="6355080"/>
            <a:ext cx="7315200" cy="365760"/>
          </a:xfrm>
          <a:prstGeom prst="rect">
            <a:avLst/>
          </a:prstGeom>
          <a:noFill/>
        </p:spPr>
        <p:txBody>
          <a:bodyPr wrap="square" anchor="t" lIns="45720" rIns="45720">
            <a:spAutoFit/>
          </a:bodyPr>
          <a:lstStyle/>
          <a:p>
            <a:pPr algn="l">
              <a:spcAft>
                <a:spcPts val="600"/>
              </a:spcAft>
            </a:pPr>
            <a:r>
              <a:rPr sz="1200" b="0">
                <a:solidFill>
                  <a:srgbClr val="595959"/>
                </a:solidFill>
                <a:latin typeface="Calibri"/>
              </a:rPr>
              <a:t>PBL · Automobilinis domkratas</a:t>
            </a:r>
          </a:p>
        </p:txBody>
      </p:sp>
      <p:sp>
        <p:nvSpPr>
          <p:cNvPr id="6" name="Rectangle 5"/>
          <p:cNvSpPr/>
          <p:nvPr/>
        </p:nvSpPr>
        <p:spPr>
          <a:xfrm>
            <a:off x="640080" y="1463040"/>
            <a:ext cx="10881360" cy="914400"/>
          </a:xfrm>
          <a:prstGeom prst="rect">
            <a:avLst/>
          </a:prstGeom>
          <a:solidFill>
            <a:srgbClr val="DEEA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508760"/>
            <a:ext cx="10515600" cy="822960"/>
          </a:xfrm>
          <a:prstGeom prst="rect">
            <a:avLst/>
          </a:prstGeom>
          <a:noFill/>
        </p:spPr>
        <p:txBody>
          <a:bodyPr wrap="square" anchor="ctr" lIns="45720" rIns="45720">
            <a:spAutoFit/>
          </a:bodyPr>
          <a:lstStyle/>
          <a:p>
            <a:pPr algn="l">
              <a:spcAft>
                <a:spcPts val="600"/>
              </a:spcAft>
            </a:pPr>
            <a:r>
              <a:rPr sz="1800" b="1">
                <a:solidFill>
                  <a:srgbClr val="1F4E79"/>
                </a:solidFill>
                <a:latin typeface="Calibri"/>
              </a:rPr>
              <a:t>Žirklinio domkrato trūkumai: </a:t>
            </a:r>
            <a:r>
              <a:rPr sz="1800" b="0" i="0">
                <a:solidFill>
                  <a:srgbClr val="222222"/>
                </a:solidFill>
                <a:latin typeface="Calibri"/>
              </a:rPr>
              <a:t>lėtas (daug apsisukimų), siauras pagrindas – nestabilus ant minkšto ar nelygaus paviršiaus, sukti tenka nepatogioje padėtyje.</a:t>
            </a:r>
          </a:p>
        </p:txBody>
      </p:sp>
      <p:graphicFrame>
        <p:nvGraphicFramePr>
          <p:cNvPr id="8" name="Table 7"/>
          <p:cNvGraphicFramePr>
            <a:graphicFrameLocks noGrp="1"/>
          </p:cNvGraphicFramePr>
          <p:nvPr/>
        </p:nvGraphicFramePr>
        <p:xfrm>
          <a:off x="640080" y="2606040"/>
          <a:ext cx="10881360" cy="2834640"/>
        </p:xfrm>
        <a:graphic>
          <a:graphicData uri="http://schemas.openxmlformats.org/drawingml/2006/table">
            <a:tbl>
              <a:tblPr firstRow="1" bandRow="1">
                <a:tableStyleId>{5C22544A-7EE6-4342-B048-85BDC9FD1C3A}</a:tableStyleId>
              </a:tblPr>
              <a:tblGrid>
                <a:gridCol w="2194560"/>
                <a:gridCol w="4206240"/>
                <a:gridCol w="4480560"/>
              </a:tblGrid>
              <a:tr h="566928">
                <a:tc>
                  <a:txBody>
                    <a:bodyPr/>
                    <a:lstStyle/>
                    <a:p>
                      <a:r>
                        <a:rPr sz="1600" b="1" i="0">
                          <a:solidFill>
                            <a:srgbClr val="FFFFFF"/>
                          </a:solidFill>
                          <a:latin typeface="Calibri"/>
                        </a:rPr>
                        <a:t>Elementas</a:t>
                      </a:r>
                    </a:p>
                  </a:txBody>
                  <a:tcPr marL="73152" marR="73152" anchor="ctr">
                    <a:solidFill>
                      <a:srgbClr val="1F4E79"/>
                    </a:solidFill>
                  </a:tcPr>
                </a:tc>
                <a:tc>
                  <a:txBody>
                    <a:bodyPr/>
                    <a:lstStyle/>
                    <a:p>
                      <a:r>
                        <a:rPr sz="1600" b="1" i="0">
                          <a:solidFill>
                            <a:srgbClr val="FFFFFF"/>
                          </a:solidFill>
                          <a:latin typeface="Calibri"/>
                        </a:rPr>
                        <a:t>Ką keičiame</a:t>
                      </a:r>
                    </a:p>
                  </a:txBody>
                  <a:tcPr marL="73152" marR="73152" anchor="ctr">
                    <a:solidFill>
                      <a:srgbClr val="1F4E79"/>
                    </a:solidFill>
                  </a:tcPr>
                </a:tc>
                <a:tc>
                  <a:txBody>
                    <a:bodyPr/>
                    <a:lstStyle/>
                    <a:p>
                      <a:r>
                        <a:rPr sz="1600" b="1" i="0">
                          <a:solidFill>
                            <a:srgbClr val="FFFFFF"/>
                          </a:solidFill>
                          <a:latin typeface="Calibri"/>
                        </a:rPr>
                        <a:t>Kodėl</a:t>
                      </a:r>
                    </a:p>
                  </a:txBody>
                  <a:tcPr marL="73152" marR="73152" anchor="ctr">
                    <a:solidFill>
                      <a:srgbClr val="1F4E79"/>
                    </a:solidFill>
                  </a:tcPr>
                </a:tc>
              </a:tr>
              <a:tr h="566928">
                <a:tc>
                  <a:txBody>
                    <a:bodyPr/>
                    <a:lstStyle/>
                    <a:p>
                      <a:r>
                        <a:rPr sz="1600" b="1" i="0">
                          <a:solidFill>
                            <a:srgbClr val="222222"/>
                          </a:solidFill>
                          <a:latin typeface="Calibri"/>
                        </a:rPr>
                        <a:t>Pagrindas</a:t>
                      </a:r>
                    </a:p>
                  </a:txBody>
                  <a:tcPr marL="73152" marR="73152" anchor="ctr">
                    <a:solidFill>
                      <a:srgbClr val="FFFFFF"/>
                    </a:solidFill>
                  </a:tcPr>
                </a:tc>
                <a:tc>
                  <a:txBody>
                    <a:bodyPr/>
                    <a:lstStyle/>
                    <a:p>
                      <a:r>
                        <a:rPr sz="1600" b="0" i="0">
                          <a:solidFill>
                            <a:srgbClr val="222222"/>
                          </a:solidFill>
                          <a:latin typeface="Calibri"/>
                        </a:rPr>
                        <a:t>Platesnis, su guminiu padu</a:t>
                      </a:r>
                    </a:p>
                  </a:txBody>
                  <a:tcPr marL="73152" marR="73152" anchor="ctr">
                    <a:solidFill>
                      <a:srgbClr val="FFFFFF"/>
                    </a:solidFill>
                  </a:tcPr>
                </a:tc>
                <a:tc>
                  <a:txBody>
                    <a:bodyPr/>
                    <a:lstStyle/>
                    <a:p>
                      <a:r>
                        <a:rPr sz="1600" b="0" i="0">
                          <a:solidFill>
                            <a:srgbClr val="222222"/>
                          </a:solidFill>
                          <a:latin typeface="Calibri"/>
                        </a:rPr>
                        <a:t>Neslysta ir nesmenga į minkštą paviršių</a:t>
                      </a:r>
                    </a:p>
                  </a:txBody>
                  <a:tcPr marL="73152" marR="73152" anchor="ctr">
                    <a:solidFill>
                      <a:srgbClr val="FFFFFF"/>
                    </a:solidFill>
                  </a:tcPr>
                </a:tc>
              </a:tr>
              <a:tr h="566928">
                <a:tc>
                  <a:txBody>
                    <a:bodyPr/>
                    <a:lstStyle/>
                    <a:p>
                      <a:r>
                        <a:rPr sz="1600" b="1" i="0">
                          <a:solidFill>
                            <a:srgbClr val="222222"/>
                          </a:solidFill>
                          <a:latin typeface="Calibri"/>
                        </a:rPr>
                        <a:t>Sraigtas ir veržlė</a:t>
                      </a:r>
                    </a:p>
                  </a:txBody>
                  <a:tcPr marL="73152" marR="73152" anchor="ctr">
                    <a:solidFill>
                      <a:srgbClr val="FFFFFF"/>
                    </a:solidFill>
                  </a:tcPr>
                </a:tc>
                <a:tc>
                  <a:txBody>
                    <a:bodyPr/>
                    <a:lstStyle/>
                    <a:p>
                      <a:r>
                        <a:rPr sz="1600" b="0" i="0">
                          <a:solidFill>
                            <a:srgbClr val="222222"/>
                          </a:solidFill>
                          <a:latin typeface="Calibri"/>
                        </a:rPr>
                        <a:t>Trapecinis sraigtas iš plieno 42CrMo4, veržlė iš bronzos CuSn12</a:t>
                      </a:r>
                    </a:p>
                  </a:txBody>
                  <a:tcPr marL="73152" marR="73152" anchor="ctr">
                    <a:solidFill>
                      <a:srgbClr val="FFFFFF"/>
                    </a:solidFill>
                  </a:tcPr>
                </a:tc>
                <a:tc>
                  <a:txBody>
                    <a:bodyPr/>
                    <a:lstStyle/>
                    <a:p>
                      <a:r>
                        <a:rPr sz="1600" b="0" i="0">
                          <a:solidFill>
                            <a:srgbClr val="222222"/>
                          </a:solidFill>
                          <a:latin typeface="Calibri"/>
                        </a:rPr>
                        <a:t>Savistabdis, mažiau dyla, maža trintis</a:t>
                      </a:r>
                    </a:p>
                  </a:txBody>
                  <a:tcPr marL="73152" marR="73152" anchor="ctr">
                    <a:solidFill>
                      <a:srgbClr val="FFFFFF"/>
                    </a:solidFill>
                  </a:tcPr>
                </a:tc>
              </a:tr>
              <a:tr h="566928">
                <a:tc>
                  <a:txBody>
                    <a:bodyPr/>
                    <a:lstStyle/>
                    <a:p>
                      <a:r>
                        <a:rPr sz="1600" b="1" i="0">
                          <a:solidFill>
                            <a:srgbClr val="222222"/>
                          </a:solidFill>
                          <a:latin typeface="Calibri"/>
                        </a:rPr>
                        <a:t>Svirtys</a:t>
                      </a:r>
                    </a:p>
                  </a:txBody>
                  <a:tcPr marL="73152" marR="73152" anchor="ctr">
                    <a:solidFill>
                      <a:srgbClr val="FFFFFF"/>
                    </a:solidFill>
                  </a:tcPr>
                </a:tc>
                <a:tc>
                  <a:txBody>
                    <a:bodyPr/>
                    <a:lstStyle/>
                    <a:p>
                      <a:r>
                        <a:rPr sz="1600" b="0" i="0">
                          <a:solidFill>
                            <a:srgbClr val="222222"/>
                          </a:solidFill>
                          <a:latin typeface="Calibri"/>
                        </a:rPr>
                        <a:t>Plienas S420MC vietoj S235</a:t>
                      </a:r>
                    </a:p>
                  </a:txBody>
                  <a:tcPr marL="73152" marR="73152" anchor="ctr">
                    <a:solidFill>
                      <a:srgbClr val="FFFFFF"/>
                    </a:solidFill>
                  </a:tcPr>
                </a:tc>
                <a:tc>
                  <a:txBody>
                    <a:bodyPr/>
                    <a:lstStyle/>
                    <a:p>
                      <a:r>
                        <a:rPr sz="1600" b="0" i="0">
                          <a:solidFill>
                            <a:srgbClr val="222222"/>
                          </a:solidFill>
                          <a:latin typeface="Calibri"/>
                        </a:rPr>
                        <a:t>Takumo riba 420 vs 235 MPa – apie 1,8 karto stipresnės</a:t>
                      </a:r>
                    </a:p>
                  </a:txBody>
                  <a:tcPr marL="73152" marR="73152" anchor="ctr">
                    <a:solidFill>
                      <a:srgbClr val="FFFFFF"/>
                    </a:solidFill>
                  </a:tcPr>
                </a:tc>
              </a:tr>
              <a:tr h="566928">
                <a:tc>
                  <a:txBody>
                    <a:bodyPr/>
                    <a:lstStyle/>
                    <a:p>
                      <a:r>
                        <a:rPr sz="1600" b="1" i="0">
                          <a:solidFill>
                            <a:srgbClr val="222222"/>
                          </a:solidFill>
                          <a:latin typeface="Calibri"/>
                        </a:rPr>
                        <a:t>Rankena</a:t>
                      </a:r>
                    </a:p>
                  </a:txBody>
                  <a:tcPr marL="73152" marR="73152" anchor="ctr">
                    <a:solidFill>
                      <a:srgbClr val="FFFFFF"/>
                    </a:solidFill>
                  </a:tcPr>
                </a:tc>
                <a:tc>
                  <a:txBody>
                    <a:bodyPr/>
                    <a:lstStyle/>
                    <a:p>
                      <a:r>
                        <a:rPr sz="1600" b="0" i="0">
                          <a:solidFill>
                            <a:srgbClr val="222222"/>
                          </a:solidFill>
                          <a:latin typeface="Calibri"/>
                        </a:rPr>
                        <a:t>Ilgesnė, sulankstoma rankena</a:t>
                      </a:r>
                    </a:p>
                  </a:txBody>
                  <a:tcPr marL="73152" marR="73152" anchor="ctr">
                    <a:solidFill>
                      <a:srgbClr val="FFFFFF"/>
                    </a:solidFill>
                  </a:tcPr>
                </a:tc>
                <a:tc>
                  <a:txBody>
                    <a:bodyPr/>
                    <a:lstStyle/>
                    <a:p>
                      <a:r>
                        <a:rPr sz="1600" b="0" i="0">
                          <a:solidFill>
                            <a:srgbClr val="222222"/>
                          </a:solidFill>
                          <a:latin typeface="Calibri"/>
                        </a:rPr>
                        <a:t>Sukti galima nesilenkiant prie pat rato (mūsų idėja)</a:t>
                      </a:r>
                    </a:p>
                  </a:txBody>
                  <a:tcPr marL="73152" marR="73152" anchor="ctr">
                    <a:solidFill>
                      <a:srgbClr val="FFFFFF"/>
                    </a:solidFill>
                  </a:tcPr>
                </a:tc>
              </a:tr>
            </a:tbl>
          </a:graphicData>
        </a:graphic>
      </p:graphicFrame>
      <p:sp>
        <p:nvSpPr>
          <p:cNvPr id="9" name="TextBox 8"/>
          <p:cNvSpPr txBox="1"/>
          <p:nvPr/>
        </p:nvSpPr>
        <p:spPr>
          <a:xfrm>
            <a:off x="640080" y="5897880"/>
            <a:ext cx="10881360" cy="457200"/>
          </a:xfrm>
          <a:prstGeom prst="rect">
            <a:avLst/>
          </a:prstGeom>
          <a:noFill/>
        </p:spPr>
        <p:txBody>
          <a:bodyPr wrap="square" anchor="t" lIns="45720" rIns="45720">
            <a:spAutoFit/>
          </a:bodyPr>
          <a:lstStyle/>
          <a:p>
            <a:pPr algn="l">
              <a:spcAft>
                <a:spcPts val="600"/>
              </a:spcAft>
            </a:pPr>
            <a:r>
              <a:rPr sz="1300" b="0">
                <a:solidFill>
                  <a:srgbClr val="595959"/>
                </a:solidFill>
                <a:latin typeface="Calibri"/>
              </a:rPr>
              <a:t>Šaltiniai: CN Trailer Parts (n.d.); Roton Products (n.d.); Sider Ticino (n.d.); Hengli Automation (n.d.); Gnee Steel (n.d.); The World Material (n.d.).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822960"/>
          </a:xfrm>
          <a:prstGeom prst="rect">
            <a:avLst/>
          </a:prstGeom>
          <a:noFill/>
        </p:spPr>
        <p:txBody>
          <a:bodyPr wrap="square" anchor="b" lIns="45720" rIns="45720">
            <a:spAutoFit/>
          </a:bodyPr>
          <a:lstStyle/>
          <a:p>
            <a:pPr algn="l">
              <a:spcAft>
                <a:spcPts val="600"/>
              </a:spcAft>
            </a:pPr>
            <a:r>
              <a:rPr sz="3200" b="1">
                <a:solidFill>
                  <a:srgbClr val="1F4E79"/>
                </a:solidFill>
                <a:latin typeface="Calibri"/>
              </a:rPr>
              <a:t>Išvados</a:t>
            </a:r>
          </a:p>
        </p:txBody>
      </p:sp>
      <p:sp>
        <p:nvSpPr>
          <p:cNvPr id="3" name="Rectangle 2"/>
          <p:cNvSpPr/>
          <p:nvPr/>
        </p:nvSpPr>
        <p:spPr>
          <a:xfrm>
            <a:off x="594360" y="1207008"/>
            <a:ext cx="10972800" cy="27432"/>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698480" y="6355080"/>
            <a:ext cx="1005840" cy="365760"/>
          </a:xfrm>
          <a:prstGeom prst="rect">
            <a:avLst/>
          </a:prstGeom>
          <a:noFill/>
        </p:spPr>
        <p:txBody>
          <a:bodyPr wrap="square" anchor="t" lIns="45720" rIns="45720">
            <a:spAutoFit/>
          </a:bodyPr>
          <a:lstStyle/>
          <a:p>
            <a:pPr algn="r">
              <a:spcAft>
                <a:spcPts val="600"/>
              </a:spcAft>
            </a:pPr>
            <a:r>
              <a:rPr sz="1200" b="0">
                <a:solidFill>
                  <a:srgbClr val="595959"/>
                </a:solidFill>
                <a:latin typeface="Calibri"/>
              </a:rPr>
              <a:t>11 / 12</a:t>
            </a:r>
          </a:p>
        </p:txBody>
      </p:sp>
      <p:sp>
        <p:nvSpPr>
          <p:cNvPr id="5" name="TextBox 4"/>
          <p:cNvSpPr txBox="1"/>
          <p:nvPr/>
        </p:nvSpPr>
        <p:spPr>
          <a:xfrm>
            <a:off x="548640" y="6355080"/>
            <a:ext cx="7315200" cy="365760"/>
          </a:xfrm>
          <a:prstGeom prst="rect">
            <a:avLst/>
          </a:prstGeom>
          <a:noFill/>
        </p:spPr>
        <p:txBody>
          <a:bodyPr wrap="square" anchor="t" lIns="45720" rIns="45720">
            <a:spAutoFit/>
          </a:bodyPr>
          <a:lstStyle/>
          <a:p>
            <a:pPr algn="l">
              <a:spcAft>
                <a:spcPts val="600"/>
              </a:spcAft>
            </a:pPr>
            <a:r>
              <a:rPr sz="1200" b="0">
                <a:solidFill>
                  <a:srgbClr val="595959"/>
                </a:solidFill>
                <a:latin typeface="Calibri"/>
              </a:rPr>
              <a:t>PBL · Automobilinis domkratas</a:t>
            </a:r>
          </a:p>
        </p:txBody>
      </p:sp>
      <p:sp>
        <p:nvSpPr>
          <p:cNvPr id="6" name="TextBox 5"/>
          <p:cNvSpPr txBox="1"/>
          <p:nvPr/>
        </p:nvSpPr>
        <p:spPr>
          <a:xfrm>
            <a:off x="640080" y="1554480"/>
            <a:ext cx="6766560" cy="4206240"/>
          </a:xfrm>
          <a:prstGeom prst="rect">
            <a:avLst/>
          </a:prstGeom>
          <a:noFill/>
        </p:spPr>
        <p:txBody>
          <a:bodyPr wrap="square" anchor="t" lIns="45720" rIns="45720">
            <a:spAutoFit/>
          </a:bodyPr>
          <a:lstStyle/>
          <a:p>
            <a:pPr algn="l">
              <a:spcAft>
                <a:spcPts val="1800"/>
              </a:spcAft>
            </a:pPr>
            <a:r>
              <a:rPr sz="2100" b="1">
                <a:solidFill>
                  <a:srgbClr val="222222"/>
                </a:solidFill>
                <a:latin typeface="Calibri"/>
              </a:rPr>
              <a:t>• Poreikis</a:t>
            </a:r>
            <a:r>
              <a:rPr sz="2100" b="0" i="0">
                <a:solidFill>
                  <a:srgbClr val="222222"/>
                </a:solidFill>
                <a:latin typeface="Calibri"/>
              </a:rPr>
              <a:t> – automobiliams reikėjo nešiojamo domkrato, nes padangos dažnai prakiurdavo.</a:t>
            </a:r>
          </a:p>
          <a:p>
            <a:pPr>
              <a:spcAft>
                <a:spcPts val="1800"/>
              </a:spcAft>
            </a:pPr>
            <a:r>
              <a:rPr sz="2100" b="1">
                <a:solidFill>
                  <a:srgbClr val="222222"/>
                </a:solidFill>
                <a:latin typeface="Calibri"/>
              </a:rPr>
              <a:t>• Raida</a:t>
            </a:r>
            <a:r>
              <a:rPr sz="2100" b="0" i="0">
                <a:solidFill>
                  <a:srgbClr val="222222"/>
                </a:solidFill>
                <a:latin typeface="Calibri"/>
              </a:rPr>
              <a:t> – sraigtinis → hidraulinis → žirklinis → pneumohidraulinis.</a:t>
            </a:r>
          </a:p>
          <a:p>
            <a:pPr>
              <a:spcAft>
                <a:spcPts val="1800"/>
              </a:spcAft>
            </a:pPr>
            <a:r>
              <a:rPr sz="2100" b="1">
                <a:solidFill>
                  <a:srgbClr val="222222"/>
                </a:solidFill>
                <a:latin typeface="Calibri"/>
              </a:rPr>
              <a:t>• Dėsningumas</a:t>
            </a:r>
            <a:r>
              <a:rPr sz="2100" b="0" i="0">
                <a:solidFill>
                  <a:srgbClr val="222222"/>
                </a:solidFill>
                <a:latin typeface="Calibri"/>
              </a:rPr>
              <a:t> – kiekvienas naujas domkratas išsprendė ankstesniojo problemą, bet atnešė naujų.</a:t>
            </a:r>
          </a:p>
          <a:p>
            <a:pPr>
              <a:spcAft>
                <a:spcPts val="1800"/>
              </a:spcAft>
            </a:pPr>
            <a:r>
              <a:rPr sz="2100" b="1">
                <a:solidFill>
                  <a:srgbClr val="222222"/>
                </a:solidFill>
                <a:latin typeface="Calibri"/>
              </a:rPr>
              <a:t>• Pritaikymas</a:t>
            </a:r>
            <a:r>
              <a:rPr sz="2100" b="0" i="0">
                <a:solidFill>
                  <a:srgbClr val="222222"/>
                </a:solidFill>
                <a:latin typeface="Calibri"/>
              </a:rPr>
              <a:t> – kiekvienas tipas rado savo vietą: nuo automobilio bagažinės iki serviso ir statybų.</a:t>
            </a:r>
          </a:p>
          <a:p>
            <a:pPr>
              <a:spcAft>
                <a:spcPts val="1800"/>
              </a:spcAft>
            </a:pPr>
            <a:r>
              <a:rPr sz="2100" b="1">
                <a:solidFill>
                  <a:srgbClr val="222222"/>
                </a:solidFill>
                <a:latin typeface="Calibri"/>
              </a:rPr>
              <a:t>• Mūsų idėja</a:t>
            </a:r>
            <a:r>
              <a:rPr sz="2100" b="0" i="0">
                <a:solidFill>
                  <a:srgbClr val="222222"/>
                </a:solidFill>
                <a:latin typeface="Calibri"/>
              </a:rPr>
              <a:t> – žirklinis domkratas su platesniu pagrindu, savistabdžiu sraigtu, bronzine veržle ir patogesne rankena.</a:t>
            </a:r>
          </a:p>
        </p:txBody>
      </p:sp>
      <p:sp>
        <p:nvSpPr>
          <p:cNvPr id="7" name="Rectangle 6"/>
          <p:cNvSpPr/>
          <p:nvPr/>
        </p:nvSpPr>
        <p:spPr>
          <a:xfrm>
            <a:off x="7772400" y="2377440"/>
            <a:ext cx="3749039" cy="1828800"/>
          </a:xfrm>
          <a:prstGeom prst="rect">
            <a:avLst/>
          </a:prstGeom>
          <a:solidFill>
            <a:srgbClr val="DEEA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0" y="2377440"/>
            <a:ext cx="3749039" cy="1828800"/>
          </a:xfrm>
          <a:prstGeom prst="rect">
            <a:avLst/>
          </a:prstGeom>
          <a:noFill/>
        </p:spPr>
        <p:txBody>
          <a:bodyPr wrap="square" anchor="ctr" lIns="45720" rIns="45720">
            <a:spAutoFit/>
          </a:bodyPr>
          <a:lstStyle/>
          <a:p>
            <a:pPr algn="ctr">
              <a:spcAft>
                <a:spcPts val="600"/>
              </a:spcAft>
            </a:pPr>
            <a:r>
              <a:rPr sz="3600" b="1">
                <a:solidFill>
                  <a:srgbClr val="1F4E79"/>
                </a:solidFill>
                <a:latin typeface="Calibri"/>
              </a:rPr>
              <a:t>Klausimai?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822960"/>
          </a:xfrm>
          <a:prstGeom prst="rect">
            <a:avLst/>
          </a:prstGeom>
          <a:noFill/>
        </p:spPr>
        <p:txBody>
          <a:bodyPr wrap="square" anchor="b" lIns="45720" rIns="45720">
            <a:spAutoFit/>
          </a:bodyPr>
          <a:lstStyle/>
          <a:p>
            <a:pPr algn="l">
              <a:spcAft>
                <a:spcPts val="600"/>
              </a:spcAft>
            </a:pPr>
            <a:r>
              <a:rPr sz="3200" b="1">
                <a:solidFill>
                  <a:srgbClr val="1F4E79"/>
                </a:solidFill>
                <a:latin typeface="Calibri"/>
              </a:rPr>
              <a:t>Šaltiniai</a:t>
            </a:r>
          </a:p>
        </p:txBody>
      </p:sp>
      <p:sp>
        <p:nvSpPr>
          <p:cNvPr id="3" name="Rectangle 2"/>
          <p:cNvSpPr/>
          <p:nvPr/>
        </p:nvSpPr>
        <p:spPr>
          <a:xfrm>
            <a:off x="594360" y="1207008"/>
            <a:ext cx="10972800" cy="27432"/>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698480" y="6355080"/>
            <a:ext cx="1005840" cy="365760"/>
          </a:xfrm>
          <a:prstGeom prst="rect">
            <a:avLst/>
          </a:prstGeom>
          <a:noFill/>
        </p:spPr>
        <p:txBody>
          <a:bodyPr wrap="square" anchor="t" lIns="45720" rIns="45720">
            <a:spAutoFit/>
          </a:bodyPr>
          <a:lstStyle/>
          <a:p>
            <a:pPr algn="r">
              <a:spcAft>
                <a:spcPts val="600"/>
              </a:spcAft>
            </a:pPr>
            <a:r>
              <a:rPr sz="1200" b="0">
                <a:solidFill>
                  <a:srgbClr val="595959"/>
                </a:solidFill>
                <a:latin typeface="Calibri"/>
              </a:rPr>
              <a:t>12 / 12</a:t>
            </a:r>
          </a:p>
        </p:txBody>
      </p:sp>
      <p:sp>
        <p:nvSpPr>
          <p:cNvPr id="5" name="TextBox 4"/>
          <p:cNvSpPr txBox="1"/>
          <p:nvPr/>
        </p:nvSpPr>
        <p:spPr>
          <a:xfrm>
            <a:off x="548640" y="6355080"/>
            <a:ext cx="7315200" cy="365760"/>
          </a:xfrm>
          <a:prstGeom prst="rect">
            <a:avLst/>
          </a:prstGeom>
          <a:noFill/>
        </p:spPr>
        <p:txBody>
          <a:bodyPr wrap="square" anchor="t" lIns="45720" rIns="45720">
            <a:spAutoFit/>
          </a:bodyPr>
          <a:lstStyle/>
          <a:p>
            <a:pPr algn="l">
              <a:spcAft>
                <a:spcPts val="600"/>
              </a:spcAft>
            </a:pPr>
            <a:r>
              <a:rPr sz="1200" b="0">
                <a:solidFill>
                  <a:srgbClr val="595959"/>
                </a:solidFill>
                <a:latin typeface="Calibri"/>
              </a:rPr>
              <a:t>PBL · Automobilinis domkratas</a:t>
            </a:r>
          </a:p>
        </p:txBody>
      </p:sp>
      <p:sp>
        <p:nvSpPr>
          <p:cNvPr id="6" name="TextBox 5"/>
          <p:cNvSpPr txBox="1"/>
          <p:nvPr/>
        </p:nvSpPr>
        <p:spPr>
          <a:xfrm>
            <a:off x="548640" y="1325880"/>
            <a:ext cx="5440680" cy="4937760"/>
          </a:xfrm>
          <a:prstGeom prst="rect">
            <a:avLst/>
          </a:prstGeom>
          <a:noFill/>
        </p:spPr>
        <p:txBody>
          <a:bodyPr wrap="square" anchor="t" lIns="45720" rIns="45720">
            <a:spAutoFit/>
          </a:bodyPr>
          <a:lstStyle/>
          <a:p>
            <a:pPr algn="l">
              <a:spcAft>
                <a:spcPts val="200"/>
              </a:spcAft>
            </a:pPr>
            <a:r>
              <a:rPr sz="900" b="0">
                <a:solidFill>
                  <a:srgbClr val="222222"/>
                </a:solidFill>
                <a:latin typeface="Calibri"/>
              </a:rPr>
              <a:t>Bovey, G. O. (1882). </a:t>
            </a:r>
            <a:r>
              <a:rPr sz="900" b="0" i="1">
                <a:solidFill>
                  <a:srgbClr val="222222"/>
                </a:solidFill>
                <a:latin typeface="Calibri"/>
              </a:rPr>
              <a:t>Carriage-jack</a:t>
            </a:r>
            <a:r>
              <a:rPr sz="900" b="0" i="0">
                <a:solidFill>
                  <a:srgbClr val="222222"/>
                </a:solidFill>
                <a:latin typeface="Calibri"/>
              </a:rPr>
              <a:t> (U.S. Patent No. 260,276). https://patents.google.com/patent/US260276A/en</a:t>
            </a:r>
          </a:p>
          <a:p>
            <a:pPr>
              <a:spcAft>
                <a:spcPts val="200"/>
              </a:spcAft>
            </a:pPr>
            <a:r>
              <a:rPr sz="900" b="0">
                <a:solidFill>
                  <a:srgbClr val="222222"/>
                </a:solidFill>
                <a:latin typeface="Calibri"/>
              </a:rPr>
              <a:t>Brown, W. P. (1949). </a:t>
            </a:r>
            <a:r>
              <a:rPr sz="900" b="0" i="1">
                <a:solidFill>
                  <a:srgbClr val="222222"/>
                </a:solidFill>
                <a:latin typeface="Calibri"/>
              </a:rPr>
              <a:t>Scissors jack</a:t>
            </a:r>
            <a:r>
              <a:rPr sz="900" b="0" i="0">
                <a:solidFill>
                  <a:srgbClr val="222222"/>
                </a:solidFill>
                <a:latin typeface="Calibri"/>
              </a:rPr>
              <a:t> (U.S. Patent No. 2,467,657). https://patents.google.com/patent/US2467657A/en</a:t>
            </a:r>
          </a:p>
          <a:p>
            <a:pPr>
              <a:spcAft>
                <a:spcPts val="200"/>
              </a:spcAft>
            </a:pPr>
            <a:r>
              <a:rPr sz="900" b="0">
                <a:solidFill>
                  <a:srgbClr val="222222"/>
                </a:solidFill>
                <a:latin typeface="Calibri"/>
              </a:rPr>
              <a:t>Castle Equipment. (n.d.). </a:t>
            </a:r>
            <a:r>
              <a:rPr sz="900" b="0" i="1">
                <a:solidFill>
                  <a:srgbClr val="222222"/>
                </a:solidFill>
                <a:latin typeface="Calibri"/>
              </a:rPr>
              <a:t>Weaver hydraulic &amp; mechanical jacks history</a:t>
            </a:r>
            <a:r>
              <a:rPr sz="900" b="0" i="0">
                <a:solidFill>
                  <a:srgbClr val="222222"/>
                </a:solidFill>
                <a:latin typeface="Calibri"/>
              </a:rPr>
              <a:t>. http://www.castleequipment.com/Museum/jacks_weaver_history.htm</a:t>
            </a:r>
          </a:p>
          <a:p>
            <a:pPr>
              <a:spcAft>
                <a:spcPts val="200"/>
              </a:spcAft>
            </a:pPr>
            <a:r>
              <a:rPr sz="900" b="0">
                <a:solidFill>
                  <a:srgbClr val="222222"/>
                </a:solidFill>
                <a:latin typeface="Calibri"/>
              </a:rPr>
              <a:t>CJ Pony Parts. (n.d.). </a:t>
            </a:r>
            <a:r>
              <a:rPr sz="900" b="0" i="1">
                <a:solidFill>
                  <a:srgbClr val="222222"/>
                </a:solidFill>
                <a:latin typeface="Calibri"/>
              </a:rPr>
              <a:t>Types of car jacks</a:t>
            </a:r>
            <a:r>
              <a:rPr sz="900" b="0" i="0">
                <a:solidFill>
                  <a:srgbClr val="222222"/>
                </a:solidFill>
                <a:latin typeface="Calibri"/>
              </a:rPr>
              <a:t>. https://www.cjponyparts.com/resources/types-of-car-jacks</a:t>
            </a:r>
          </a:p>
          <a:p>
            <a:pPr>
              <a:spcAft>
                <a:spcPts val="200"/>
              </a:spcAft>
            </a:pPr>
            <a:r>
              <a:rPr sz="900" b="0">
                <a:solidFill>
                  <a:srgbClr val="222222"/>
                </a:solidFill>
                <a:latin typeface="Calibri"/>
              </a:rPr>
              <a:t>CN Trailer Parts. (n.d.). </a:t>
            </a:r>
            <a:r>
              <a:rPr sz="900" b="0" i="1">
                <a:solidFill>
                  <a:srgbClr val="222222"/>
                </a:solidFill>
                <a:latin typeface="Calibri"/>
              </a:rPr>
              <a:t>What are the disadvantages of a scissor jack?</a:t>
            </a:r>
            <a:r>
              <a:rPr sz="900" b="0" i="0">
                <a:solidFill>
                  <a:srgbClr val="222222"/>
                </a:solidFill>
                <a:latin typeface="Calibri"/>
              </a:rPr>
              <a:t> https://www.cntrailerparts.com/blog/what-are-the-disadvantages-of-a-scissor-jack-372667.html</a:t>
            </a:r>
          </a:p>
          <a:p>
            <a:pPr>
              <a:spcAft>
                <a:spcPts val="200"/>
              </a:spcAft>
            </a:pPr>
            <a:r>
              <a:rPr sz="900" b="0">
                <a:solidFill>
                  <a:srgbClr val="222222"/>
                </a:solidFill>
                <a:latin typeface="Calibri"/>
              </a:rPr>
              <a:t>Dudgeon, R. (1851). </a:t>
            </a:r>
            <a:r>
              <a:rPr sz="900" b="0" i="1">
                <a:solidFill>
                  <a:srgbClr val="222222"/>
                </a:solidFill>
                <a:latin typeface="Calibri"/>
              </a:rPr>
              <a:t>Portable hydraulic press</a:t>
            </a:r>
            <a:r>
              <a:rPr sz="900" b="0" i="0">
                <a:solidFill>
                  <a:srgbClr val="222222"/>
                </a:solidFill>
                <a:latin typeface="Calibri"/>
              </a:rPr>
              <a:t> (U.S. Patent No. 8,203). https://patents.google.com/patent/US8203A/en</a:t>
            </a:r>
          </a:p>
          <a:p>
            <a:pPr>
              <a:spcAft>
                <a:spcPts val="200"/>
              </a:spcAft>
            </a:pPr>
            <a:r>
              <a:rPr sz="900" b="0">
                <a:solidFill>
                  <a:srgbClr val="222222"/>
                </a:solidFill>
                <a:latin typeface="Calibri"/>
              </a:rPr>
              <a:t>Gnee Steel. (n.d.). </a:t>
            </a:r>
            <a:r>
              <a:rPr sz="900" b="0" i="1">
                <a:solidFill>
                  <a:srgbClr val="222222"/>
                </a:solidFill>
                <a:latin typeface="Calibri"/>
              </a:rPr>
              <a:t>EN 10149-2 S420MC hot rolled automotive steel</a:t>
            </a:r>
            <a:r>
              <a:rPr sz="900" b="0" i="0">
                <a:solidFill>
                  <a:srgbClr val="222222"/>
                </a:solidFill>
                <a:latin typeface="Calibri"/>
              </a:rPr>
              <a:t>. https://www.gneesteel.com/products/automotive-steel/en-10149-2-s420mc-hot-rolled-automotive-steel.html</a:t>
            </a:r>
          </a:p>
          <a:p>
            <a:pPr>
              <a:spcAft>
                <a:spcPts val="200"/>
              </a:spcAft>
            </a:pPr>
            <a:r>
              <a:rPr sz="900" b="0">
                <a:solidFill>
                  <a:srgbClr val="222222"/>
                </a:solidFill>
                <a:latin typeface="Calibri"/>
              </a:rPr>
              <a:t>Hengli Automation. (n.d.). </a:t>
            </a:r>
            <a:r>
              <a:rPr sz="900" b="0" i="1">
                <a:solidFill>
                  <a:srgbClr val="222222"/>
                </a:solidFill>
                <a:latin typeface="Calibri"/>
              </a:rPr>
              <a:t>What is the material of the nut for a T lead screw?</a:t>
            </a:r>
            <a:r>
              <a:rPr sz="900" b="0" i="0">
                <a:solidFill>
                  <a:srgbClr val="222222"/>
                </a:solidFill>
                <a:latin typeface="Calibri"/>
              </a:rPr>
              <a:t> https://www.hlt-cnc.com/blog/what-is-the-material-of-the-nut-for-a-t-lead-screw-1318622.html</a:t>
            </a:r>
          </a:p>
          <a:p>
            <a:pPr>
              <a:spcAft>
                <a:spcPts val="200"/>
              </a:spcAft>
            </a:pPr>
            <a:r>
              <a:rPr sz="900" b="0">
                <a:solidFill>
                  <a:srgbClr val="222222"/>
                </a:solidFill>
                <a:latin typeface="Calibri"/>
              </a:rPr>
              <a:t>Hi-Lift Jack Company. (n.d.-a). </a:t>
            </a:r>
            <a:r>
              <a:rPr sz="900" b="0" i="1">
                <a:solidFill>
                  <a:srgbClr val="222222"/>
                </a:solidFill>
                <a:latin typeface="Calibri"/>
              </a:rPr>
              <a:t>Our history</a:t>
            </a:r>
            <a:r>
              <a:rPr sz="900" b="0" i="0">
                <a:solidFill>
                  <a:srgbClr val="222222"/>
                </a:solidFill>
                <a:latin typeface="Calibri"/>
              </a:rPr>
              <a:t>. https://hi-lift.com/company/our-history/</a:t>
            </a:r>
          </a:p>
          <a:p>
            <a:pPr>
              <a:spcAft>
                <a:spcPts val="200"/>
              </a:spcAft>
            </a:pPr>
            <a:r>
              <a:rPr sz="900" b="0">
                <a:solidFill>
                  <a:srgbClr val="222222"/>
                </a:solidFill>
                <a:latin typeface="Calibri"/>
              </a:rPr>
              <a:t>Hi-Lift Jack Company. (n.d.-b). </a:t>
            </a:r>
            <a:r>
              <a:rPr sz="900" b="0" i="1">
                <a:solidFill>
                  <a:srgbClr val="222222"/>
                </a:solidFill>
                <a:latin typeface="Calibri"/>
              </a:rPr>
              <a:t>Hi-Lift jack instructions</a:t>
            </a:r>
            <a:r>
              <a:rPr sz="900" b="0" i="0">
                <a:solidFill>
                  <a:srgbClr val="222222"/>
                </a:solidFill>
                <a:latin typeface="Calibri"/>
              </a:rPr>
              <a:t> [PDF]. https://hi-lift.com/wp-content/uploads/2016/07/jack_instructions.pdf</a:t>
            </a:r>
          </a:p>
          <a:p>
            <a:pPr>
              <a:spcAft>
                <a:spcPts val="200"/>
              </a:spcAft>
            </a:pPr>
            <a:r>
              <a:rPr sz="900" b="0">
                <a:solidFill>
                  <a:srgbClr val="222222"/>
                </a:solidFill>
                <a:latin typeface="Calibri"/>
              </a:rPr>
              <a:t>Joyce/Dayton. (n.d.). </a:t>
            </a:r>
            <a:r>
              <a:rPr sz="900" b="0" i="1">
                <a:solidFill>
                  <a:srgbClr val="222222"/>
                </a:solidFill>
                <a:latin typeface="Calibri"/>
              </a:rPr>
              <a:t>Machine screw jacks vs. ball screw jacks</a:t>
            </a:r>
            <a:r>
              <a:rPr sz="900" b="0" i="0">
                <a:solidFill>
                  <a:srgbClr val="222222"/>
                </a:solidFill>
                <a:latin typeface="Calibri"/>
              </a:rPr>
              <a:t>. https://www.joycedayton.com/blog/machine-screw-jacks-vs-ball-screw-jacks</a:t>
            </a:r>
          </a:p>
          <a:p>
            <a:pPr>
              <a:spcAft>
                <a:spcPts val="200"/>
              </a:spcAft>
            </a:pPr>
            <a:r>
              <a:rPr sz="900" b="0">
                <a:solidFill>
                  <a:srgbClr val="222222"/>
                </a:solidFill>
                <a:latin typeface="Calibri"/>
              </a:rPr>
              <a:t>Juds, D. H. (1967). </a:t>
            </a:r>
            <a:r>
              <a:rPr sz="900" b="0" i="1">
                <a:solidFill>
                  <a:srgbClr val="222222"/>
                </a:solidFill>
                <a:latin typeface="Calibri"/>
              </a:rPr>
              <a:t>Combination hydraulic and pneumatic jacks</a:t>
            </a:r>
            <a:r>
              <a:rPr sz="900" b="0" i="0">
                <a:solidFill>
                  <a:srgbClr val="222222"/>
                </a:solidFill>
                <a:latin typeface="Calibri"/>
              </a:rPr>
              <a:t> (U.S. Patent No. 3,329,403). https://patents.google.com/patent/US3329403</a:t>
            </a:r>
          </a:p>
          <a:p>
            <a:pPr>
              <a:spcAft>
                <a:spcPts val="200"/>
              </a:spcAft>
            </a:pPr>
            <a:r>
              <a:rPr sz="900" b="0">
                <a:solidFill>
                  <a:srgbClr val="222222"/>
                </a:solidFill>
                <a:latin typeface="Calibri"/>
              </a:rPr>
              <a:t>Junkyard Mob. (n.d.). </a:t>
            </a:r>
            <a:r>
              <a:rPr sz="900" b="0" i="1">
                <a:solidFill>
                  <a:srgbClr val="222222"/>
                </a:solidFill>
                <a:latin typeface="Calibri"/>
              </a:rPr>
              <a:t>Car jack history and how to identify antique models</a:t>
            </a:r>
            <a:r>
              <a:rPr sz="900" b="0" i="0">
                <a:solidFill>
                  <a:srgbClr val="222222"/>
                </a:solidFill>
                <a:latin typeface="Calibri"/>
              </a:rPr>
              <a:t>. https://www.junkyardmob.com/misc/antique-car-jack-identification/</a:t>
            </a:r>
          </a:p>
          <a:p>
            <a:pPr>
              <a:spcAft>
                <a:spcPts val="200"/>
              </a:spcAft>
            </a:pPr>
            <a:r>
              <a:rPr sz="900" b="0">
                <a:solidFill>
                  <a:srgbClr val="222222"/>
                </a:solidFill>
                <a:latin typeface="Calibri"/>
              </a:rPr>
              <a:t>LaFrance, J. (1920). </a:t>
            </a:r>
            <a:r>
              <a:rPr sz="900" b="0" i="1">
                <a:solidFill>
                  <a:srgbClr val="222222"/>
                </a:solidFill>
                <a:latin typeface="Calibri"/>
              </a:rPr>
              <a:t>Jack</a:t>
            </a:r>
            <a:r>
              <a:rPr sz="900" b="0" i="0">
                <a:solidFill>
                  <a:srgbClr val="222222"/>
                </a:solidFill>
                <a:latin typeface="Calibri"/>
              </a:rPr>
              <a:t> (U.S. Patent No. 1,362,630). https://patents.google.com/patent/US1362630A/en</a:t>
            </a:r>
          </a:p>
          <a:p>
            <a:pPr>
              <a:spcAft>
                <a:spcPts val="200"/>
              </a:spcAft>
            </a:pPr>
            <a:r>
              <a:rPr sz="900" b="0">
                <a:solidFill>
                  <a:srgbClr val="222222"/>
                </a:solidFill>
                <a:latin typeface="Calibri"/>
              </a:rPr>
              <a:t>LibreTexts. (n.d.). </a:t>
            </a:r>
            <a:r>
              <a:rPr sz="900" b="0" i="1">
                <a:solidFill>
                  <a:srgbClr val="222222"/>
                </a:solidFill>
                <a:latin typeface="Calibri"/>
              </a:rPr>
              <a:t>10.2: Force multiplication</a:t>
            </a:r>
            <a:r>
              <a:rPr sz="900" b="0" i="0">
                <a:solidFill>
                  <a:srgbClr val="222222"/>
                </a:solidFill>
                <a:latin typeface="Calibri"/>
              </a:rPr>
              <a:t>. https://eng.libretexts.org/Courses/Northeast_Wisconsin_Technical_College/Fluids_1:_Fluid_Power_and_Pneumatics_(NWTC)/10:_Pascal's_Law/10.02:_Force_Multiplication</a:t>
            </a:r>
          </a:p>
        </p:txBody>
      </p:sp>
      <p:sp>
        <p:nvSpPr>
          <p:cNvPr id="7" name="TextBox 6"/>
          <p:cNvSpPr txBox="1"/>
          <p:nvPr/>
        </p:nvSpPr>
        <p:spPr>
          <a:xfrm>
            <a:off x="6126479" y="1325880"/>
            <a:ext cx="5440680" cy="4937760"/>
          </a:xfrm>
          <a:prstGeom prst="rect">
            <a:avLst/>
          </a:prstGeom>
          <a:noFill/>
        </p:spPr>
        <p:txBody>
          <a:bodyPr wrap="square" anchor="t" lIns="45720" rIns="45720">
            <a:spAutoFit/>
          </a:bodyPr>
          <a:lstStyle/>
          <a:p>
            <a:pPr algn="l">
              <a:spcAft>
                <a:spcPts val="200"/>
              </a:spcAft>
            </a:pPr>
            <a:r>
              <a:rPr sz="900" b="0">
                <a:solidFill>
                  <a:srgbClr val="222222"/>
                </a:solidFill>
                <a:latin typeface="Calibri"/>
              </a:rPr>
              <a:t>Mickael, E. (2004). </a:t>
            </a:r>
            <a:r>
              <a:rPr sz="900" b="0" i="1">
                <a:solidFill>
                  <a:srgbClr val="222222"/>
                </a:solidFill>
                <a:latin typeface="Calibri"/>
              </a:rPr>
              <a:t>Motor driven scissor jack with limit switches</a:t>
            </a:r>
            <a:r>
              <a:rPr sz="900" b="0" i="0">
                <a:solidFill>
                  <a:srgbClr val="222222"/>
                </a:solidFill>
                <a:latin typeface="Calibri"/>
              </a:rPr>
              <a:t> (U.S. Patent No. 6,695,289). https://patents.google.com/patent/US6695289B1/en</a:t>
            </a:r>
          </a:p>
          <a:p>
            <a:pPr>
              <a:spcAft>
                <a:spcPts val="200"/>
              </a:spcAft>
            </a:pPr>
            <a:r>
              <a:rPr sz="900" b="0">
                <a:solidFill>
                  <a:srgbClr val="222222"/>
                </a:solidFill>
                <a:latin typeface="Calibri"/>
              </a:rPr>
              <a:t>Pro-Lift-Montagetechnik. (n.d.). </a:t>
            </a:r>
            <a:r>
              <a:rPr sz="900" b="0" i="1">
                <a:solidFill>
                  <a:srgbClr val="222222"/>
                </a:solidFill>
                <a:latin typeface="Calibri"/>
              </a:rPr>
              <a:t>12V electric scissor jack, car jack, 123 mm – 345 mm</a:t>
            </a:r>
            <a:r>
              <a:rPr sz="900" b="0" i="0">
                <a:solidFill>
                  <a:srgbClr val="222222"/>
                </a:solidFill>
                <a:latin typeface="Calibri"/>
              </a:rPr>
              <a:t>. https://www.pro-lift-montagetechnik.com/12-volt-electric-scissor-jack-car-jack-123mm-345mm-002</a:t>
            </a:r>
          </a:p>
          <a:p>
            <a:pPr>
              <a:spcAft>
                <a:spcPts val="200"/>
              </a:spcAft>
            </a:pPr>
            <a:r>
              <a:rPr sz="900" b="0">
                <a:solidFill>
                  <a:srgbClr val="222222"/>
                </a:solidFill>
                <a:latin typeface="Calibri"/>
              </a:rPr>
              <a:t>Redline Stands. (n.d.). </a:t>
            </a:r>
            <a:r>
              <a:rPr sz="900" b="0" i="1">
                <a:solidFill>
                  <a:srgbClr val="222222"/>
                </a:solidFill>
                <a:latin typeface="Calibri"/>
              </a:rPr>
              <a:t>Bottle jack vs. floor jack: Differences, pros, and cons</a:t>
            </a:r>
            <a:r>
              <a:rPr sz="900" b="0" i="0">
                <a:solidFill>
                  <a:srgbClr val="222222"/>
                </a:solidFill>
                <a:latin typeface="Calibri"/>
              </a:rPr>
              <a:t>. https://www.redlinestands.com/blog/bottle-jack-vs-floor-jack/</a:t>
            </a:r>
          </a:p>
          <a:p>
            <a:pPr>
              <a:spcAft>
                <a:spcPts val="200"/>
              </a:spcAft>
            </a:pPr>
            <a:r>
              <a:rPr sz="900" b="0">
                <a:solidFill>
                  <a:srgbClr val="222222"/>
                </a:solidFill>
                <a:latin typeface="Calibri"/>
              </a:rPr>
              <a:t>Richard Dudgeon, Inc. (n.d.). </a:t>
            </a:r>
            <a:r>
              <a:rPr sz="900" b="0" i="1">
                <a:solidFill>
                  <a:srgbClr val="222222"/>
                </a:solidFill>
                <a:latin typeface="Calibri"/>
              </a:rPr>
              <a:t>History</a:t>
            </a:r>
            <a:r>
              <a:rPr sz="900" b="0" i="0">
                <a:solidFill>
                  <a:srgbClr val="222222"/>
                </a:solidFill>
                <a:latin typeface="Calibri"/>
              </a:rPr>
              <a:t>. https://www.dudgeonjacks.com/history.html</a:t>
            </a:r>
          </a:p>
          <a:p>
            <a:pPr>
              <a:spcAft>
                <a:spcPts val="200"/>
              </a:spcAft>
            </a:pPr>
            <a:r>
              <a:rPr sz="900" b="0">
                <a:solidFill>
                  <a:srgbClr val="222222"/>
                </a:solidFill>
                <a:latin typeface="Calibri"/>
              </a:rPr>
              <a:t>Roton Products. (n.d.). </a:t>
            </a:r>
            <a:r>
              <a:rPr sz="900" b="0" i="1">
                <a:solidFill>
                  <a:srgbClr val="222222"/>
                </a:solidFill>
                <a:latin typeface="Calibri"/>
              </a:rPr>
              <a:t>Trapezoidal lead screws: General information</a:t>
            </a:r>
            <a:r>
              <a:rPr sz="900" b="0" i="0">
                <a:solidFill>
                  <a:srgbClr val="222222"/>
                </a:solidFill>
                <a:latin typeface="Calibri"/>
              </a:rPr>
              <a:t>. https://www.roton.com/products/trapezoidal-lead-screws-nuts/general-information/</a:t>
            </a:r>
          </a:p>
          <a:p>
            <a:pPr>
              <a:spcAft>
                <a:spcPts val="200"/>
              </a:spcAft>
            </a:pPr>
            <a:r>
              <a:rPr sz="900" b="0">
                <a:solidFill>
                  <a:srgbClr val="222222"/>
                </a:solidFill>
                <a:latin typeface="Calibri"/>
              </a:rPr>
              <a:t>Sider Ticino. (n.d.). </a:t>
            </a:r>
            <a:r>
              <a:rPr sz="900" b="0" i="1">
                <a:solidFill>
                  <a:srgbClr val="222222"/>
                </a:solidFill>
                <a:latin typeface="Calibri"/>
              </a:rPr>
              <a:t>42CrMo4 technical specifications</a:t>
            </a:r>
            <a:r>
              <a:rPr sz="900" b="0" i="0">
                <a:solidFill>
                  <a:srgbClr val="222222"/>
                </a:solidFill>
                <a:latin typeface="Calibri"/>
              </a:rPr>
              <a:t>. https://siderticino.it/en/steel-datasheets/42crmo4/</a:t>
            </a:r>
          </a:p>
          <a:p>
            <a:pPr>
              <a:spcAft>
                <a:spcPts val="200"/>
              </a:spcAft>
            </a:pPr>
            <a:r>
              <a:rPr sz="900" b="0">
                <a:solidFill>
                  <a:srgbClr val="222222"/>
                </a:solidFill>
                <a:latin typeface="Calibri"/>
              </a:rPr>
              <a:t>Stevenson, H. M. (1898). </a:t>
            </a:r>
            <a:r>
              <a:rPr sz="900" b="0" i="1">
                <a:solidFill>
                  <a:srgbClr val="222222"/>
                </a:solidFill>
                <a:latin typeface="Calibri"/>
              </a:rPr>
              <a:t>Lifting-jack</a:t>
            </a:r>
            <a:r>
              <a:rPr sz="900" b="0" i="0">
                <a:solidFill>
                  <a:srgbClr val="222222"/>
                </a:solidFill>
                <a:latin typeface="Calibri"/>
              </a:rPr>
              <a:t> (U.S. Patent No. 601,451). https://patents.google.com/patent/US601451A/en</a:t>
            </a:r>
          </a:p>
          <a:p>
            <a:pPr>
              <a:spcAft>
                <a:spcPts val="200"/>
              </a:spcAft>
            </a:pPr>
            <a:r>
              <a:rPr sz="900" b="0">
                <a:solidFill>
                  <a:srgbClr val="222222"/>
                </a:solidFill>
                <a:latin typeface="Calibri"/>
              </a:rPr>
              <a:t>The World Material. (n.d.). </a:t>
            </a:r>
            <a:r>
              <a:rPr sz="900" b="0" i="1">
                <a:solidFill>
                  <a:srgbClr val="222222"/>
                </a:solidFill>
                <a:latin typeface="Calibri"/>
              </a:rPr>
              <a:t>EN 10025-2 S235 steel properties</a:t>
            </a:r>
            <a:r>
              <a:rPr sz="900" b="0" i="0">
                <a:solidFill>
                  <a:srgbClr val="222222"/>
                </a:solidFill>
                <a:latin typeface="Calibri"/>
              </a:rPr>
              <a:t>. https://www.theworldmaterial.com/en-10025-2-material-s235-steel/</a:t>
            </a:r>
          </a:p>
          <a:p>
            <a:pPr>
              <a:spcAft>
                <a:spcPts val="200"/>
              </a:spcAft>
            </a:pPr>
            <a:r>
              <a:rPr sz="900" b="0">
                <a:solidFill>
                  <a:srgbClr val="222222"/>
                </a:solidFill>
                <a:latin typeface="Calibri"/>
              </a:rPr>
              <a:t>TMG Industrial. (n.d.). </a:t>
            </a:r>
            <a:r>
              <a:rPr sz="900" b="0" i="1">
                <a:solidFill>
                  <a:srgbClr val="222222"/>
                </a:solidFill>
                <a:latin typeface="Calibri"/>
              </a:rPr>
              <a:t>Air hydraulic bottle jacks: How they work and safety tips for use</a:t>
            </a:r>
            <a:r>
              <a:rPr sz="900" b="0" i="0">
                <a:solidFill>
                  <a:srgbClr val="222222"/>
                </a:solidFill>
                <a:latin typeface="Calibri"/>
              </a:rPr>
              <a:t>. https://tmgindustrial.ca/blogs/news/air-hydraulic-bottle-jacks-how-they-work-and-safety-tips-for-use</a:t>
            </a:r>
          </a:p>
          <a:p>
            <a:pPr>
              <a:spcAft>
                <a:spcPts val="200"/>
              </a:spcAft>
            </a:pPr>
            <a:r>
              <a:rPr sz="900" b="0">
                <a:solidFill>
                  <a:srgbClr val="222222"/>
                </a:solidFill>
                <a:latin typeface="Calibri"/>
              </a:rPr>
              <a:t>VEVOR. (n.d.). </a:t>
            </a:r>
            <a:r>
              <a:rPr sz="900" b="0" i="1">
                <a:solidFill>
                  <a:srgbClr val="222222"/>
                </a:solidFill>
                <a:latin typeface="Calibri"/>
              </a:rPr>
              <a:t>Things to know before buying a pneumatic bottle jack</a:t>
            </a:r>
            <a:r>
              <a:rPr sz="900" b="0" i="0">
                <a:solidFill>
                  <a:srgbClr val="222222"/>
                </a:solidFill>
                <a:latin typeface="Calibri"/>
              </a:rPr>
              <a:t>. https://www.vevor.com/diy-ideas/things-to-know-before-buying-a-pneumatic-bottle-jack/</a:t>
            </a:r>
          </a:p>
          <a:p>
            <a:pPr>
              <a:spcAft>
                <a:spcPts val="200"/>
              </a:spcAft>
            </a:pPr>
            <a:r>
              <a:rPr sz="900" b="0">
                <a:solidFill>
                  <a:srgbClr val="222222"/>
                </a:solidFill>
                <a:latin typeface="Calibri"/>
              </a:rPr>
              <a:t>Wikipedia. (n.d.-a). </a:t>
            </a:r>
            <a:r>
              <a:rPr sz="900" b="0" i="1">
                <a:solidFill>
                  <a:srgbClr val="222222"/>
                </a:solidFill>
                <a:latin typeface="Calibri"/>
              </a:rPr>
              <a:t>Blackhawk (tools)</a:t>
            </a:r>
            <a:r>
              <a:rPr sz="900" b="0" i="0">
                <a:solidFill>
                  <a:srgbClr val="222222"/>
                </a:solidFill>
                <a:latin typeface="Calibri"/>
              </a:rPr>
              <a:t>. https://en.wikipedia.org/wiki/Blackhawk_(tools)</a:t>
            </a:r>
          </a:p>
          <a:p>
            <a:pPr>
              <a:spcAft>
                <a:spcPts val="200"/>
              </a:spcAft>
            </a:pPr>
            <a:r>
              <a:rPr sz="900" b="0">
                <a:solidFill>
                  <a:srgbClr val="222222"/>
                </a:solidFill>
                <a:latin typeface="Calibri"/>
              </a:rPr>
              <a:t>Wikipedia. (n.d.-b). </a:t>
            </a:r>
            <a:r>
              <a:rPr sz="900" b="0" i="1">
                <a:solidFill>
                  <a:srgbClr val="222222"/>
                </a:solidFill>
                <a:latin typeface="Calibri"/>
              </a:rPr>
              <a:t>Jackscrew</a:t>
            </a:r>
            <a:r>
              <a:rPr sz="900" b="0" i="0">
                <a:solidFill>
                  <a:srgbClr val="222222"/>
                </a:solidFill>
                <a:latin typeface="Calibri"/>
              </a:rPr>
              <a:t>. https://en.wikipedia.org/wiki/Jackscrew</a:t>
            </a:r>
          </a:p>
          <a:p>
            <a:pPr>
              <a:spcAft>
                <a:spcPts val="200"/>
              </a:spcAft>
            </a:pPr>
            <a:r>
              <a:rPr sz="900" b="0">
                <a:solidFill>
                  <a:srgbClr val="222222"/>
                </a:solidFill>
                <a:latin typeface="Calibri"/>
              </a:rPr>
              <a:t>Wikipedia. (n.d.-c). </a:t>
            </a:r>
            <a:r>
              <a:rPr sz="900" b="0" i="1">
                <a:solidFill>
                  <a:srgbClr val="222222"/>
                </a:solidFill>
                <a:latin typeface="Calibri"/>
              </a:rPr>
              <a:t>Richard Dudgeon</a:t>
            </a:r>
            <a:r>
              <a:rPr sz="900" b="0" i="0">
                <a:solidFill>
                  <a:srgbClr val="222222"/>
                </a:solidFill>
                <a:latin typeface="Calibri"/>
              </a:rPr>
              <a:t>. https://en.wikipedia.org/wiki/Richard_Dudgeon</a:t>
            </a:r>
          </a:p>
          <a:p>
            <a:pPr>
              <a:spcAft>
                <a:spcPts val="200"/>
              </a:spcAft>
            </a:pPr>
            <a:r>
              <a:rPr sz="900" b="0">
                <a:solidFill>
                  <a:srgbClr val="222222"/>
                </a:solidFill>
                <a:latin typeface="Calibri"/>
              </a:rPr>
              <a:t>Wikipedia. (n.d.-d). </a:t>
            </a:r>
            <a:r>
              <a:rPr sz="900" b="0" i="1">
                <a:solidFill>
                  <a:srgbClr val="222222"/>
                </a:solidFill>
                <a:latin typeface="Calibri"/>
              </a:rPr>
              <a:t>Spare tire</a:t>
            </a:r>
            <a:r>
              <a:rPr sz="900" b="0" i="0">
                <a:solidFill>
                  <a:srgbClr val="222222"/>
                </a:solidFill>
                <a:latin typeface="Calibri"/>
              </a:rPr>
              <a:t>. https://en.wikipedia.org/wiki/Spare_tire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