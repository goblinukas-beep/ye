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Laba diena. Mūsų tema – domkratas. Parodysime, kaip domkratai vystėsi, kokių problemų jie turi šiandien ir kaip siūlome patobulinti automobilio žirklinį domkratą.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Žirklinį domkratą gamintojai deda į naujus automobilius, todėl su juo susiduria beveik kiekvienas vairuotojas. Domkratas veikia pagal sverto arba Paskalio dėsnį: nedidele jėga pakeliamas didelis krovinys.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Raida: nuo Archimedo sverto ir antikinių sraigtinių presų per Bramah ir Dudgeon hidrauliką iki žirklinių ir elektrinių domkratų. Tendencija – nuo jėgos laimėjimo link greičio, saugos ir patogumo.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Palyginome penkis pagrindinius tipus. Pasiteisino savistabdis sraigtas ir hidraulika, o silpnybės – lėtumas, nestabilumas ir sauga. Gilinsimės į žirklinį, nes jis yra automobilio komplekte.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Žirklinis domkratas lėtas ir sunkiai sukamas, ypač pradžioje. Jėga sraigte F = Q / tg θ, todėl žemoje padėtyje ji kelis kartus didesnė už krovinį. Todėl formuluojame uždavinį.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Siūlome elektrinį žirklinį domkratą. Svarbiausi pakeitimai: 12 V variklis, trapecinis sraigtas iš grūdinto plieno su bronzine veržle, stipresnės svirtys ir platesnis pagrindas. Avarinis rankinis sukimas lieka.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Laimime greitį, jėgą ir stabilumą. Kompromisai – didesnė masė ir kaina. Pagal mūsų skaičiavimą variklio galia apie 100 W, todėl užtenka automobilio 12 V lizdo.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Apibendrinant: domkratai vystėsi nuo jėgos laimėjimo iki saugos ir patogumo. Žirklinį domkratą siūlome elektrifikuoti ir sustiprinti. Ačiū, laukiame klausimų.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194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698480" cy="10972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Domkratas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Raida, problemos ir patobulinimo kryptis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6984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95959"/>
                </a:solidFill>
                <a:latin typeface="Calibri"/>
              </a:rPr>
              <a:t>PBL užduotis · Tarpinis atsiskaitymas Nr. 1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595959"/>
                </a:solidFill>
                <a:latin typeface="Calibri"/>
              </a:rPr>
              <a:t>Dalykas: Įvadas į specialybę · Mechanikos inžinerija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595959"/>
                </a:solidFill>
                <a:latin typeface="Calibri"/>
              </a:rPr>
              <a:t>Grupė: [Vardas Pavardė, …] · Dėstytojas: G. Viselga · 2026 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Kodėl pasirinkome domkratą?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· Domkratas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1">
                <a:solidFill>
                  <a:srgbClr val="222222"/>
                </a:solidFill>
                <a:latin typeface="Calibri"/>
              </a:rPr>
              <a:t>• Kasdienis įrenginys</a:t>
            </a:r>
            <a:r>
              <a:rPr sz="2100" b="0" i="0">
                <a:solidFill>
                  <a:srgbClr val="222222"/>
                </a:solidFill>
                <a:latin typeface="Calibri"/>
              </a:rPr>
              <a:t> – žirklinį domkratą gamintojai dažnai deda į naujus automobilius.</a:t>
            </a:r>
            <a:r>
              <a:rPr sz="1700" b="0" i="0">
                <a:solidFill>
                  <a:srgbClr val="595959"/>
                </a:solidFill>
                <a:latin typeface="Calibri"/>
              </a:rPr>
              <a:t> (CJ Pony Parts, n.d.)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222222"/>
                </a:solidFill>
                <a:latin typeface="Calibri"/>
              </a:rPr>
              <a:t>• Platus taikymas</a:t>
            </a:r>
            <a:r>
              <a:rPr sz="2100" b="0" i="0">
                <a:solidFill>
                  <a:srgbClr val="222222"/>
                </a:solidFill>
                <a:latin typeface="Calibri"/>
              </a:rPr>
              <a:t> – automobilių remontas, ūkiai, statyba, geležinkelis.</a:t>
            </a:r>
            <a:r>
              <a:rPr sz="1700" b="0" i="0">
                <a:solidFill>
                  <a:srgbClr val="595959"/>
                </a:solidFill>
                <a:latin typeface="Calibri"/>
              </a:rPr>
              <a:t> (Hi-Lift Jack Company, n.d.-a; Wikipedia, n.d.-b)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222222"/>
                </a:solidFill>
                <a:latin typeface="Calibri"/>
              </a:rPr>
              <a:t>• Daug mechanikos vienoje vietoje</a:t>
            </a:r>
            <a:r>
              <a:rPr sz="2100" b="0" i="0">
                <a:solidFill>
                  <a:srgbClr val="222222"/>
                </a:solidFill>
                <a:latin typeface="Calibri"/>
              </a:rPr>
              <a:t> – sraigtinė, krumpliastiebinė ir hidraulinė pavaros, medžiagos, sauga.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222222"/>
                </a:solidFill>
                <a:latin typeface="Calibri"/>
              </a:rPr>
              <a:t>• Mechaninis principas</a:t>
            </a:r>
            <a:r>
              <a:rPr sz="2100" b="0" i="0">
                <a:solidFill>
                  <a:srgbClr val="222222"/>
                </a:solidFill>
                <a:latin typeface="Calibri"/>
              </a:rPr>
              <a:t> – svertas ir sraigtas: maža jėga ilgu keliu pakelia didelį krovinį.</a:t>
            </a:r>
            <a:r>
              <a:rPr sz="1700" b="0" i="0">
                <a:solidFill>
                  <a:srgbClr val="595959"/>
                </a:solidFill>
                <a:latin typeface="Calibri"/>
              </a:rPr>
              <a:t> (Rorres, n.d.)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222222"/>
                </a:solidFill>
                <a:latin typeface="Calibri"/>
              </a:rPr>
              <a:t>• Hidraulinis principas</a:t>
            </a:r>
            <a:r>
              <a:rPr sz="2100" b="0" i="0">
                <a:solidFill>
                  <a:srgbClr val="222222"/>
                </a:solidFill>
                <a:latin typeface="Calibri"/>
              </a:rPr>
              <a:t> – Paskalio dėsnis: F₁ / A₁ = F₂ / A₂, todėl didesnis stūmoklis duoda didesnę jėgą.</a:t>
            </a:r>
            <a:r>
              <a:rPr sz="1700" b="0" i="0">
                <a:solidFill>
                  <a:srgbClr val="595959"/>
                </a:solidFill>
                <a:latin typeface="Calibri"/>
              </a:rPr>
              <a:t> (LibreTexts, n.d.)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Istorinė raida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3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· Domkratas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1088136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69680"/>
              </a:tblGrid>
              <a:tr h="475488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Laikotarpis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Sprendimas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22222"/>
                          </a:solidFill>
                          <a:latin typeface="Calibri"/>
                        </a:rPr>
                        <a:t>III a. pr. Kr.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22222"/>
                          </a:solidFill>
                          <a:latin typeface="Calibri"/>
                        </a:rPr>
                        <a:t>Archimedas aiškina sverto principą („Duokite man atramos tašką…“)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22222"/>
                          </a:solidFill>
                          <a:latin typeface="Calibri"/>
                        </a:rPr>
                        <a:t>I a.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22222"/>
                          </a:solidFill>
                          <a:latin typeface="Calibri"/>
                        </a:rPr>
                        <a:t>Graikai ir romėnai naudoja sraigtinius presus alyvuogėms ir vynuogėms spausti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22222"/>
                          </a:solidFill>
                          <a:latin typeface="Calibri"/>
                        </a:rPr>
                        <a:t>1795 m.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22222"/>
                          </a:solidFill>
                          <a:latin typeface="Calibri"/>
                        </a:rPr>
                        <a:t>J. Bramah patentuoja hidraulinį presą, veikiantį pagal Paskalio dėsnį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22222"/>
                          </a:solidFill>
                          <a:latin typeface="Calibri"/>
                        </a:rPr>
                        <a:t>1851 m.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22222"/>
                          </a:solidFill>
                          <a:latin typeface="Calibri"/>
                        </a:rPr>
                        <a:t>R. Dudgeon patentuoja nešiojamą hidraulinį domkratą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22222"/>
                          </a:solidFill>
                          <a:latin typeface="Calibri"/>
                        </a:rPr>
                        <a:t>1905 m.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22222"/>
                          </a:solidFill>
                          <a:latin typeface="Calibri"/>
                        </a:rPr>
                        <a:t>P. J. Harrah patentuoja krumpliastiebinį „Hi-Lift“ domkratą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22222"/>
                          </a:solidFill>
                          <a:latin typeface="Calibri"/>
                        </a:rPr>
                        <a:t>1920 m.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22222"/>
                          </a:solidFill>
                          <a:latin typeface="Calibri"/>
                        </a:rPr>
                        <a:t>J. LaFrance pateikia rombo formos (žirklinio) domkrato patento paraišką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22222"/>
                          </a:solidFill>
                          <a:latin typeface="Calibri"/>
                        </a:rPr>
                        <a:t>1949 m.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22222"/>
                          </a:solidFill>
                          <a:latin typeface="Calibri"/>
                        </a:rPr>
                        <a:t>W. Watson patobulina žirklinį domkratą – jis tampa sudedamas ir kompaktiškas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222222"/>
                          </a:solidFill>
                          <a:latin typeface="Calibri"/>
                        </a:rPr>
                        <a:t>Šiandien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22222"/>
                          </a:solidFill>
                          <a:latin typeface="Calibri"/>
                        </a:rPr>
                        <a:t>Gaminami 12 V elektriniai žirkliniai domkratai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Šaltiniai: Rorres (n.d.); Wikipedia (n.d.-a, n.d.-b, n.d.-c); Hi-Lift Jack Company (n.d.-a); AutoIndustriya (n.d.); Pro-Lift-Montagetechnik (n.d.).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Domkratų tipai ir jų vertinimas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4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· Domkratas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10881360" cy="40599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2834640"/>
                <a:gridCol w="2926080"/>
              </a:tblGrid>
              <a:tr h="67665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Tipas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Veikimo principas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Pasiteisino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Trūkumai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Sraigtinis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Sukamas sraigtas kelia stūmoklį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Savistabdis – krovinys nenusileidžia savaime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Mažas naudingumo koeficientas (30–40 %), lėtas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Krumpliastiebinis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Svirtis su skląsčiu kyla krumpliastiebiu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Didelis kėlimo aukštis (iki ~1,5 m)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Pavojinga rankenos atatranka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Žirklinis</a:t>
                      </a:r>
                    </a:p>
                  </a:txBody>
                  <a:tcPr marL="73152" marR="73152" anchor="ctr"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Horizontalus sraigtas suspaudžia rombo formos svirtis</a:t>
                      </a:r>
                    </a:p>
                  </a:txBody>
                  <a:tcPr marL="73152" marR="73152" anchor="ctr"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Lengvas, pigus, telpa automobilyje</a:t>
                      </a:r>
                    </a:p>
                  </a:txBody>
                  <a:tcPr marL="73152" marR="73152" anchor="ctr"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Lėtas, siauras pagrindas, nestabilus</a:t>
                      </a:r>
                    </a:p>
                  </a:txBody>
                  <a:tcPr marL="73152" marR="73152" anchor="ctr">
                    <a:solidFill>
                      <a:srgbClr val="DEEAF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Hidraulinis butelinis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Maža pompa spaudžia alyvą po dideliu stūmokliu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Didelė keliamoji galia (3–50 t)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Mažas pagrindas, didelis pradinis aukštis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Hidraulinis vežimėlinis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Hidrocilindras kelia ilgą svirtį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Greitas ir stabilus (2–4 t)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Didelis, sunku perkelti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Šaltiniai: Wikipedia (n.d.-d); Joyce/Dayton (n.d.); CJ Pony Parts (n.d.); Hi-Lift Jack Company (n.d.-b); CN Trailer Parts (n.d.); Redline Stands (n.d.).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Šiuolaikinė problema ir inžinerinis uždavinys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5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· Domkratas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4E79"/>
                </a:solidFill>
                <a:latin typeface="Calibri"/>
              </a:rPr>
              <a:t>Automobilio žirklinio domkrato problemos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577840" cy="37490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222222"/>
                </a:solidFill>
                <a:latin typeface="Calibri"/>
              </a:rPr>
              <a:t>• Lėtas</a:t>
            </a:r>
            <a:r>
              <a:rPr sz="1900" b="0" i="0">
                <a:solidFill>
                  <a:srgbClr val="222222"/>
                </a:solidFill>
                <a:latin typeface="Calibri"/>
              </a:rPr>
              <a:t> – reikia daug rankenos apsisukimų (mūsų įvertinimu, 60–100).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222222"/>
                </a:solidFill>
                <a:latin typeface="Calibri"/>
              </a:rPr>
              <a:t>• Sunku sukti</a:t>
            </a:r>
            <a:r>
              <a:rPr sz="1900" b="0" i="0">
                <a:solidFill>
                  <a:srgbClr val="222222"/>
                </a:solidFill>
                <a:latin typeface="Calibri"/>
              </a:rPr>
              <a:t> – žemoje padėtyje jėga sraigte kelis kartus didesnė už krovinį (F = Q / tg θ).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222222"/>
                </a:solidFill>
                <a:latin typeface="Calibri"/>
              </a:rPr>
              <a:t>• Nestabilus</a:t>
            </a:r>
            <a:r>
              <a:rPr sz="1900" b="0" i="0">
                <a:solidFill>
                  <a:srgbClr val="222222"/>
                </a:solidFill>
                <a:latin typeface="Calibri"/>
              </a:rPr>
              <a:t> – siauras pagrindas, ypač ant nelygaus ar minkšto paviršiaus.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222222"/>
                </a:solidFill>
                <a:latin typeface="Calibri"/>
              </a:rPr>
              <a:t>• Nepatogus</a:t>
            </a:r>
            <a:r>
              <a:rPr sz="1900" b="0" i="0">
                <a:solidFill>
                  <a:srgbClr val="222222"/>
                </a:solidFill>
                <a:latin typeface="Calibri"/>
              </a:rPr>
              <a:t> – sukti tenka nepatogioje padėtyje.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508760"/>
            <a:ext cx="5029200" cy="420624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1691640"/>
            <a:ext cx="457200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4E79"/>
                </a:solidFill>
                <a:latin typeface="Calibri"/>
              </a:rPr>
              <a:t>Uždavinys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Patobulinti žirklinį domkratą, kad jis 1,5 t automobilį pakeltų greičiau nei per 60 s, be didelių fizinių pastangų ir stabiliai, išlaikant kompaktiškumą ir saugumą.</a:t>
            </a:r>
          </a:p>
          <a:p>
            <a:pPr>
              <a:spcAft>
                <a:spcPts val="400"/>
              </a:spcAft>
            </a:pPr>
            <a:r>
              <a:rPr sz="1900" b="1">
                <a:solidFill>
                  <a:srgbClr val="222222"/>
                </a:solidFill>
                <a:latin typeface="Calibri"/>
              </a:rPr>
              <a:t>Tikslai: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keliamoji galia ≥ 1500 kg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kėlimo aukštis 100–400 mm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kėlimo laikas ≤ 60 s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maitinimas iš 12 V automobilio lizdo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masė ≤ 4,5 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Šaltiniai: CN Trailer Parts (n.d.). Skaičiai ir tikslai – mūsų įvertinimai.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Sprendimas: keičiami elementai ir medžiagos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6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· Domkratas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1088136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560320"/>
                <a:gridCol w="3291840"/>
                <a:gridCol w="3291840"/>
              </a:tblGrid>
              <a:tr h="58521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Elementas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Dabar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Siūloma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Kodėl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Pavara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Rankinė rankena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12 V variklis (~100 W) su reduktoriumi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Greitai ir be fizinių pastangų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Sraigtas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Paprastas plienas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Trapecinis sraigtas, plienas 42CrMo4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Savistabdis; plienas stiprus ir atsparus nuovargiui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Veržlė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Plieninė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Bronza CuSn12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Maža trintis, atspari dilimui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Svirtys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Plienas S235 (235 MPa)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Plienas S420MC (420 MPa)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Takumo riba ~1,8 karto didesnė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Pagrindas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Siauras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Platesnis, su guminiu padu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Stabilesnis, neslysta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222222"/>
                          </a:solidFill>
                          <a:latin typeface="Calibri"/>
                        </a:rPr>
                        <a:t>Sauga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Galiniai jungikliai, avarinis rankinis sukimas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222222"/>
                          </a:solidFill>
                          <a:latin typeface="Calibri"/>
                        </a:rPr>
                        <a:t>Variklis sustoja kraštinėse padėtyse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Šaltiniai: Roton Products (n.d.); Sider Ticino (n.d.); Hengli Automation (n.d.); The World Material (n.d.); Gnee Steel (n.d.); Mickael (2004). Variklio galia – mūsų skaičiavimas.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Įprastas ir patobulintas domkratas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7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· Domkratas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67665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19456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Calibri"/>
                        </a:rPr>
                        <a:t>Parametras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Calibri"/>
                        </a:rPr>
                        <a:t>Įprastas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FFFFFF"/>
                          </a:solidFill>
                          <a:latin typeface="Calibri"/>
                        </a:rPr>
                        <a:t>Patobulintas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222222"/>
                          </a:solidFill>
                          <a:latin typeface="Calibri"/>
                        </a:rPr>
                        <a:t>Kėlimo laikas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~2–4 min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≤ 60 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222222"/>
                          </a:solidFill>
                          <a:latin typeface="Calibri"/>
                        </a:rPr>
                        <a:t>Rankos jėga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~100–200 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nereikia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222222"/>
                          </a:solidFill>
                          <a:latin typeface="Calibri"/>
                        </a:rPr>
                        <a:t>Pagrindo plotas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~100 cm²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~240 cm²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222222"/>
                          </a:solidFill>
                          <a:latin typeface="Calibri"/>
                        </a:rPr>
                        <a:t>Masė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~3 kg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~4,5 kg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 i="0">
                          <a:solidFill>
                            <a:srgbClr val="222222"/>
                          </a:solidFill>
                          <a:latin typeface="Calibri"/>
                        </a:rPr>
                        <a:t>Kaina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~20–30 €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 i="0">
                          <a:solidFill>
                            <a:srgbClr val="222222"/>
                          </a:solidFill>
                          <a:latin typeface="Calibri"/>
                        </a:rPr>
                        <a:t>~60–80 €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0" y="1463040"/>
            <a:ext cx="384048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1">
                <a:solidFill>
                  <a:srgbClr val="1F4E79"/>
                </a:solidFill>
                <a:latin typeface="Calibri"/>
              </a:rPr>
              <a:t>Preliminarus skaičiavimas</a:t>
            </a:r>
          </a:p>
          <a:p>
            <a:pPr>
              <a:spcAft>
                <a:spcPts val="2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Variklio galia: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P ≈ Q·h / (t·η) = 5000·0,25 / (45·0,3) ≈ 93 W</a:t>
            </a:r>
          </a:p>
          <a:p>
            <a:pPr>
              <a:spcAft>
                <a:spcPts val="2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Srovė iš 12 V lizdo: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I = P / U ≈ 93 / 12 ≈ 8 A</a:t>
            </a:r>
          </a:p>
          <a:p>
            <a:pPr>
              <a:spcAft>
                <a:spcPts val="2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Savistabdumo sąlyga: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sriegio pakilimo kampas turi būti mažesnis už trinties kampą – tada krovinys nenusileidžia savaime.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  <a:latin typeface="Calibri"/>
              </a:rPr>
              <a:t>Šaltiniai: Roton Products (n.d.) – savistabdumo sąlyga. Lentelės vertės ir skaičiavimas – mūsų apytiksliai įvertinimai.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Išvados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8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· Domkratas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76656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1">
                <a:solidFill>
                  <a:srgbClr val="222222"/>
                </a:solidFill>
                <a:latin typeface="Calibri"/>
              </a:rPr>
              <a:t>• Raida</a:t>
            </a:r>
            <a:r>
              <a:rPr sz="2100" b="0" i="0">
                <a:solidFill>
                  <a:srgbClr val="222222"/>
                </a:solidFill>
                <a:latin typeface="Calibri"/>
              </a:rPr>
              <a:t> – nuo jėgos laimėjimo (svertas, sraigtas) per hidrauliką iki elektrinių domkratų.</a:t>
            </a:r>
          </a:p>
          <a:p>
            <a:pPr>
              <a:spcAft>
                <a:spcPts val="1800"/>
              </a:spcAft>
            </a:pPr>
            <a:r>
              <a:rPr sz="2100" b="1">
                <a:solidFill>
                  <a:srgbClr val="222222"/>
                </a:solidFill>
                <a:latin typeface="Calibri"/>
              </a:rPr>
              <a:t>• Problema</a:t>
            </a:r>
            <a:r>
              <a:rPr sz="2100" b="0" i="0">
                <a:solidFill>
                  <a:srgbClr val="222222"/>
                </a:solidFill>
                <a:latin typeface="Calibri"/>
              </a:rPr>
              <a:t> – žirklinis domkratas kompaktiškas ir savistabdis, bet lėtas, sunkiai sukamas ir nestabilus.</a:t>
            </a:r>
          </a:p>
          <a:p>
            <a:pPr>
              <a:spcAft>
                <a:spcPts val="1800"/>
              </a:spcAft>
            </a:pPr>
            <a:r>
              <a:rPr sz="2100" b="1">
                <a:solidFill>
                  <a:srgbClr val="222222"/>
                </a:solidFill>
                <a:latin typeface="Calibri"/>
              </a:rPr>
              <a:t>• Sprendimas</a:t>
            </a:r>
            <a:r>
              <a:rPr sz="2100" b="0" i="0">
                <a:solidFill>
                  <a:srgbClr val="222222"/>
                </a:solidFill>
                <a:latin typeface="Calibri"/>
              </a:rPr>
              <a:t> – 12 V elektrinė pavara, trapecinis sraigtas su bronzine veržle, stipresnės svirtys, platesnis pagrindas.</a:t>
            </a:r>
          </a:p>
          <a:p>
            <a:pPr>
              <a:spcAft>
                <a:spcPts val="1800"/>
              </a:spcAft>
            </a:pPr>
            <a:r>
              <a:rPr sz="2100" b="1">
                <a:solidFill>
                  <a:srgbClr val="222222"/>
                </a:solidFill>
                <a:latin typeface="Calibri"/>
              </a:rPr>
              <a:t>• Kompromisas</a:t>
            </a:r>
            <a:r>
              <a:rPr sz="2100" b="0" i="0">
                <a:solidFill>
                  <a:srgbClr val="222222"/>
                </a:solidFill>
                <a:latin typeface="Calibri"/>
              </a:rPr>
              <a:t> – šiek tiek didesnė masė ir kaina.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2377440"/>
            <a:ext cx="3749039" cy="18288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377440"/>
            <a:ext cx="3749039" cy="1828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1F4E79"/>
                </a:solidFill>
                <a:latin typeface="Calibri"/>
              </a:rPr>
              <a:t>Klausimai?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Šaltiniai 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9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· Domkratas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AutoIndustriya.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Auto essentials: The story of the humble car jack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https://www.autoindustriya.com/features/auto-essentials-the-story-of-the-humble-car-jack.html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CJ Pony Parts.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Types of car jacks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https://www.cjponyparts.com/resources/types-of-car-jacks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CN Trailer Parts.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What are the disadvantages of a scissor jack?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 https://www.cntrailerparts.com/blog/what-are-the-disadvantages-of-a-scissor-jack-372667.html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Gnee Steel.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EN 10149-2 S420MC hot rolled automotive steel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https://www.gneesteel.com/products/automotive-steel/en-10149-2-s420mc-hot-rolled-automotive-steel.html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Hengli Automation.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What is the material of the nut for a T lead screw?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 https://www.hlt-cnc.com/blog/what-is-the-material-of-the-nut-for-a-t-lead-screw-1318622.html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Hi-Lift Jack Company. (n.d.-a).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Our history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https://hi-lift.com/company/our-history/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Hi-Lift Jack Company. (n.d.-b).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Hi-Lift jack instructions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 [PDF]. https://hi-lift.com/wp-content/uploads/2016/07/jack_instructions.pdf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Joyce/Dayton.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Machine screw jacks vs. ball screw jacks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https://www.joycedayton.com/blog/machine-screw-jacks-vs-ball-screw-jacks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LibreTexts.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10.2: Force multiplication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https://eng.libretexts.org/Courses/Northeast_Wisconsin_Technical_College/Fluids_1:_Fluid_Power_and_Pneumatics_(NWTC)/10:_Pascal's_Law/10.02:_Force_Multiplication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Mickael, E. (2004).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Motor driven scissor jack with limit switches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 (U.S. Patent No. 6,695,289). https://patents.google.com/patent/US6695289B1/en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Šaltiniai 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10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· Domkratas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Pro-Lift-Montagetechnik.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12V electric scissor jack, car jack, 123 mm – 345 mm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https://www.pro-lift-montagetechnik.com/12-volt-electric-scissor-jack-car-jack-123mm-345mm-002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Redline Stands.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Bottle jack vs. floor jack: Differences, pros, and cons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https://www.redlinestands.com/blog/bottle-jack-vs-floor-jack/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Rorres, C.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Quotations about Archimedes' lever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New York University. https://math.nyu.edu/Archimedes/Lever/LeverQuotes.html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Roton Products.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Trapezoidal lead screws: General information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https://www.roton.com/products/trapezoidal-lead-screws-nuts/general-information/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Sider Ticino.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42CrMo4 technical specifications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https://siderticino.it/en/steel-datasheets/42crmo4/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The World Material. (n.d.).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EN 10025-2 S235 steel properties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https://www.theworldmaterial.com/en-10025-2-material-s235-steel/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Wikipedia. (n.d.-a).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Joseph Bramah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https://en.wikipedia.org/wiki/Joseph_Bramah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Wikipedia. (n.d.-b).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Richard Dudgeon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https://en.wikipedia.org/wiki/Richard_Dudgeon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Wikipedia. (n.d.-c).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Jack (device)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https://en.wikipedia.org/wiki/Jack_(device)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222222"/>
                </a:solidFill>
                <a:latin typeface="Calibri"/>
              </a:rPr>
              <a:t>Wikipedia. (n.d.-d). </a:t>
            </a:r>
            <a:r>
              <a:rPr sz="1400" b="0" i="1">
                <a:solidFill>
                  <a:srgbClr val="222222"/>
                </a:solidFill>
                <a:latin typeface="Calibri"/>
              </a:rPr>
              <a:t>Jackscrew</a:t>
            </a:r>
            <a:r>
              <a:rPr sz="1400" b="0" i="0">
                <a:solidFill>
                  <a:srgbClr val="222222"/>
                </a:solidFill>
                <a:latin typeface="Calibri"/>
              </a:rPr>
              <a:t>. https://en.wikipedia.org/wiki/Jackscrew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